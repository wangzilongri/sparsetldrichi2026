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3abefe58054c5d" /><Relationship Type="http://schemas.openxmlformats.org/officeDocument/2006/relationships/extended-properties" Target="/docProps/app.xml" Id="R7838b062bfd54f9c" /><Relationship Type="http://schemas.openxmlformats.org/officeDocument/2006/relationships/officeDocument" Target="/ppt/presentation.xml" Id="R7e52ff8a85974f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552268574e498e"/>
  </p:sldMasterIdLst>
  <p:notesMasterIdLst>
    <p:notesMasterId xmlns:r="http://schemas.openxmlformats.org/officeDocument/2006/relationships" r:id="R0e2b49d0f93540e9"/>
  </p:notesMasterIdLst>
  <p:sldIdLst>
    <p:sldId xmlns:r="http://schemas.openxmlformats.org/officeDocument/2006/relationships" id="256" r:id="R19882df0ea0141bc"/>
    <p:sldId xmlns:r="http://schemas.openxmlformats.org/officeDocument/2006/relationships" id="257" r:id="Rce873a130b6a4ecb"/>
    <p:sldId xmlns:r="http://schemas.openxmlformats.org/officeDocument/2006/relationships" id="258" r:id="Re602b921f29c41e2"/>
    <p:sldId xmlns:r="http://schemas.openxmlformats.org/officeDocument/2006/relationships" id="259" r:id="R21fab5cb9c744cd4"/>
    <p:sldId xmlns:r="http://schemas.openxmlformats.org/officeDocument/2006/relationships" id="260" r:id="R33864693f2ea4f6b"/>
    <p:sldId xmlns:r="http://schemas.openxmlformats.org/officeDocument/2006/relationships" id="261" r:id="R9c1b7d5372984bc3"/>
    <p:sldId xmlns:r="http://schemas.openxmlformats.org/officeDocument/2006/relationships" id="262" r:id="R8eda6fe9e5a642b2"/>
    <p:sldId xmlns:r="http://schemas.openxmlformats.org/officeDocument/2006/relationships" id="263" r:id="Rab4c23c1b21845a6"/>
    <p:sldId xmlns:r="http://schemas.openxmlformats.org/officeDocument/2006/relationships" id="264" r:id="R344a187050f84816"/>
    <p:sldId xmlns:r="http://schemas.openxmlformats.org/officeDocument/2006/relationships" id="265" r:id="R17cb488ab7b5484e"/>
    <p:sldId xmlns:r="http://schemas.openxmlformats.org/officeDocument/2006/relationships" id="266" r:id="R604e7d4cadc845d2"/>
    <p:sldId xmlns:r="http://schemas.openxmlformats.org/officeDocument/2006/relationships" id="267" r:id="R1fff84e0033e4783"/>
    <p:sldId xmlns:r="http://schemas.openxmlformats.org/officeDocument/2006/relationships" id="268" r:id="R11483a33c03b4c1e"/>
    <p:sldId xmlns:r="http://schemas.openxmlformats.org/officeDocument/2006/relationships" id="269" r:id="R2675ce4a4dbe4094"/>
    <p:sldId xmlns:r="http://schemas.openxmlformats.org/officeDocument/2006/relationships" id="270" r:id="R428e6ea8380c403e"/>
    <p:sldId xmlns:r="http://schemas.openxmlformats.org/officeDocument/2006/relationships" id="271" r:id="R44b0da97295941b3"/>
    <p:sldId xmlns:r="http://schemas.openxmlformats.org/officeDocument/2006/relationships" id="272" r:id="Ra98b6c19c3b2475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52268574e498e" /><Relationship Type="http://schemas.openxmlformats.org/officeDocument/2006/relationships/theme" Target="/ppt/theme/theme1.xml" Id="R552baa36206f4686" /><Relationship Type="http://schemas.openxmlformats.org/officeDocument/2006/relationships/notesMaster" Target="/ppt/notesMasters/notesMaster1.xml" Id="R0e2b49d0f93540e9" /><Relationship Type="http://schemas.openxmlformats.org/officeDocument/2006/relationships/presProps" Target="/ppt/presProps.xml" Id="R50e5f428da6d4cb7" /><Relationship Type="http://schemas.openxmlformats.org/officeDocument/2006/relationships/viewProps" Target="/ppt/viewProps.xml" Id="R2dd57a4634624bac" /><Relationship Type="http://schemas.openxmlformats.org/officeDocument/2006/relationships/tableStyles" Target="/ppt/tableStyles.xml" Id="Re13215b67f4b4d55" /><Relationship Type="http://schemas.openxmlformats.org/officeDocument/2006/relationships/slide" Target="/ppt/slides/slide1.xml" Id="R19882df0ea0141bc" /><Relationship Type="http://schemas.openxmlformats.org/officeDocument/2006/relationships/slide" Target="/ppt/slides/slide2.xml" Id="Rce873a130b6a4ecb" /><Relationship Type="http://schemas.openxmlformats.org/officeDocument/2006/relationships/slide" Target="/ppt/slides/slide3.xml" Id="Re602b921f29c41e2" /><Relationship Type="http://schemas.openxmlformats.org/officeDocument/2006/relationships/slide" Target="/ppt/slides/slide4.xml" Id="R21fab5cb9c744cd4" /><Relationship Type="http://schemas.openxmlformats.org/officeDocument/2006/relationships/slide" Target="/ppt/slides/slide5.xml" Id="R33864693f2ea4f6b" /><Relationship Type="http://schemas.openxmlformats.org/officeDocument/2006/relationships/slide" Target="/ppt/slides/slide6.xml" Id="R9c1b7d5372984bc3" /><Relationship Type="http://schemas.openxmlformats.org/officeDocument/2006/relationships/slide" Target="/ppt/slides/slide7.xml" Id="R8eda6fe9e5a642b2" /><Relationship Type="http://schemas.openxmlformats.org/officeDocument/2006/relationships/slide" Target="/ppt/slides/slide8.xml" Id="Rab4c23c1b21845a6" /><Relationship Type="http://schemas.openxmlformats.org/officeDocument/2006/relationships/slide" Target="/ppt/slides/slide9.xml" Id="R344a187050f84816" /><Relationship Type="http://schemas.openxmlformats.org/officeDocument/2006/relationships/slide" Target="/ppt/slides/slide10.xml" Id="R17cb488ab7b5484e" /><Relationship Type="http://schemas.openxmlformats.org/officeDocument/2006/relationships/slide" Target="/ppt/slides/slide11.xml" Id="R604e7d4cadc845d2" /><Relationship Type="http://schemas.openxmlformats.org/officeDocument/2006/relationships/slide" Target="/ppt/slides/slide12.xml" Id="R1fff84e0033e4783" /><Relationship Type="http://schemas.openxmlformats.org/officeDocument/2006/relationships/slide" Target="/ppt/slides/slide13.xml" Id="R11483a33c03b4c1e" /><Relationship Type="http://schemas.openxmlformats.org/officeDocument/2006/relationships/slide" Target="/ppt/slides/slide14.xml" Id="R2675ce4a4dbe4094" /><Relationship Type="http://schemas.openxmlformats.org/officeDocument/2006/relationships/slide" Target="/ppt/slides/slide15.xml" Id="R428e6ea8380c403e" /><Relationship Type="http://schemas.openxmlformats.org/officeDocument/2006/relationships/slide" Target="/ppt/slides/slide16.xml" Id="R44b0da97295941b3" /><Relationship Type="http://schemas.openxmlformats.org/officeDocument/2006/relationships/slide" Target="/ppt/slides/slide17.xml" Id="Ra98b6c19c3b247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79522d6d86f49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b7b435e89045be" /><Relationship Type="http://schemas.openxmlformats.org/officeDocument/2006/relationships/notesMaster" Target="/ppt/notesMasters/notesMaster1.xml" Id="Rb593b0f2ec8741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6aeff919724811" /><Relationship Type="http://schemas.openxmlformats.org/officeDocument/2006/relationships/notesMaster" Target="/ppt/notesMasters/notesMaster1.xml" Id="R0f678bf3385548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9b34b089db4264" /><Relationship Type="http://schemas.openxmlformats.org/officeDocument/2006/relationships/notesMaster" Target="/ppt/notesMasters/notesMaster1.xml" Id="Rfd25552ca6df40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8d428ff67e4b42" /><Relationship Type="http://schemas.openxmlformats.org/officeDocument/2006/relationships/notesMaster" Target="/ppt/notesMasters/notesMaster1.xml" Id="R51ccbd060cf347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b0a82181f946b9" /><Relationship Type="http://schemas.openxmlformats.org/officeDocument/2006/relationships/notesMaster" Target="/ppt/notesMasters/notesMaster1.xml" Id="R49a475b420734e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2bf3c3a9864d80" /><Relationship Type="http://schemas.openxmlformats.org/officeDocument/2006/relationships/notesMaster" Target="/ppt/notesMasters/notesMaster1.xml" Id="R905c138afc2349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e83d04c1054168" /><Relationship Type="http://schemas.openxmlformats.org/officeDocument/2006/relationships/notesMaster" Target="/ppt/notesMasters/notesMaster1.xml" Id="R7554b71a8f344e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e038aca7924a3f" /><Relationship Type="http://schemas.openxmlformats.org/officeDocument/2006/relationships/notesMaster" Target="/ppt/notesMasters/notesMaster1.xml" Id="R63a56d003e5648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d9861d904341bd" /><Relationship Type="http://schemas.openxmlformats.org/officeDocument/2006/relationships/notesMaster" Target="/ppt/notesMasters/notesMaster1.xml" Id="R5b143afd65194b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4be762680f4c1b" /><Relationship Type="http://schemas.openxmlformats.org/officeDocument/2006/relationships/notesMaster" Target="/ppt/notesMasters/notesMaster1.xml" Id="R948c68c20d4a40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2ab6cb467b4af8" /><Relationship Type="http://schemas.openxmlformats.org/officeDocument/2006/relationships/notesMaster" Target="/ppt/notesMasters/notesMaster1.xml" Id="R6ea80b4b26704d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f0d38a5d9a4ecf" /><Relationship Type="http://schemas.openxmlformats.org/officeDocument/2006/relationships/notesMaster" Target="/ppt/notesMasters/notesMaster1.xml" Id="Ra0e69829f3d94c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29dc0b68154ceb" /><Relationship Type="http://schemas.openxmlformats.org/officeDocument/2006/relationships/notesMaster" Target="/ppt/notesMasters/notesMaster1.xml" Id="R617120eb1b3841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4306fba29f460b" /><Relationship Type="http://schemas.openxmlformats.org/officeDocument/2006/relationships/notesMaster" Target="/ppt/notesMasters/notesMaster1.xml" Id="R07ffa37c433147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1ad188bae6a4a6c" /><Relationship Type="http://schemas.openxmlformats.org/officeDocument/2006/relationships/notesMaster" Target="/ppt/notesMasters/notesMaster1.xml" Id="R51486994a7cf431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3393cc064c94974" /><Relationship Type="http://schemas.openxmlformats.org/officeDocument/2006/relationships/notesMaster" Target="/ppt/notesMasters/notesMaster1.xml" Id="R08b9d57a00bd4ed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90a0f6b1df843d3" /><Relationship Type="http://schemas.openxmlformats.org/officeDocument/2006/relationships/notesMaster" Target="/ppt/notesMasters/notesMaster1.xml" Id="R48a11ec2861b42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6bf8cf71cf4d46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C375C9C4-A553-40BE-9547-A301280E703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B43CAE6E-4C38-4D1E-8730-EFF1517FB48A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5DC9AD-018D-40CA-A6D8-34E504BDE8F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D502A0-457D-42A7-B3A7-99A4B0E106C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4C64DB-28BF-4CE3-AFC9-2D673C4834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d8ab6aa71498d" /><Relationship Type="http://schemas.openxmlformats.org/officeDocument/2006/relationships/theme" Target="/ppt/theme/theme1.xml" Id="R3a26abb5ffeb4637" /><Relationship Type="http://schemas.openxmlformats.org/officeDocument/2006/relationships/slideLayout" Target="/ppt/slideLayouts/slideLayout2.xml" Id="Rd4d65ca601f14e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ADE5BD-3AAD-4483-AF95-2FC2200A13DD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d31d8ab6aa71498d"/>
    <p:sldLayoutId xmlns:r="http://schemas.openxmlformats.org/officeDocument/2006/relationships" id="2147483649" r:id="Rd4d65ca601f14e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47d08e7a04830" /><Relationship Type="http://schemas.openxmlformats.org/officeDocument/2006/relationships/notesSlide" Target="/ppt/notesSlides/notesSlide1.xml" Id="R8067e555c7f542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8527427a041ce" /><Relationship Type="http://schemas.openxmlformats.org/officeDocument/2006/relationships/notesSlide" Target="/ppt/notesSlides/notesSlide2.xml" Id="R9015a6cbb2924a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62dea125f4425" /><Relationship Type="http://schemas.openxmlformats.org/officeDocument/2006/relationships/notesSlide" Target="/ppt/notesSlides/notesSlide3.xml" Id="R9dbac50f45be42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ebae5f80b43b1" /><Relationship Type="http://schemas.openxmlformats.org/officeDocument/2006/relationships/notesSlide" Target="/ppt/notesSlides/notesSlide4.xml" Id="R0cac45b9b6144c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20433951f4ee0" /><Relationship Type="http://schemas.openxmlformats.org/officeDocument/2006/relationships/notesSlide" Target="/ppt/notesSlides/notesSlide5.xml" Id="Rea16d376016a41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336c27bca429d" /><Relationship Type="http://schemas.openxmlformats.org/officeDocument/2006/relationships/notesSlide" Target="/ppt/notesSlides/notesSlide6.xml" Id="Rf22d8500525842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8c9b0d9374797" /><Relationship Type="http://schemas.openxmlformats.org/officeDocument/2006/relationships/notesSlide" Target="/ppt/notesSlides/notesSlide7.xml" Id="R1b1ceeecaea741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4c03d8f4949fa" /><Relationship Type="http://schemas.openxmlformats.org/officeDocument/2006/relationships/notesSlide" Target="/ppt/notesSlides/notesSlide8.xml" Id="R0d280d53736348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e8a3b419b4d0f" /><Relationship Type="http://schemas.openxmlformats.org/officeDocument/2006/relationships/notesSlide" Target="/ppt/notesSlides/notesSlide9.xml" Id="R898c3c97221745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c9deec0c64fd6" /><Relationship Type="http://schemas.openxmlformats.org/officeDocument/2006/relationships/notesSlide" Target="/ppt/notesSlides/notesSlide10.xml" Id="R899b35e8e80f4c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de6f46b1b47c1" /><Relationship Type="http://schemas.openxmlformats.org/officeDocument/2006/relationships/notesSlide" Target="/ppt/notesSlides/notesSlide11.xml" Id="R47479cf593194c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fd91d09a94965" /><Relationship Type="http://schemas.openxmlformats.org/officeDocument/2006/relationships/notesSlide" Target="/ppt/notesSlides/notesSlide12.xml" Id="R65c4caedf26e4a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40439e8424f2d" /><Relationship Type="http://schemas.openxmlformats.org/officeDocument/2006/relationships/notesSlide" Target="/ppt/notesSlides/notesSlide13.xml" Id="R8960b7ea733144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c8e2a2fbc404b" /><Relationship Type="http://schemas.openxmlformats.org/officeDocument/2006/relationships/notesSlide" Target="/ppt/notesSlides/notesSlide14.xml" Id="R0d53c196db03497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9067a8ce2426c" /><Relationship Type="http://schemas.openxmlformats.org/officeDocument/2006/relationships/notesSlide" Target="/ppt/notesSlides/notesSlide15.xml" Id="R828bfaebff97462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4054664964636" /><Relationship Type="http://schemas.openxmlformats.org/officeDocument/2006/relationships/notesSlide" Target="/ppt/notesSlides/notesSlide16.xml" Id="R5d6c0785251a46f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9f6a9b5124946" /><Relationship Type="http://schemas.openxmlformats.org/officeDocument/2006/relationships/notesSlide" Target="/ppt/notesSlides/notesSlide17.xml" Id="R8c05c9f423354f4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B574A5-F909-44D2-B24E-FE820B59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2488D-0A96-49CC-B93E-C4079945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Appendix: Method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3EF0E-0EF3-4261-81C0-28BB8CA9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066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5A834"/>
                </a:solidFill>
                <a:latin typeface="Aptos"/>
                <a:ea typeface="Aptos"/>
                <a:cs typeface="Aptos"/>
              </a:rPr>
              <a:t>Bastani (2021) and Tian &amp; Feng (2023) — sparse transfer learning 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07188-673E-4C1E-B6AC-25E637F6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These slides explain the sparse correction mechanism underlying our estimator pipeline.</a:t>
            </a:r>
          </a:p>
        </p:txBody>
      </p:sp>
    </p:spTree>
    <p:extLst>
      <p:ext uri="{BB962C8B-B14F-4D97-AF65-F5344CB8AC3E}">
        <p14:creationId xmlns:p14="http://schemas.microsoft.com/office/powerpoint/2010/main" val="11822935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A51276-4E3E-4D68-9C46-41FF3BEF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Bastani (2021): Predicting with Proxies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6EA42-8E37-44DC-A134-EECB42CD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BASTANI (2021) — Management Science 67(5), pp. 2964–2984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7AB60-8753-4C63-A12D-66C4397C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644BB-CB68-4B19-B129-C01354BA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A two-step LASSO estimator combining abundant proxy data with scarce gold labels. Achieves minimax rate scaling with bias sparsity s, not dimension 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F0632-69CB-4A26-A26A-B820492D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19450" cy="323850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AC87D-B6B1-44A4-ACB4-D091EB78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19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FFE80-1FD8-4C41-8CAE-9A95E946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288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Proxy (source)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8F23B-F100-4A83-9CE5-BCC5C1F9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952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Large n_proxy, small σ_proxy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Abundant data → tight estimate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BUT: centered at wrong β*_proxy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y_proxy = xᵀ β*_proxy + 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A9CDA-AC4C-40BD-BBFF-260E9332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19450" cy="323850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30C10-8BAF-4BAE-AB10-1F099CD2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19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46D31-CB53-4380-9DF4-70655EC5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288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Gold (target)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7DCEF-4DE5-49BD-8203-A4B8E964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2952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Small n_gold, large σ_gold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Scarce data → wide uncertainty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BUT: centered at truth β*_gold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y_gold = xᵀ β*_gold + 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D0264-664D-494D-A742-BCAF93A1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19450" cy="323850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BC991-3386-4804-B0A7-2A88520B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19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DEA6F8-C11D-42EE-A84E-B6BBF8BA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288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Key decomposition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E5CA3-48C4-48D6-B9CC-735EC161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33650"/>
            <a:ext cx="2952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β*_gold = β*_proxy + δ*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||δ*||_0 = s (sparse bias)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Only s of d features drive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 proxy-to-gold gap</a:t>
            </a:r>
          </a:p>
        </p:txBody>
      </p:sp>
    </p:spTree>
    <p:extLst>
      <p:ext uri="{BB962C8B-B14F-4D97-AF65-F5344CB8AC3E}">
        <p14:creationId xmlns:p14="http://schemas.microsoft.com/office/powerpoint/2010/main" val="1674857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338704-2458-4071-8796-108F1118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Formal model: shared features, sparse 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07E6C-79B0-4E7E-9EE0-1955E236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BASTANI (2021) —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E233A-A820-4C0F-B17A-0C7A69BF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42CAC-B7D5-4577-A44D-F2FC1D2E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143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66F9B-E416-4235-9CBC-BAC92355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52575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Data-generating processes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9AA19-249C-43F5-88F3-494622F6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62125"/>
            <a:ext cx="4876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y_gold  = xᵀ β*_gold  + ε_gold   (ε ~ σ_gold-subgaussian)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y_proxy = xᵀ β*_proxy + ε_proxy  (ε ~ σ_proxy-subgaussian)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Same features x ∈ R^d for both tasks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983E3-606A-478C-8C43-AE7542D7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5143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40A46-6413-414A-831B-A5E6239C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Structural decomposition (key)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1B747-BDC3-4B8B-BFF8-0F3075FB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487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β*_gold = β*_proxy + δ*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||δ*||_0 = s  (only s coordinates differ)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60954-1B54-427A-B4EE-AEE81459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76375"/>
            <a:ext cx="4381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6F8E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3E53C-6FBF-4820-A119-19B15A12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76375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5E7BC-3112-4570-9D3D-A57C80E2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71625"/>
            <a:ext cx="4114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Proxy and gold tasks share the same feature space x ∈ R^d but have different regression coefficients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55089-F3A2-4D01-9642-893B1184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28875"/>
            <a:ext cx="4381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D5A8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655D5-4B30-4A01-8CF3-8B4222C3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28875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556C6-6778-41D5-A164-CC3946D2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24125"/>
            <a:ext cx="4114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δ* is the sparse correction — only s of d features drive the gap between proxy and gold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F1A32E-26F5-4385-BB82-FB8CF552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81375"/>
            <a:ext cx="4381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7B8F7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D55771-5290-4610-AF67-3FEF1461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81375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B177D9-D618-4B5F-866F-5F28ACA4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76625"/>
            <a:ext cx="4114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Neither β*_gold nor β*_proxy needs to be sparse — only their DIFFERENCE δ* is assumed sparse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19BACA-CA4F-44A7-99A2-C6F71B84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084FAC-2E64-4D40-9DD9-919B6166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F84728-0861-444B-AC9A-D839BC22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62475"/>
            <a:ext cx="1055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What we need (3 assumptions)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0B05DD-149D-4774-B097-FFF12375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67275"/>
            <a:ext cx="10553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1. Sparse bias: ||δ*||_0 = s &lt;&lt; d   2. Proxy invertibility: Σ_proxy ⪰ ψI (mild, n_proxy large)   3. Compatibility condition on gold design matrix restricted to supp(δ*) — weaker than requiring Σ_gold ⪱ 0</a:t>
            </a:r>
          </a:p>
        </p:txBody>
      </p:sp>
    </p:spTree>
    <p:extLst>
      <p:ext uri="{BB962C8B-B14F-4D97-AF65-F5344CB8AC3E}">
        <p14:creationId xmlns:p14="http://schemas.microsoft.com/office/powerpoint/2010/main" val="4637446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C7FEAD-BF88-4B07-BBB2-6B1AACDC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The joint estimator: two-step LASSO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D97FD-9C3A-4EAD-B2B2-80BF5EDF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BASTANI (2021) — Algorithm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3034D-FBB4-4600-9D7B-126F773C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7EC2A-EDD0-4C80-9BE3-DFE0C939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Two steps: estimate proxy with all proxy data, then debias using only gold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69868-7F07-4F6D-B4D9-98AAADDB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048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6F8EA4">
              <a:alpha val="13333"/>
            </a:srgbClr>
          </a:solidFill>
          <a:ln xmlns:a="http://schemas.openxmlformats.org/drawingml/2006/main" w="14288">
            <a:solidFill>
              <a:srgbClr val="6F8EA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F8C1C-DA38-48CC-B2C6-4C3AE0C6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8BF23-3B6F-4B99-95EF-F95E21C2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2405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Proxy OLS (use all proxy data)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FF0E4-EFAB-433D-A1D4-8517E4BE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4819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β̂_proxy = argmin_β { (1/n_proxy) ||Y_proxy - X_proxy β||^2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Converges to β*_proxy with rate O_p(d·σ_proxy / √n_proxy)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Requires only n_proxy &gt;&gt; 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A1508-5E71-4E46-AE12-4B191486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50482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5A834">
              <a:alpha val="13333"/>
            </a:srgbClr>
          </a:solidFill>
          <a:ln xmlns:a="http://schemas.openxmlformats.org/drawingml/2006/main" w="14288">
            <a:solidFill>
              <a:srgbClr val="D5A8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7DC7F-B81D-4958-B7E2-E3A98466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05190-189A-47AB-A668-D6DD1DB5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Debiasing LASSO (gold data only)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58FDB-7E7C-422E-A467-6F2CB7DF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48196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δ̂ = argmin_δ { (1/n_gold) ||Y_gold - X_gold(δ + β̂_proxy)||^2 + λ||δ||_1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β̂_joint = δ̂ + β̂_proxy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λ chosen by cross-validation on gold data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Requires only n_gold &gt;&gt; s^2 (not d^2)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B62912-BBEB-4E3A-92DE-A9E9C5F3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28800"/>
            <a:ext cx="54102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7B8F7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3D6FD-DCD7-40F5-BBAC-7D4235A2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288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A9601-845D-4983-B317-ED57519E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5143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Reparameterization insight: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Step 2 is LASSO on the residual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(Y_gold - X_gold·β̂_proxy), recovering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sparse correction δ*. Gold data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is used only to identify which s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features need adjustment.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68FE6-C6DE-45C0-BFF0-44A0F640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54102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6F8EA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050B85-94BA-47B0-8B5E-E6549916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146473-E8B7-4B24-A421-84D4E4EA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76600"/>
            <a:ext cx="5143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Only β̂_proxy (a d-dimensional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vector) needs to be shared from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Step 1 to Step 2. Raw proxy data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need not be shared — important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for privacy in federated clinical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trial settings.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789045-0118-46D5-A33A-7C4B62BD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33900"/>
            <a:ext cx="54102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C3D67E-7FCC-429A-93A8-4FC03490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1010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First-stage noise flows through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728438-5515-4652-9DEC-32504281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19650"/>
            <a:ext cx="514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ν = β̂_proxy - β*_proxy  (small when n_proxy large)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δ̄ = δ* - ν = β*_gold - β̂_proxy  (approx. sparse)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Lasso tail bounds hold for approx. sparse targets</a:t>
            </a:r>
          </a:p>
        </p:txBody>
      </p:sp>
    </p:spTree>
    <p:extLst>
      <p:ext uri="{BB962C8B-B14F-4D97-AF65-F5344CB8AC3E}">
        <p14:creationId xmlns:p14="http://schemas.microsoft.com/office/powerpoint/2010/main" val="8942172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5495A9-B4D6-484A-A74C-497681D2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Main result: bias sparsity s replaces dimension 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27D08-B72A-48BB-B347-A0B08FF4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BASTANI (2021) — Theorem (Corollary 1)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E99EE-2B03-47DA-90AB-D650CCD8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BA67B-0534-42EB-847D-C8697AF6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Expected ℓ₁ estimation error, sup over problem parameters: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08A62-D776-43F3-914F-162B2820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D04CD-1A1A-4F83-8693-7EBAE193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1055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Corollary 1 — Joint estimator 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A4E1F-7759-481B-A659-ECCE137D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10553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R(β̂_joint, β*_gold) = O( max{ s·σ_gold·log(d·n_gold)/√n_gold,   s·d·σ_proxy·log(d·n_proxy)/√n_proxy } 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4C110-8781-4E08-86F4-93334518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>
              <a:alpha val="13333"/>
            </a:srgbClr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75973-EC57-4F7E-AED4-DE34860B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Estimator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15352-4CB4-4E23-9A6C-907167B2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860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ℓ₁ Error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DDA43-99B5-4789-A952-62620CA1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860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Uses sparsity?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8670B-3C02-47CC-923F-5BB1A7B1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082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CA6DC-926B-4A68-922E-DB2F7D6D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Gold OLS (n_gold only)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85B02-3FEF-4048-9A65-849926DF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051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d·σ_gold / √n_gold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1D2E8-ECCB-4DEE-863A-3E46EDF1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051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D3988-95C7-497C-B9DC-87773B90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9F17F9-1C0B-458C-939C-1F437B89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Model averaging / weighted loss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A6451E-6181-42AC-8083-697AF50F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242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min(d·σ/√n_gold, ||δ*||_1 + d·σ/√n_proxy)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25B840-24D8-470B-BF11-EFD59B43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15D50A-4F7D-4774-A301-ECAC2346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82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>
              <a:alpha val="13333"/>
            </a:srgbClr>
          </a:solidFill>
          <a:ln xmlns:a="http://schemas.openxmlformats.org/drawingml/2006/main" w="14288">
            <a:solidFill>
              <a:srgbClr val="7B8F7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ABF527-BC3A-439E-B1C2-5F85828C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Joint estimator (Bastani)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E19C3A-067C-435E-B678-00CFD77A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433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B8F70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7B8F70"/>
                </a:solidFill>
                <a:latin typeface="Courier New"/>
                <a:ea typeface="Courier New"/>
                <a:cs typeface="Courier New"/>
              </a:rPr>
              <a:t>s·σ·log(d) / √n_gold  [s &lt;&lt; d]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2B226C-0B88-4B49-A1E8-311B6244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433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B8F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8F70"/>
                </a:solidFill>
                <a:latin typeface="Aptos"/>
                <a:ea typeface="Aptos"/>
                <a:cs typeface="Aptos"/>
              </a:rPr>
              <a:t>YES 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15A884-C75E-40C8-87CB-DB56D78E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7B8F7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57B68D-D5E3-4317-A0A9-7109D21F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00EE33-1334-44B2-96DB-DF6B9E0B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10553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Interpretation: model averaging and weighted loss cannot exploit the sparse structure in δ* — they interpolate on the full d-dimensional parameter space and are provably stuck at the d/√n rate. The joint estimator targets δ* directly, needing gold data only for s dimensions.</a:t>
            </a:r>
          </a:p>
        </p:txBody>
      </p:sp>
    </p:spTree>
    <p:extLst>
      <p:ext uri="{BB962C8B-B14F-4D97-AF65-F5344CB8AC3E}">
        <p14:creationId xmlns:p14="http://schemas.microsoft.com/office/powerpoint/2010/main" val="9161347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2C4577-1800-409C-9392-F2416AE0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When the proxy-gold correction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8F3B6-0918-46B8-86EA-333E1D6E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BASTANI (2021) — Conditions and failure modes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F22A7-2FE6-4BE3-AE67-B59711DC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595FE-A7AD-4359-9B1B-B6EF0DFE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5143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941B9-672E-4174-8AB2-57E2B6FE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39B95-9855-46EF-9421-220D553F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487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✓ Transfer helps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3A9C5-B386-4AFA-B3DC-BCCDF6A2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48768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1. Sparse bias: s &lt;&lt; d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   Few features drive the proxy-gold gap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2. Abundant proxy: n_proxy &gt;&gt; s²d² σ²_proxy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   Step 1 accurately estimates β*_proxy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3. Compatibility on gold design: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   Σ_gold satisfies compatibility on supp(δ*)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   [weaker than requiring Σ_gold ⪱ 0]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2A459-3898-4296-99AF-933731DD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5143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16639-480E-4D61-B2FE-8E1BE171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25009-B2FE-43CB-A878-47A3E252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487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✗ Transfer does not help when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30D08-040B-4ED6-B5C5-0542E787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4876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1. Dense bias (s ~ d):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   Joint estimator ≈ gold-only OLS; no gain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2. Proxy too noisy (σ_proxy large, n_proxy small):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   First-stage error ν dominates; δ̄ not sparse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3. Gold design degenerate on supp(δ*):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   Compatibility fails; δ* not identifiable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19B0E-1F79-411F-B27A-EA144710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47800"/>
            <a:ext cx="43624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6F8E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56189-397F-460D-A906-66D29473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478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5F3B4-47EB-4279-A149-4433367D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43050"/>
            <a:ext cx="4095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Sample complexity gap: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Gold-only methods: n_gold = O(d² σ²/ξ²)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Joint estimator: n_gold = O(s² σ² log²(d)/ξ²)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Exponentially smaller in d when s &lt;&lt; 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B050F-1ECD-45EB-9CCE-8DF11EAF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43624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BC40BD-F928-442B-88AB-10B64D88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Optimal lambda (Corollary 1)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81563-9B02-4009-8D95-91A635ED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90850"/>
            <a:ext cx="409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λ* = Õ(σ_gold/√n_gold + d·σ_proxy/√n_proxy)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In practice: cross-validate on gold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5B493-578A-455C-998F-F213FBF6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43624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D5A8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DF5ECA-A4A7-4BCA-B498-FB722558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15986E-FD17-439A-B1AC-A78C87F6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71900"/>
            <a:ext cx="4095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Privacy-friendly: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Only β̂_proxy (Step 1 output) is shared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between sites. Raw proxy data stays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local. Works in federated healthcare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settings with data-sharing restrictions.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03FC96-9CA3-44A8-B554-0CF3C7E4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43624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6560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7A4696-C971-477B-A57E-97E12755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60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955562-F6E0-4284-A585-5484E28B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29200"/>
            <a:ext cx="4095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Extensions (§4.5):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Generalizes to any M-estimator with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convex loss (logistic, Poisson, etc.) with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identical rate using strong convexity of A</a:t>
            </a:r>
          </a:p>
        </p:txBody>
      </p:sp>
    </p:spTree>
    <p:extLst>
      <p:ext uri="{BB962C8B-B14F-4D97-AF65-F5344CB8AC3E}">
        <p14:creationId xmlns:p14="http://schemas.microsoft.com/office/powerpoint/2010/main" val="13695528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E727A7-562C-4E6D-A06D-2DAECD34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How Bastani maps to our estimator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5EA61-59B4-418F-B8DB-5A9CF649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BASTANI (2021) — Connection to our paper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04CF9-A9D3-47A4-A51F-C1D2D2C8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23B57-4902-4E7C-9CFC-7C638ADD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Our sparse correction step IS Bastani's Eq. (2): debiasing LASSO on target placebo residuals, centered at the source-site proxy estimate.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7C4DD-6C13-40B3-A482-E67259EC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Bastani (2021) formulation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F7A85-92DF-4D8F-B204-888494B6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426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Our paper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B70B6-D02F-4846-9CDA-18A73C14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66900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5B9FA-17DD-4B05-95D0-9C164E5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28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FCE396-465F-4B1A-B93E-327621B0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47900"/>
            <a:ext cx="443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EAE34-FDF5-471C-9A51-5068B787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617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Proxy: β*_proxy (source regression coeff.)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8332E-B8B3-46BC-A490-CEF4D600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241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μ̂₀^proxy(x)  — source-trial outcome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FC26F-E5D7-4965-966A-14386942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28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0A4E3-0D4A-4684-9F0E-92A27A1B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86050"/>
            <a:ext cx="443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B54615-E67F-4A19-869A-6D79D6EB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617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Gold: β*_gold (target regression coeff.)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538829-1DD9-4D10-94BB-0C5444CC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6225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μ₀(x) — true target baseline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1DB08D-B8F0-4152-863A-C82D1DB1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628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D2233-8767-4214-BD9A-FED580A4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24200"/>
            <a:ext cx="443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AC094-07CD-4041-A226-BDE0C67A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617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Sparse correction: δ* = β*_gold − β*_proxy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B3E8CF-3171-4BAF-A8D1-60BE2411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004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Sparse covariate-shift correction under A5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C975F4-C910-4E34-A8E1-0B1447D3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628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EB16D8-FA10-453A-B9D9-75736A62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62350"/>
            <a:ext cx="443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E2002F-66CB-43D0-AFDE-BD2664B9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617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Compatibility condition (gold design)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91A974-2F0A-47EB-9D4F-6C6F6277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Assumption A5: sparse local shift identifiable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FDD356-529D-42E8-9C87-39190785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628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E35FE9-D1C7-412A-805E-DFE9CDD6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00500"/>
            <a:ext cx="443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890173-7E5F-48AC-A209-1A417D29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617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δ̂ = argmin ||Y_gold − X_gold(δ + β̂_proxy)||^2 + λ||δ||_1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DDD0E2-DF93-4F8D-9678-9BC8A79D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767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Our Eq. (4): sparse correction of baseline risk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C8BE77-A257-4ED9-AF8B-457C52B3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28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0B01F6-2BD3-42FD-A558-C66BB2CC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38650"/>
            <a:ext cx="443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7BB3A8-1E44-4E5F-9524-6AEF576E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617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β̂_joint = δ̂ + β̂_proxy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87A923-573D-4607-B52E-0872945D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1485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μ̂₀^anchor(x) = δ̂ + μ̂₀^proxy(x)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4CC820-E679-45B9-9586-496A6429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8A002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A23A53-4CA1-4209-A932-E63D2824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F72206-2B4C-409A-AAC6-EE4E24DF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553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Key difference: our setting adds a DR learner on top of the corrected baseline risk estimate. Bastani's β̂_joint gives μ̂₀^anchor(x). We then form pseudo-outcomes ψ_i = μ̂₁(x_i) − μ̂₀^anchor(x_i) + IPW residual and fit CATE τ̂(x) = E[ψ|x]. Bastani provides the first-stage foundation.</a:t>
            </a:r>
          </a:p>
        </p:txBody>
      </p:sp>
    </p:spTree>
    <p:extLst>
      <p:ext uri="{BB962C8B-B14F-4D97-AF65-F5344CB8AC3E}">
        <p14:creationId xmlns:p14="http://schemas.microsoft.com/office/powerpoint/2010/main" val="21410860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6C0D76-248A-4E02-964F-725355E8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Beyond one proxy: K sources with unknown similarity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17429-7E51-46B9-8425-E28228BE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BASTANI (2021) → TIAN &amp; FENG (2023)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E5B53-CE04-47B7-AEBC-9D685A50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9A51A-9EB2-438A-A49A-2667A1B4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5143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7ED24-9676-49F1-8714-DCBEA2CC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E8D30-18C5-4CEF-B9F2-B1CADDC2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487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What Bastani covers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7DFF1-E8FA-4BC3-A8A8-56A00CF8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4876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One proxy source dataset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Linear model (extended to GLMs in §4.5)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Oracle knowledge of which source to use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Sparse bias in ℓ₀ sense: ||δ*||_0 =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42403-782C-4A6E-B85F-78BB539F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5143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292A7-30FB-456A-A007-2ED4934D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87A6A-79C9-48A9-87FD-30B5A87B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487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What Bastani does NOT cover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8F29E-0E7D-4869-AF1F-BEC1FD06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48768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Multiple source datasets (K &gt; 1)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Which sources are informative when h varies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Negative transfer when bad sources are pooled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Minimax lower bounds (optimality certificate)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Valid confidence intervals for inference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ℓ₁-sparse contrast (more general than ℓ₀)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EED72-254A-4EDC-B47B-C2D161FD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47800"/>
            <a:ext cx="43815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6F8E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4945D-EAE0-45A3-8B46-CFDD6CF6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47800"/>
            <a:ext cx="47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17CCE1-514E-4D57-BE86-470F60B2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43050"/>
            <a:ext cx="41148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Clinical trials have K source studies, each with possibly different patient populations. Some sources are close to the target (small h = ||β_target − w^(k)||_1), others are far (negative transfer). We need: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1. A method that pools ONLY informative sources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2. Data-driven selection of which k ∈ A_h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3. Minimax optimality over the class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→ Tian &amp; Feng (2023) addresses all three.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3386AF-C52A-451B-B663-75BB31B8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10250"/>
            <a:ext cx="5715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→ See next section: Tian &amp; Feng (2023)</a:t>
            </a:r>
          </a:p>
        </p:txBody>
      </p:sp>
    </p:spTree>
    <p:extLst>
      <p:ext uri="{BB962C8B-B14F-4D97-AF65-F5344CB8AC3E}">
        <p14:creationId xmlns:p14="http://schemas.microsoft.com/office/powerpoint/2010/main" val="127018388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4AF90F-11C1-4105-BC41-D4FC759E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Tian &amp; Feng (2023): Transfer Learning under High-dimensional GLMs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2D0DE-121C-4E55-843D-A9509B56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TIAN &amp; FENG (2023) — JASA 118(544), pp. 2684–2697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6CDEE-6A96-4E57-B072-DD02864D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BB056-4639-4C21-8B8B-EE171714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Extends Bastani to K source datasets, any GLM, with data-driven source selection and minimax-optimal rates.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8F213-3701-4175-A705-8758F9EC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00300" cy="3048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2F9EA-E544-493A-B0FA-385650E8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00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9A609-A2D2-4B20-B02F-3FF01951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288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K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B79DE-A50F-4C00-B879-0D75BCC8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1336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Any number of source datasets {(X^(k),y^(k))}^K_{k=1}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Each with possibly different w^(k)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AF55F-DA04-44DE-8B5E-90106A80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95500"/>
            <a:ext cx="2400300" cy="3048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0B303-E60F-44B7-995D-DF45C0BF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95500"/>
            <a:ext cx="2400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DF587-9FEF-4B1C-A819-32818DBC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288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Any GLM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452E9-7AA7-4215-A9CC-643B6AEF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21336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Linear, logistic, Poisson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y^(k)|x ~ exp{y·xᵀw^(k) − ψ(xᵀw^(k))}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49867-2A66-469A-8848-93488CBA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2400300" cy="3048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8ED49-4DA3-4D8D-9568-7E34AD72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2400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85194-E55B-4CC4-85E1-7B5DAA4D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288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Auto-selection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83793A-39A0-45A5-B2D7-8014703D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21336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Cross-validation detects A_h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(informative sources)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No oracle knowledge required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F90E3-4197-42CF-896F-55BE727E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95500"/>
            <a:ext cx="2400300" cy="3048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F2A4F9-B8CE-469B-9EA5-9ED19151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95500"/>
            <a:ext cx="2400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1E52BE-9404-4531-9C94-0E21A464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288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Minimax optimal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60C6B0-A5AE-4BC7-87D4-0C3F77B9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33650"/>
            <a:ext cx="21336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Rate is tight: lower bound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matches upper bound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+ confidence intervals</a:t>
            </a:r>
          </a:p>
        </p:txBody>
      </p:sp>
    </p:spTree>
    <p:extLst>
      <p:ext uri="{BB962C8B-B14F-4D97-AF65-F5344CB8AC3E}">
        <p14:creationId xmlns:p14="http://schemas.microsoft.com/office/powerpoint/2010/main" val="69825874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555C51-8531-45FF-82D2-D59AE35C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Setup: K source GLMs + 1 target in high dimension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2898F-7386-42E4-B41E-5120C5D7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TIAN &amp; FENG (2023) —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A0365-3F8B-4AA8-BB8A-DE449252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B3CE4-19E3-4A97-92B4-D79F3634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5524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ADBE5-6421-4DE7-A45F-B3DC5215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GLM model (k = 0, 1, ..., K)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7342D-A129-48F8-A3D2-037A3D1F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5257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y^(k)|x ~ ρ(y) exp{ y·xᵀ w^(k) − ψ(xᵀ w^(k))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Target: β = w^(0) ∈ R^p,  ||β||_0 = s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High-dimensional: n_0 &lt;&lt; p,  n_k &lt;&lt; 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6AAD8-A376-4DD6-BEA0-948E8552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52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CA987-A9F2-40DE-9C36-6B060E87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Contrast and transferring level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BBC5B-C6C8-412D-9CEF-E015CBD3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5257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δ^(k) = β − w^(k)     (contrast of source k from target)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||δ^(k)||_1 = h_k      (transferring level of source k)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A_h = { k : ||δ^(k)||_1 ≤ h }   (informative set)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D621C-EA56-42B9-BAB8-E4E9EF9D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552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118BA5-33AB-4900-AF72-9342F5F1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Effective sample size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75A11-B768-4EE9-A172-BE3A4D9A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5257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n_{A_h} = Σ_{k ∈ A_h} n_k     (total informative samples)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K_{A_h} = |A_h|               (number of informative sources)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BA8FC-9BA6-4DD4-AD69-55780AB3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47800"/>
            <a:ext cx="4953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6F8EA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7113A-0BCA-47F1-BC00-7674147E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478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DDA0F3-7172-42CC-85FC-E98FDEA1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43050"/>
            <a:ext cx="4686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High-dimensional regime: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n_0 &lt;&lt; p — classical MLE fails.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Baseline is Lasso with rate O(s√(log p/n_0)).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Transfer replaces n_0 by n_{A_h} + n_0.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A759A0-5C44-48D3-84BC-F0970323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19350"/>
            <a:ext cx="4953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D5A8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CF41E-6BE2-407C-948F-6AEE6E3B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193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4BCC69-9F24-42B0-84B7-6F0DEA44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14600"/>
            <a:ext cx="4686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ℓ₁ vs ℓ₀ contrast sparsity: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Tian &amp; Feng use ||δ^(k)||_1 ≤ h (ℓ₁).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Bastani uses ||δ*||_0 = s (ℓ₀).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ℓ₁ allows the contrast to be diffusely small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across many coords, not exactly zero on 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DF5652-3388-47AC-A6A6-22F28047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86150"/>
            <a:ext cx="4953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7B8F7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1AD8BE-D8E8-425C-B4B3-6599732F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861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60F8A9-6C4B-4A32-83BD-F896F4E2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81400"/>
            <a:ext cx="4686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Two sparsity conditions: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1. Target sparsity: ||β||_0 = s (needed to identify β with Lasso)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2. Contrast sparsity: ||δ^(k)||_1 ≤ h (needed for debiasing step to work)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These are independent: β can have sparse support while δ^(k) is diffusely small.</a:t>
            </a:r>
          </a:p>
        </p:txBody>
      </p:sp>
    </p:spTree>
    <p:extLst>
      <p:ext uri="{BB962C8B-B14F-4D97-AF65-F5344CB8AC3E}">
        <p14:creationId xmlns:p14="http://schemas.microsoft.com/office/powerpoint/2010/main" val="19473011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CFBB1F-5DDE-493C-A6D3-28356FA7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A-Trans-GLM: two-step algorithm with known A_h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47A7D-5CA9-4B84-A86A-A1958A0D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TIAN &amp; FENG (2023) — Algorithm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F1584-9B3C-49F9-B1EF-5C62EC50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5DED8-EC10-4C17-86EC-C6538A78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5524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6F8EA4">
              <a:alpha val="13333"/>
            </a:srgbClr>
          </a:solidFill>
          <a:ln xmlns:a="http://schemas.openxmlformats.org/drawingml/2006/main" w="14288">
            <a:solidFill>
              <a:srgbClr val="6F8EA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1CEC1-B444-448A-B67D-E9790981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43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BD783-D0C3-416C-BDAB-C073AA25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43050"/>
            <a:ext cx="489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Pooled Lasso (Step 1 — use all informative data)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37CA7-2778-4FD2-AE64-1F142B8E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5295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ŵ^A = argmin_w { (1/(n_A+n_0)) Σ_{k ∈ {0}∪A} L_k(w) + λ_w||w||_1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L_k(w) = -(y^(k))ᵀ X^(k)w + Σ_i ψ(wᵀ x_i^(k))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λ_w = C_w √(log p / (n_{A_h} + n_0))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40377-BE22-401C-83CB-52A076D4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524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5A834">
              <a:alpha val="13333"/>
            </a:srgbClr>
          </a:solidFill>
          <a:ln xmlns:a="http://schemas.openxmlformats.org/drawingml/2006/main" w="14288">
            <a:solidFill>
              <a:srgbClr val="D5A8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E2EF8-9C57-450F-9D87-A5515A33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3E717-93A9-4A76-9D0E-081DF470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71850"/>
            <a:ext cx="489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Debiasing Lasso (Step 2 — target data only)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E704A-B3CB-4394-B7D1-B10B9F90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5295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δ̂^A = argmin_δ { -(1/n_0)(y^(0))ᵀ X^(0)(ŵ^A + δ) + (1/n_0) Σ_i ψ((ŵ^A+δ)ᵀ x_i^(0)) + λ_δ||δ||_1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λ_δ = C_δ √(log p / n_0)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AB499-B9BC-4B51-8257-5841858E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5524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79735-E177-4733-ABA1-B5677770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1600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BDBF58-496F-4B25-B7AA-5D8A79EB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525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β̂ = ŵ^A + δ̂^A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3711F6-6AE0-4E94-A747-8EDA67A6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4780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6F8EA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1AE4A-EEEC-4316-9ACC-1EEFE726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478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99271B-665B-47B1-BE68-056368D2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43050"/>
            <a:ext cx="4686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Step 1 intuition: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Pool all n_{A_h} + n_0 observations.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This gives a biased but low-variance estimate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ŵ^A ≈ weighted mixture of {w^(k)}_{k∈A}.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larger n_{A_h}, the lower the variance.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F91585-55C9-48A3-AE84-DBAEAB28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0510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D5A8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0DBB97-7ECD-40C1-9636-E19D00F3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051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472196-D33C-451D-854D-A4AD6C6C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00350"/>
            <a:ext cx="4686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Step 2 intuition: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Correct the bias introduced by pooling.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Target data alone estimates δ = β − ŵ^A.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Since ||δ||_1 ≤ h (small), this needs only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n_0 observations. Requires h &lt;&lt; √(log p/n_0).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55255A-301C-4200-BF72-44F0CE00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62400"/>
            <a:ext cx="4953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7B8F7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FD1243-E8EA-4597-81F0-A38DD77A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624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7EF4CE-E52B-4538-895B-C6433FEF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57650"/>
            <a:ext cx="4686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Same structure as Bastani: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Step 1 = proxy estimation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Step 2 = debiasing LASSO on target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Difference: Step 1 pools K sources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instead of 1, and uses GLM loss.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F557A5-DD01-49C9-A6A8-8CAEA895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24450"/>
            <a:ext cx="495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65605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9BD110-1231-4610-9C8F-4282F49C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2445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60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A0FE67-9E24-466A-9157-F6B02F62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219700"/>
            <a:ext cx="4686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Penalty scales: λ_w uses combined n_{A_h}+n_0 (more data → smaller regularization). λ_δ uses only n_0 (target-only estimation of contrast).</a:t>
            </a:r>
          </a:p>
        </p:txBody>
      </p:sp>
    </p:spTree>
    <p:extLst>
      <p:ext uri="{BB962C8B-B14F-4D97-AF65-F5344CB8AC3E}">
        <p14:creationId xmlns:p14="http://schemas.microsoft.com/office/powerpoint/2010/main" val="142517352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3EF735-6AAE-40EB-ABEA-EB18CF04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Trans-GLM: data-driven detection of informative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D55C7-727E-4C4E-BA81-7918217B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TIAN &amp; FENG (2023) — Algorithm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09BC3-428F-4F23-8D8A-D6A2BA06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C1D2F-8D7F-45B4-A6F8-5C8CC3BE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8A00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AA283-91A3-4CA4-A236-01B3DCB6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6056E-7011-4F36-96C2-DFFB4890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43050"/>
            <a:ext cx="10553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Problem: A_h is unknown in practice. We cannot observe ||β − w^(k)||_1 without knowing β. Algorithm 2 detects informative sources using cross-validation on the TARGET data only.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3DEBB-8F8D-4DE0-BA88-BBF051C5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38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6F8EA4">
              <a:alpha val="13333"/>
            </a:srgbClr>
          </a:solidFill>
          <a:ln xmlns:a="http://schemas.openxmlformats.org/drawingml/2006/main" w="14288">
            <a:solidFill>
              <a:srgbClr val="6F8E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BBEFA-D28B-4ADA-867E-C6B620B6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36D59-9746-4134-AD1B-B36A46ED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07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CV for each 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5FEBC-9DEF-41BA-A2D2-5FA34BA0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30099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For each source k and fold r: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• Fit pooled model using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  {source k} + {2 target folds}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• Evaluate CV loss on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  held-out target fold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• Compute mean CV loss L̂₀^(k)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D4F5D-8EE7-48AA-ACA2-9B3E82B5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3238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5A834">
              <a:alpha val="13333"/>
            </a:srgbClr>
          </a:solidFill>
          <a:ln xmlns:a="http://schemas.openxmlformats.org/drawingml/2006/main" w="14288">
            <a:solidFill>
              <a:srgbClr val="D5A8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4975B-CC36-43AC-87DD-42B69C17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A2DA2E-5F4C-4827-934C-617CAD81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907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Compare to target-only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6C8DA-C5E1-442A-B566-F3E83634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0099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Fit target-only Lasso: L̂₀^(0)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Estimate noise σ̂ from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cross-validated residuals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Include source k if: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L̂₀^(k) − L̂₀^(0) ≤ C₀·σ̂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(CV loss not worse than target)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BA4584-2F8D-4042-94BE-89A298A2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95500"/>
            <a:ext cx="37338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7B8F70">
              <a:alpha val="13333"/>
            </a:srgbClr>
          </a:solidFill>
          <a:ln xmlns:a="http://schemas.openxmlformats.org/drawingml/2006/main" w="14288">
            <a:solidFill>
              <a:srgbClr val="7B8F7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821D6-EF99-45AB-971C-2E0F97BE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B8F7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8F7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9B6BC-295D-4048-9872-39494808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105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B8F7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B8F70"/>
                </a:solidFill>
                <a:latin typeface="Aptos"/>
                <a:ea typeface="Aptos"/>
                <a:cs typeface="Aptos"/>
              </a:rPr>
              <a:t>Run A-Trans-GLM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8CFA74-7E98-4026-8081-D97B2521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14600"/>
            <a:ext cx="3505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Â = { k : L̂₀^(k) − L̂₀^(0) ≤ threshold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Run Algorithm 1 with Â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instead of oracle A_h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Theorem 4: Â = A_h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with high probability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780FE6-CF7F-4391-B025-F8DEAF81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143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2C3806-A89B-4E0F-84DE-8838B63F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23DEBE-1A38-4BEB-AECC-4461F920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487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Theorem 4 — Detection consistency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6C25A9-06C7-4CAE-9B43-93284E07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4876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Under identifiability (Assumption 5) and sufficient sample sizes: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P(Â = A_h) ≥ 1 − 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Auto-detection is asymptotically exact.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F3412-8E91-4EBC-AD51-375215A4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5314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7222A9-DA86-416C-AED4-6E05A391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5314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384CBB-EAEF-487A-A66F-FC218CED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8625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R package: glmtrans (CRAN)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851397-BCD7-4830-84B2-66EFD2FA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91050"/>
            <a:ext cx="5048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Implements all three algorithms: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A-Trans-GLM (oracle, known A_h)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Trans-GLM (auto-detection via CV)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Confidence intervals (Theorem 5)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Install: install.packages('glmtrans')</a:t>
            </a:r>
          </a:p>
        </p:txBody>
      </p:sp>
    </p:spTree>
    <p:extLst>
      <p:ext uri="{BB962C8B-B14F-4D97-AF65-F5344CB8AC3E}">
        <p14:creationId xmlns:p14="http://schemas.microsoft.com/office/powerpoint/2010/main" val="7247213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776E65-B4C4-405A-89EA-4FDC7D70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Main theorem: transfer replaces n₀ by n_{A_h} + n₀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4B9CF-6461-4177-85FC-6D521B2F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TIAN &amp; FENG (2023) — Theorem 1 + 2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F5769-5FAE-4EED-A16B-A093320A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0B54B-E4B5-4E1B-B27B-102A5348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9EFC6-F6CA-4858-A7C0-45DA511D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1055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Theorem 1 (upper bound) — ℓ₁ estimation error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F9072-10DE-4720-82D6-D5592452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10553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||β̂ − β||_1 ≲ s · √(log p / (n_{A_h} + n_0)) + h        [with prob. ≥ 1 − n_0^{-1}]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Two terms: (1) variance term — improves with more data; (2) bias term h — controlled when h &lt;&lt; √(log p / n_0)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176D5-4BE1-4520-A45A-F524D7F7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3273F-CE45-4E52-BE60-B6102501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055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Naive Lasso baseline (no transfer)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F605E-E6CD-408D-85C6-491C0733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0553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||β̂_Lasso − β||_1 = O_p( s · √(log p / n_0) )    [slower — only n_0 in denominator]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E2A57-77EE-4DC6-9570-91516BD2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CA9E8-6DDB-4505-A574-8300C55D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055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Theorem 2 (lower bound — minimax optimal)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0C559-0B0E-48E5-888B-F0B8897E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10553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inf_{β̂} sup P(||β̂−β||_1 ≥ c·s·√(log p/(n_{A_h}+n_0))) ≥ 1/2  →  A-Trans-GLM is rate-optimal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9C321-F821-4714-B619-C8FBE5B3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7B8F7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D9E69-E160-491A-B4C1-D40DB9FA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0A5DE9-DF24-4312-B034-E051B9A1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0553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Transfer benefit condition: h &lt;&lt; √(log p / n_0)  AND  n_{A_h} &gt;&gt; n_0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When both hold: denominator (n_{A_h} + n_0) &gt;&gt; n_0 → first term shrinks → huge improvement over Lasso.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bias term h vanishes when sources are very close to target.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E67A26-259D-49DD-93B7-EE8DA4EB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5143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B8FB70-617D-48E4-BBF6-D14379F3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D023D3-4476-489E-921C-0B9E72E0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14900"/>
            <a:ext cx="487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Rate comparison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B936A4-72EF-46F3-B283-8E2E5AB4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487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h → 0, n_{A_h} → ∞: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Tian &amp; Feng: O(s√(log p / n_{A_h}))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Naive Lasso:  O(s√(log p / n_0))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Ratio improvement: √(n_{A_h}/n_0)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8D7BA0-B133-4003-A434-BD06511E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81550"/>
            <a:ext cx="53149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90A9F0-947D-490E-94AA-C04E1286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81550"/>
            <a:ext cx="5314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BE5FF5-8AD8-49E4-AA6B-F3975E0D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Confidence intervals (Theorem 5)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7DC6EC-AB79-4EA9-B179-1959EB9B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19700"/>
            <a:ext cx="504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Desparsified estimator b: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√n_0 (b_j − β_j)/σ̂_j → N(0,1)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Valid CIs even in high dimension.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Implemented in glmtrans.</a:t>
            </a:r>
          </a:p>
        </p:txBody>
      </p:sp>
    </p:spTree>
    <p:extLst>
      <p:ext uri="{BB962C8B-B14F-4D97-AF65-F5344CB8AC3E}">
        <p14:creationId xmlns:p14="http://schemas.microsoft.com/office/powerpoint/2010/main" val="107057763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D1FB0C-38DC-4F03-B216-394A5FEA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Negative transfer: uninformative sources hurt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EACCE-C7F1-4D2C-A5FF-A823AE4D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TIAN &amp; FENG (2023) — Cautionary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63078-F42A-49C2-B928-6F47D5E9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E1426-AD07-4D8F-9406-A1048872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B341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C97F7-A6BD-4144-BCCA-05B7D399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998E8-000A-455B-AD55-09FDA632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43050"/>
            <a:ext cx="10553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Naively pooling ALL K sources (including those with large ||δ^(k)||_1 &gt;&gt; h) WORSENS estimation — 'negative transfer'. Use Trans-GLM (Algorithm 2) to avoid this.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DC39C-58AF-4739-8481-85336E6C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143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722DF-57DE-4432-92F3-FFB404D0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9BE5E-1DBC-481D-80B0-8D8E064C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87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What goes wrong with naive pooling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1F0CD-BDDA-45E9-8267-FC50E5FF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48768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If source k has ||δ^(k)||_1 = h_large &gt;&gt; h: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Step 1 pooling bias is O(h_large)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Step 2 debiasing cannot correct large h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  (requires n_0 &gt;&gt; h²/log p, which fails)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Net: bias term dominates → worse than Lasso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Pooled-Trans-GLM (all K sources) can be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MUCH worse than naive Lasso when most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sources are far from the target.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7B4E3-36C8-44B3-9D40-302D3C72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53149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1506D-EB9C-42B8-99D1-B5B648F8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5314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15CD8-B4CB-462B-B4EA-1B303438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Trans-GLM solves this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EFD8A-7D4F-499C-9E4B-A6E40172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50482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Algorithm 2 detects and excludes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uninformative sources before pooling.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Key guarantee (Theorem 4):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P(Â = A_h) → 1 as n_0 → 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Result: Trans-GLM is NEVER worse than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target-only Lasso in the limit (safe transfer).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Safe to deploy without knowing h in advance.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809870-E08A-4EB9-B038-5CC76C6B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892C7-7810-4276-87B5-E41DDB66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1055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Formal negative transfer condition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AC5C6-6941-404A-963B-3E2DDDDC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0553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If k ∉ A_h (i.e., ||δ^(k)||_1 &gt; h) is included in pooling: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  ||β̂ − β||_1 ≥ c · h_large  (bias-dominated)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  This is O(h_large) &gt;&gt; O(s·√(log p/n_0)) for large h_large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  → Naive pooling can be arbitrarily bad; source selection is mandatory</a:t>
            </a:r>
          </a:p>
        </p:txBody>
      </p:sp>
    </p:spTree>
    <p:extLst>
      <p:ext uri="{BB962C8B-B14F-4D97-AF65-F5344CB8AC3E}">
        <p14:creationId xmlns:p14="http://schemas.microsoft.com/office/powerpoint/2010/main" val="162173074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F86BBF-D96D-4226-9063-95F33A68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Bastani (2021) vs Tian &amp; Feng (2023): key differences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EEABF-2607-4B30-819C-3741E45B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84258-0163-4475-B75E-8123E622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D28A1-162F-46FA-A216-72D822E2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>
              <a:alpha val="13333"/>
            </a:srgbClr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233D7-DE18-4426-8675-01CBE952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Aspect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60941-4890-4AE0-AB69-2BDC64EA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430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Bastani (2021)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7CE64-7AB1-42E2-91AE-83CD8DBA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430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Tian &amp; Feng (2023)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48D8B-7C6C-4B1C-93F2-53A8E34F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6B7CA-1AB8-41A9-9C53-0DFDC12B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D2E40-9853-48D7-B132-0F3AC3F4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6215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Linear (+ GLM extension §4.5)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A4267-E2AE-417A-9FB9-9F023ED7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621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Any GLM as primary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62FA2E-C89E-4B77-B483-3FAC3667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56E10-8E18-4BB5-8DD3-F438990B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E19DB-3B27-4CFC-8ADA-CD556A23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5745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1 proxy dataset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BA239-A711-40B0-9AA1-488ACDA5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574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K source datasets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5A68C6-93CD-4CA3-86CE-C739AB79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BDA96-824B-43B4-A1AC-F3ADDA2F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Sparsity of contrast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4A5095-405A-4173-9704-73980914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5275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ℓ₀: ||δ*||_0 =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1A153D-0565-4FDC-9162-A1B18505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527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ℓ₁: ||δ^(k)||_1 ≤ 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DEEB42-8343-44A4-B546-21E031B9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80D89B-DC46-4DC2-9229-EE5A131E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Source selection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DD771D-2A06-4A12-A1DF-F8052CB1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4805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Oracle (proxy known)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CAE764-9451-477D-B716-1AE5CBA6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480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Data-driven via CV (Alg. 2)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84DDA8-567E-4C8F-B808-07C64EF3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1B6871-D95A-4087-841A-C29BCF54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Optimality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07115C-18F9-42A1-AEA0-063D3B02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4335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Rate result (Corollary 1)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21649C-4D33-46A6-851D-6B47CFD6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433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Minimax lower bound (Theorem 2)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032BEA-9E47-49CA-B1E6-8B82B179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31AA9F-9C4E-429C-B92C-2BB7F99F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Inference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C10836-3918-4C32-BB7B-E269644A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3865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Point estimation 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EFD3D2-80F6-436A-AB71-54ADEE5F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386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+ Confidence intervals (Theorem 5)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793FF1-BF2D-40C4-80DD-48D783BB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7B8F7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CF2730-3BA1-41E5-A72E-1D9BCBA9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7E419E-973C-44CD-B10C-692E4F65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0553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Both papers use the same two-step structure: (1) estimate with proxy/source data, (2) debias on target. Tian &amp; Feng extends the scope from 1 source to K, provides minimax optimality, and handles unknown source quality.</a:t>
            </a:r>
          </a:p>
        </p:txBody>
      </p:sp>
    </p:spTree>
    <p:extLst>
      <p:ext uri="{BB962C8B-B14F-4D97-AF65-F5344CB8AC3E}">
        <p14:creationId xmlns:p14="http://schemas.microsoft.com/office/powerpoint/2010/main" val="26720809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5EB9C0-21E0-4A99-B4A0-E6DAA04B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How Tian &amp; Feng maps to our multi-source clinical trial setting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8ABBB-A97B-40EB-A73B-0F00BB95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TIAN &amp; FENG (2023) — Connection to our paper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B5A24-F080-43F5-8E9B-544D006A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B7722-2022-40FD-894C-FDF7713A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In our paper: K source RCTs, target has placebo only, some sources are close (small h), others far (large h). Tian &amp; Feng provides the foundation for multi-source pooling.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3B667-0DF2-4C77-BECF-CC2B9BF5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>
              <a:alpha val="13333"/>
            </a:srgbClr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87D78-B78E-4409-B748-79CA3408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Tian &amp; Feng (2023)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D4D33-1676-40D6-AAAC-F74C43D8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57375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Our paper (this work)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3E6FF-EAD1-426A-9A8A-9DF66B7D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0364C-759D-4D36-9593-BF79BB90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K source GLMs {(X^(k), y^(k))}_{k=1}^K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4AD3C-4361-463E-B151-30C6A5A9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19325"/>
            <a:ext cx="514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K source trial IPDs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084D3-1CF4-4133-BADB-3DCF9208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746B2-4358-4671-BCB2-211E382C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652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Source coefficient w^(k) ∈ R^p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A4E24D-C223-420C-87FE-2B9B91DC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76525"/>
            <a:ext cx="514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Source-site outcome model μ̂₀^(k)(x)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708C26-0B21-4F14-B3D2-B538DBB3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FCE93-BD97-4E03-A073-4C6E0394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Target coefficient β = w^(0)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F0DEA-BA3D-49B4-B0FF-44320452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33725"/>
            <a:ext cx="514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Target baseline risk μ₀(x)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BD7386-D803-4146-BF09-629C9E4B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C3D9A1-8ADE-4C60-9E54-4A3A02FA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Contrast δ^(k) = β − w^(k)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D15216-82BD-4AE8-BBAE-18EB0F52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90925"/>
            <a:ext cx="514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Covariate shift under A5: sparse local shift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C9B53A-0B62-4484-BC06-556593D8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75211A-9A67-4689-921E-0E3EEDCF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Transferring set A_h (informative sources)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266FA4-C358-415C-9663-0C4BF63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48125"/>
            <a:ext cx="514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Compatible sources satisfying Assumption A6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A67108-4584-4724-92F2-C62DE7DA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0653BD-8880-4A11-84C2-8F52FCA9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Trans-GLM Step 1: pooled Lasso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2F85E3-5A04-45B0-8203-B7D6CC53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05325"/>
            <a:ext cx="514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Source pooling with anchor (sparse correction)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5690C8-A6E7-4C0C-9172-1D7E8D3D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0983D5-EC3F-4AF4-94F2-FD1CC026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Trans-GLM Step 2: debiasing on target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30AD36-B472-4B1A-B672-1F2FA029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62525"/>
            <a:ext cx="514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δ̂ correction: argmin with λ||δ||_1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1D4BE-ACDE-4C5D-AB95-5513C8C0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8A002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1B371F-60AD-4850-B29E-13B0C226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658E3A-DB4D-447C-933D-950F1668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86400"/>
            <a:ext cx="10553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Key difference from Tian &amp; Feng: we target individual CATE τ(x) = E[Y(1)−Y(0)|x], not the baseline risk coefficient β. Our DR learner layer (pseudo-outcomes ψ_i = μ̂₁(x_i)−μ̂₀^anchor(x_i)+IPW residual) sits on top of the Tian &amp; Feng foundation. GLM family = logistic regression for binary endpoints, linear regression for continuous.</a:t>
            </a:r>
          </a:p>
        </p:txBody>
      </p:sp>
    </p:spTree>
    <p:extLst>
      <p:ext uri="{BB962C8B-B14F-4D97-AF65-F5344CB8AC3E}">
        <p14:creationId xmlns:p14="http://schemas.microsoft.com/office/powerpoint/2010/main" val="158597984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B52677-FD36-4D9D-85B0-F6C8782A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Summary: two papers, one estimator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72991-D29E-46C1-8FED-B3A4FF74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93E76-7933-4414-8BA1-F1939DF2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7F098-3A6D-4887-9FEB-4A55E26D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219450" cy="419100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46E36-DD16-4624-8EE2-B080C185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219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418E2-6812-469A-8276-2000A25C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Bastani (2021)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AC5DA-0B95-4EA8-BD36-CA38DB65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29527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Single proxy-gold setup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β*_gold = β*_proxy + δ*, ||δ*||_0 = s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Two-step Lasso: proxy OLS → debiasing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Rate: s·σ/√n_gold (s replaces d)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Powers our sparse correction step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Privacy: share only β̂_proxy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DEA78-87F2-4D8A-95EE-E6912F06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3219450" cy="419100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6E675-E3BF-4C3D-B3C3-7BEBA159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3219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F53BB-1A16-4A48-B648-273C27B5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573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Tian &amp; Feng (2023)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93480-E32B-460D-B346-9FADFED9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62150"/>
            <a:ext cx="29527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K sources, GLMs, unknown quality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Contrast: ||δ^(k)||_1 ≤ h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Auto-detects A_h via cross-validation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Minimax optimal rates (Theorem 2)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Confidence intervals (Theorem 5)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R: glmtrans on CRAN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46F38-9B99-4228-9237-B1D75B8B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24000"/>
            <a:ext cx="3219450" cy="419100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E6830-E2C6-4BA8-BCFE-BB89E008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24000"/>
            <a:ext cx="3219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559929-A521-4019-8FBA-48294BC1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573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Our estimator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B854EE-21E1-48C8-81B0-9DAB4AB2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62150"/>
            <a:ext cx="29527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Bastani's correction: μ̂₀^proxy → μ̂₀^anchor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Tian &amp; Feng: K-source GLM extension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DR learner: pseudo-outcomes ψ_i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CATE: τ̂(x) = E[ψ|x]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Connected: Theorem 1 (identified)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Disconnected: Theorem 2 (working model)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9F36F1-6943-41D6-9C4E-D9AC591C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7B8F7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27E6CD-263F-4317-BD15-5187D35B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81D42-4ADC-44E0-A126-A941DFC5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81700"/>
            <a:ext cx="10553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full estimator = Tian &amp; Feng baseline risk correction (multi-source GLM pooling with debiasing) + Kennedy (2023) doubly robust CATE learner with cross-fitting. Each layer has its own theoretical guarantee; our paper proves the joint guarantee under Assumptions A1–A6.</a:t>
            </a:r>
          </a:p>
        </p:txBody>
      </p:sp>
    </p:spTree>
    <p:extLst>
      <p:ext uri="{BB962C8B-B14F-4D97-AF65-F5344CB8AC3E}">
        <p14:creationId xmlns:p14="http://schemas.microsoft.com/office/powerpoint/2010/main" val="930762596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2026-05-21T23:02:04.3970000Z</dcterms:created>
  <dcterms:modified xsi:type="dcterms:W3CDTF">2026-05-21T23:02:04.3970000Z</dcterms:modified>
</coreProperties>
</file>