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6395b6ee554939" /><Relationship Type="http://schemas.openxmlformats.org/officeDocument/2006/relationships/extended-properties" Target="/docProps/app.xml" Id="R5aadd25ca9db44df" /><Relationship Type="http://schemas.openxmlformats.org/officeDocument/2006/relationships/officeDocument" Target="/ppt/presentation.xml" Id="R7afa644fe62d46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bee7f288424d0e"/>
  </p:sldMasterIdLst>
  <p:notesMasterIdLst>
    <p:notesMasterId xmlns:r="http://schemas.openxmlformats.org/officeDocument/2006/relationships" r:id="R49a7754732744de9"/>
  </p:notesMasterIdLst>
  <p:sldIdLst>
    <p:sldId xmlns:r="http://schemas.openxmlformats.org/officeDocument/2006/relationships" id="256" r:id="Rd5d085a8ba4f4e92"/>
    <p:sldId xmlns:r="http://schemas.openxmlformats.org/officeDocument/2006/relationships" id="257" r:id="Rc9a7379f027844fa"/>
    <p:sldId xmlns:r="http://schemas.openxmlformats.org/officeDocument/2006/relationships" id="258" r:id="Ra3398c2a0f814959"/>
    <p:sldId xmlns:r="http://schemas.openxmlformats.org/officeDocument/2006/relationships" id="259" r:id="R10a3af4f93004f08"/>
    <p:sldId xmlns:r="http://schemas.openxmlformats.org/officeDocument/2006/relationships" id="260" r:id="Rd5c18389c26b48b4"/>
    <p:sldId xmlns:r="http://schemas.openxmlformats.org/officeDocument/2006/relationships" id="261" r:id="R2ec0193bf47b4e62"/>
    <p:sldId xmlns:r="http://schemas.openxmlformats.org/officeDocument/2006/relationships" id="262" r:id="R6a4d6766c503477a"/>
    <p:sldId xmlns:r="http://schemas.openxmlformats.org/officeDocument/2006/relationships" id="263" r:id="R278bcb0020894aac"/>
    <p:sldId xmlns:r="http://schemas.openxmlformats.org/officeDocument/2006/relationships" id="264" r:id="R21f10d729e214a5b"/>
    <p:sldId xmlns:r="http://schemas.openxmlformats.org/officeDocument/2006/relationships" id="265" r:id="R051656bdb6984293"/>
    <p:sldId xmlns:r="http://schemas.openxmlformats.org/officeDocument/2006/relationships" id="266" r:id="Ra2b251289b244337"/>
    <p:sldId xmlns:r="http://schemas.openxmlformats.org/officeDocument/2006/relationships" id="267" r:id="Ra3e69bff33f74887"/>
    <p:sldId xmlns:r="http://schemas.openxmlformats.org/officeDocument/2006/relationships" id="268" r:id="R194993b18a3c46db"/>
    <p:sldId xmlns:r="http://schemas.openxmlformats.org/officeDocument/2006/relationships" id="269" r:id="R280721ac54c5442c"/>
    <p:sldId xmlns:r="http://schemas.openxmlformats.org/officeDocument/2006/relationships" id="270" r:id="R88efed5f51174219"/>
    <p:sldId xmlns:r="http://schemas.openxmlformats.org/officeDocument/2006/relationships" id="271" r:id="Rab9c05c7830e43e3"/>
    <p:sldId xmlns:r="http://schemas.openxmlformats.org/officeDocument/2006/relationships" id="272" r:id="Rbb81535e22294e7c"/>
    <p:sldId xmlns:r="http://schemas.openxmlformats.org/officeDocument/2006/relationships" id="273" r:id="R969db813fb244630"/>
    <p:sldId xmlns:r="http://schemas.openxmlformats.org/officeDocument/2006/relationships" id="274" r:id="R37656a86b2384c38"/>
    <p:sldId xmlns:r="http://schemas.openxmlformats.org/officeDocument/2006/relationships" id="275" r:id="Rd7d2a304cbb34439"/>
    <p:sldId xmlns:r="http://schemas.openxmlformats.org/officeDocument/2006/relationships" id="276" r:id="R7f74284edd034d1f"/>
    <p:sldId xmlns:r="http://schemas.openxmlformats.org/officeDocument/2006/relationships" id="277" r:id="Rf29273f13db34103"/>
    <p:sldId xmlns:r="http://schemas.openxmlformats.org/officeDocument/2006/relationships" id="278" r:id="R57782af1e7084bc1"/>
    <p:sldId xmlns:r="http://schemas.openxmlformats.org/officeDocument/2006/relationships" id="279" r:id="R64ee70610d2e4b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ee7f288424d0e" /><Relationship Type="http://schemas.openxmlformats.org/officeDocument/2006/relationships/theme" Target="/ppt/theme/theme1.xml" Id="R2a30b3572a674407" /><Relationship Type="http://schemas.openxmlformats.org/officeDocument/2006/relationships/notesMaster" Target="/ppt/notesMasters/notesMaster1.xml" Id="R49a7754732744de9" /><Relationship Type="http://schemas.openxmlformats.org/officeDocument/2006/relationships/presProps" Target="/ppt/presProps.xml" Id="R9732e411dada4250" /><Relationship Type="http://schemas.openxmlformats.org/officeDocument/2006/relationships/viewProps" Target="/ppt/viewProps.xml" Id="R355f0233a75b4729" /><Relationship Type="http://schemas.openxmlformats.org/officeDocument/2006/relationships/tableStyles" Target="/ppt/tableStyles.xml" Id="Rb3daab9d66064764" /><Relationship Type="http://schemas.openxmlformats.org/officeDocument/2006/relationships/slide" Target="/ppt/slides/slide1.xml" Id="Rd5d085a8ba4f4e92" /><Relationship Type="http://schemas.openxmlformats.org/officeDocument/2006/relationships/slide" Target="/ppt/slides/slide2.xml" Id="Rc9a7379f027844fa" /><Relationship Type="http://schemas.openxmlformats.org/officeDocument/2006/relationships/slide" Target="/ppt/slides/slide3.xml" Id="Ra3398c2a0f814959" /><Relationship Type="http://schemas.openxmlformats.org/officeDocument/2006/relationships/slide" Target="/ppt/slides/slide4.xml" Id="R10a3af4f93004f08" /><Relationship Type="http://schemas.openxmlformats.org/officeDocument/2006/relationships/slide" Target="/ppt/slides/slide5.xml" Id="Rd5c18389c26b48b4" /><Relationship Type="http://schemas.openxmlformats.org/officeDocument/2006/relationships/slide" Target="/ppt/slides/slide6.xml" Id="R2ec0193bf47b4e62" /><Relationship Type="http://schemas.openxmlformats.org/officeDocument/2006/relationships/slide" Target="/ppt/slides/slide7.xml" Id="R6a4d6766c503477a" /><Relationship Type="http://schemas.openxmlformats.org/officeDocument/2006/relationships/slide" Target="/ppt/slides/slide8.xml" Id="R278bcb0020894aac" /><Relationship Type="http://schemas.openxmlformats.org/officeDocument/2006/relationships/slide" Target="/ppt/slides/slide9.xml" Id="R21f10d729e214a5b" /><Relationship Type="http://schemas.openxmlformats.org/officeDocument/2006/relationships/slide" Target="/ppt/slides/slide10.xml" Id="R051656bdb6984293" /><Relationship Type="http://schemas.openxmlformats.org/officeDocument/2006/relationships/slide" Target="/ppt/slides/slide11.xml" Id="Ra2b251289b244337" /><Relationship Type="http://schemas.openxmlformats.org/officeDocument/2006/relationships/slide" Target="/ppt/slides/slide12.xml" Id="Ra3e69bff33f74887" /><Relationship Type="http://schemas.openxmlformats.org/officeDocument/2006/relationships/slide" Target="/ppt/slides/slide13.xml" Id="R194993b18a3c46db" /><Relationship Type="http://schemas.openxmlformats.org/officeDocument/2006/relationships/slide" Target="/ppt/slides/slide14.xml" Id="R280721ac54c5442c" /><Relationship Type="http://schemas.openxmlformats.org/officeDocument/2006/relationships/slide" Target="/ppt/slides/slide15.xml" Id="R88efed5f51174219" /><Relationship Type="http://schemas.openxmlformats.org/officeDocument/2006/relationships/slide" Target="/ppt/slides/slide16.xml" Id="Rab9c05c7830e43e3" /><Relationship Type="http://schemas.openxmlformats.org/officeDocument/2006/relationships/slide" Target="/ppt/slides/slide17.xml" Id="Rbb81535e22294e7c" /><Relationship Type="http://schemas.openxmlformats.org/officeDocument/2006/relationships/slide" Target="/ppt/slides/slide18.xml" Id="R969db813fb244630" /><Relationship Type="http://schemas.openxmlformats.org/officeDocument/2006/relationships/slide" Target="/ppt/slides/slide19.xml" Id="R37656a86b2384c38" /><Relationship Type="http://schemas.openxmlformats.org/officeDocument/2006/relationships/slide" Target="/ppt/slides/slide20.xml" Id="Rd7d2a304cbb34439" /><Relationship Type="http://schemas.openxmlformats.org/officeDocument/2006/relationships/slide" Target="/ppt/slides/slide21.xml" Id="R7f74284edd034d1f" /><Relationship Type="http://schemas.openxmlformats.org/officeDocument/2006/relationships/slide" Target="/ppt/slides/slide22.xml" Id="Rf29273f13db34103" /><Relationship Type="http://schemas.openxmlformats.org/officeDocument/2006/relationships/slide" Target="/ppt/slides/slide23.xml" Id="R57782af1e7084bc1" /><Relationship Type="http://schemas.openxmlformats.org/officeDocument/2006/relationships/slide" Target="/ppt/slides/slide24.xml" Id="R64ee70610d2e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01149be83d247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6b02cc23b84fbb" /><Relationship Type="http://schemas.openxmlformats.org/officeDocument/2006/relationships/notesMaster" Target="/ppt/notesMasters/notesMaster1.xml" Id="Ra56911810e6441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3c2790ff3b4b70" /><Relationship Type="http://schemas.openxmlformats.org/officeDocument/2006/relationships/notesMaster" Target="/ppt/notesMasters/notesMaster1.xml" Id="R3baf010a8629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f2ca4e6864170" /><Relationship Type="http://schemas.openxmlformats.org/officeDocument/2006/relationships/notesMaster" Target="/ppt/notesMasters/notesMaster1.xml" Id="R5f71a01e3556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1a3709c5fb4532" /><Relationship Type="http://schemas.openxmlformats.org/officeDocument/2006/relationships/notesMaster" Target="/ppt/notesMasters/notesMaster1.xml" Id="Rac49cf53ff6446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da09a4f77545b5" /><Relationship Type="http://schemas.openxmlformats.org/officeDocument/2006/relationships/notesMaster" Target="/ppt/notesMasters/notesMaster1.xml" Id="R802092610347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233c096d5a439c" /><Relationship Type="http://schemas.openxmlformats.org/officeDocument/2006/relationships/notesMaster" Target="/ppt/notesMasters/notesMaster1.xml" Id="Rdd640dc5da3847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ebed3e4a8c4fbf" /><Relationship Type="http://schemas.openxmlformats.org/officeDocument/2006/relationships/notesMaster" Target="/ppt/notesMasters/notesMaster1.xml" Id="Rd0832659b00d4e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9db0bf48aa474b" /><Relationship Type="http://schemas.openxmlformats.org/officeDocument/2006/relationships/notesMaster" Target="/ppt/notesMasters/notesMaster1.xml" Id="R18258f35ddee48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abe5aebcd546b8" /><Relationship Type="http://schemas.openxmlformats.org/officeDocument/2006/relationships/notesMaster" Target="/ppt/notesMasters/notesMaster1.xml" Id="Rad09912304a649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21fd92cd92421b" /><Relationship Type="http://schemas.openxmlformats.org/officeDocument/2006/relationships/notesMaster" Target="/ppt/notesMasters/notesMaster1.xml" Id="Rb3beff9250c445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44b910f9df4481" /><Relationship Type="http://schemas.openxmlformats.org/officeDocument/2006/relationships/notesMaster" Target="/ppt/notesMasters/notesMaster1.xml" Id="Rd00a849038754c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c953b7024143ca" /><Relationship Type="http://schemas.openxmlformats.org/officeDocument/2006/relationships/notesMaster" Target="/ppt/notesMasters/notesMaster1.xml" Id="R67d6c7ef79d04e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b19272b6764a72" /><Relationship Type="http://schemas.openxmlformats.org/officeDocument/2006/relationships/notesMaster" Target="/ppt/notesMasters/notesMaster1.xml" Id="R7b4ba63267f542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29cf4b4af74eb8" /><Relationship Type="http://schemas.openxmlformats.org/officeDocument/2006/relationships/notesMaster" Target="/ppt/notesMasters/notesMaster1.xml" Id="R719fad3788a64d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cfbb03d0174e9a" /><Relationship Type="http://schemas.openxmlformats.org/officeDocument/2006/relationships/notesMaster" Target="/ppt/notesMasters/notesMaster1.xml" Id="Rd9ab9d24f86749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7a9175aa494af6" /><Relationship Type="http://schemas.openxmlformats.org/officeDocument/2006/relationships/notesMaster" Target="/ppt/notesMasters/notesMaster1.xml" Id="Ra02b6ce9a9f44d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2007c68d5c4cff" /><Relationship Type="http://schemas.openxmlformats.org/officeDocument/2006/relationships/notesMaster" Target="/ppt/notesMasters/notesMaster1.xml" Id="R284185456bd94e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04115ffbe145bb" /><Relationship Type="http://schemas.openxmlformats.org/officeDocument/2006/relationships/notesMaster" Target="/ppt/notesMasters/notesMaster1.xml" Id="R625370d2a8e04b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a6ee0015694162" /><Relationship Type="http://schemas.openxmlformats.org/officeDocument/2006/relationships/notesMaster" Target="/ppt/notesMasters/notesMaster1.xml" Id="Rdab32b37f20b4f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81c24e51b4468c" /><Relationship Type="http://schemas.openxmlformats.org/officeDocument/2006/relationships/notesMaster" Target="/ppt/notesMasters/notesMaster1.xml" Id="R97eaa8607ef344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3ba7fcaad8840cb" /><Relationship Type="http://schemas.openxmlformats.org/officeDocument/2006/relationships/notesMaster" Target="/ppt/notesMasters/notesMaster1.xml" Id="R2c56b886574940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38912bf13543ac" /><Relationship Type="http://schemas.openxmlformats.org/officeDocument/2006/relationships/notesMaster" Target="/ppt/notesMasters/notesMaster1.xml" Id="R1bf0590653b146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c9a9bc39314fd9" /><Relationship Type="http://schemas.openxmlformats.org/officeDocument/2006/relationships/notesMaster" Target="/ppt/notesMasters/notesMaster1.xml" Id="Rf703543300ec46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683c16583a84750" /><Relationship Type="http://schemas.openxmlformats.org/officeDocument/2006/relationships/notesMaster" Target="/ppt/notesMasters/notesMaster1.xml" Id="R811080204ec04d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df0ac278245b5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C375C9C4-A553-40BE-9547-A301280E703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43CAE6E-4C38-4D1E-8730-EFF1517FB48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5DC9AD-018D-40CA-A6D8-34E504BDE8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D502A0-457D-42A7-B3A7-99A4B0E106C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4C64DB-28BF-4CE3-AFC9-2D673C4834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52beddb0b4cf9" /><Relationship Type="http://schemas.openxmlformats.org/officeDocument/2006/relationships/theme" Target="/ppt/theme/theme1.xml" Id="R2fbaffc6b7144d20" /><Relationship Type="http://schemas.openxmlformats.org/officeDocument/2006/relationships/slideLayout" Target="/ppt/slideLayouts/slideLayout2.xml" Id="R5e31ffb425ce4f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ADE5BD-3AAD-4483-AF95-2FC2200A13D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edf52beddb0b4cf9"/>
    <p:sldLayoutId xmlns:r="http://schemas.openxmlformats.org/officeDocument/2006/relationships" id="2147483649" r:id="R5e31ffb425ce4f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cd1695109436e" /><Relationship Type="http://schemas.openxmlformats.org/officeDocument/2006/relationships/notesSlide" Target="/ppt/notesSlides/notesSlide1.xml" Id="R19903621e22247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3bdbc16fb4246" /><Relationship Type="http://schemas.openxmlformats.org/officeDocument/2006/relationships/notesSlide" Target="/ppt/notesSlides/notesSlide2.xml" Id="R21356eb037f446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9fe6cc69d49de" /><Relationship Type="http://schemas.openxmlformats.org/officeDocument/2006/relationships/notesSlide" Target="/ppt/notesSlides/notesSlide3.xml" Id="R3dd04a899aed47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d515986bd48d5" /><Relationship Type="http://schemas.openxmlformats.org/officeDocument/2006/relationships/notesSlide" Target="/ppt/notesSlides/notesSlide4.xml" Id="Rc7cba82c872a42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87aff216844f3" /><Relationship Type="http://schemas.openxmlformats.org/officeDocument/2006/relationships/notesSlide" Target="/ppt/notesSlides/notesSlide5.xml" Id="Rce10836e21af40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97e3fc2664079" /><Relationship Type="http://schemas.openxmlformats.org/officeDocument/2006/relationships/notesSlide" Target="/ppt/notesSlides/notesSlide6.xml" Id="R6f7356f33a8a47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18e7d82214db2" /><Relationship Type="http://schemas.openxmlformats.org/officeDocument/2006/relationships/notesSlide" Target="/ppt/notesSlides/notesSlide7.xml" Id="Re2f2dafe085b40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7a6381aa64da6" /><Relationship Type="http://schemas.openxmlformats.org/officeDocument/2006/relationships/notesSlide" Target="/ppt/notesSlides/notesSlide8.xml" Id="R1319a32047a641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16cd1f11f4a6e" /><Relationship Type="http://schemas.openxmlformats.org/officeDocument/2006/relationships/notesSlide" Target="/ppt/notesSlides/notesSlide9.xml" Id="R559f72e8eaa648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bef2eb84c44d8" /><Relationship Type="http://schemas.openxmlformats.org/officeDocument/2006/relationships/notesSlide" Target="/ppt/notesSlides/notesSlide10.xml" Id="R080368c3f4a74a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a9c2df4d740d4" /><Relationship Type="http://schemas.openxmlformats.org/officeDocument/2006/relationships/notesSlide" Target="/ppt/notesSlides/notesSlide11.xml" Id="R633b50616efd41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4223f1f2f455d" /><Relationship Type="http://schemas.openxmlformats.org/officeDocument/2006/relationships/notesSlide" Target="/ppt/notesSlides/notesSlide12.xml" Id="Rd4948f11004e43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4a7b05c7847ed" /><Relationship Type="http://schemas.openxmlformats.org/officeDocument/2006/relationships/notesSlide" Target="/ppt/notesSlides/notesSlide13.xml" Id="Re1cb43880b3e4c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0943b1dde4fe2" /><Relationship Type="http://schemas.openxmlformats.org/officeDocument/2006/relationships/notesSlide" Target="/ppt/notesSlides/notesSlide14.xml" Id="Ra0291fca888d45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f459faa704d00" /><Relationship Type="http://schemas.openxmlformats.org/officeDocument/2006/relationships/notesSlide" Target="/ppt/notesSlides/notesSlide15.xml" Id="R16285a141bab46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36645758a42e2" /><Relationship Type="http://schemas.openxmlformats.org/officeDocument/2006/relationships/notesSlide" Target="/ppt/notesSlides/notesSlide16.xml" Id="Rc4a54c1e456442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45dbe48814424" /><Relationship Type="http://schemas.openxmlformats.org/officeDocument/2006/relationships/notesSlide" Target="/ppt/notesSlides/notesSlide17.xml" Id="Ra50bd3880284481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38ba72ea54062" /><Relationship Type="http://schemas.openxmlformats.org/officeDocument/2006/relationships/notesSlide" Target="/ppt/notesSlides/notesSlide18.xml" Id="R95895f7d8e9740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5c5798b2c4346" /><Relationship Type="http://schemas.openxmlformats.org/officeDocument/2006/relationships/notesSlide" Target="/ppt/notesSlides/notesSlide19.xml" Id="Rf1a2b0a0962f4d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dc965d78c498d" /><Relationship Type="http://schemas.openxmlformats.org/officeDocument/2006/relationships/notesSlide" Target="/ppt/notesSlides/notesSlide20.xml" Id="R2d533b560a6a4a5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e60f6244c41b7" /><Relationship Type="http://schemas.openxmlformats.org/officeDocument/2006/relationships/notesSlide" Target="/ppt/notesSlides/notesSlide21.xml" Id="R2c379716778945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e217198a34da5" /><Relationship Type="http://schemas.openxmlformats.org/officeDocument/2006/relationships/notesSlide" Target="/ppt/notesSlides/notesSlide22.xml" Id="Rd1ed81deca0141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34aa723184cad" /><Relationship Type="http://schemas.openxmlformats.org/officeDocument/2006/relationships/notesSlide" Target="/ppt/notesSlides/notesSlide23.xml" Id="R4cbc425d63e44d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eb821577e4944" /><Relationship Type="http://schemas.openxmlformats.org/officeDocument/2006/relationships/notesSlide" Target="/ppt/notesSlides/notesSlide24.xml" Id="R6487531d97cd4c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EFD978-7C3D-48C8-BE75-7D3DDB5F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D618E-4493-404E-B34F-DF400BC2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Appendix: Method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61993-EC06-4A3A-9A1A-83B17CA3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 ·  Tian &amp; Feng (2023)  ·  Kennedy (2023)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DADA0-1DCA-40C4-BADA-117F755F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These slides explain the sparse correction mechanism underlying our estimator pipeline.</a:t>
            </a:r>
          </a:p>
        </p:txBody>
      </p:sp>
    </p:spTree>
    <p:extLst>
      <p:ext uri="{BB962C8B-B14F-4D97-AF65-F5344CB8AC3E}">
        <p14:creationId xmlns:p14="http://schemas.microsoft.com/office/powerpoint/2010/main" val="79413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3E0E83-4F2A-41E8-8095-5138A19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Bastani (2021): Predicting with Proxies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7E0E2-303E-47D7-B73A-F36F8AF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Management Science 67(5), pp. 2964–2984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A2D15-AD2B-4131-B3CE-47F7B856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E2068-E646-48A3-A1F4-416843F9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 two-step LASSO estimator combining abundant proxy data with scarce gold labels. Achieves minimax rate scaling with bias sparsity s, not dimension 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818AF-574B-4838-B155-37B44552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19450" cy="32385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43A53-FD8A-4642-9504-5C30E3FE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099E5-8CD4-41EA-A7F2-8B1275CB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Proxy (source)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4B914-A1E0-4975-AC58-3B2BD4A5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952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Large n_proxy, small σ_proxy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Abundant data → tight estimate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BUT: centered at wrong β*_proxy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y_proxy = xᵀ β*_proxy + 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49E02-3D9A-4707-82FB-865302CC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19450" cy="32385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E5526-EF92-4B45-B1A6-3EF18626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F5D51-2F53-4DC5-A53F-15A2B0A2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Gold (target)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8AE18-2AD6-4897-938B-60E88050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952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Small n_gold, large σ_gold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Scarce data → wide uncertainty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BUT: centered at truth β*_gold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y_gold = xᵀ β*_gold + 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BC4F8-6958-4B39-A9D5-80D2FB8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19450" cy="32385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DD3E1-670A-41FD-B722-5453144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B4D42-8D45-431B-87EC-DF7619E9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decomposition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4A639-02A3-4329-8748-126E8699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952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β*_gold = β*_proxy + δ*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||δ*||_0 = s (sparse bias)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Only s of d features drive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proxy-to-gold gap</a:t>
            </a:r>
          </a:p>
        </p:txBody>
      </p:sp>
    </p:spTree>
    <p:extLst>
      <p:ext uri="{BB962C8B-B14F-4D97-AF65-F5344CB8AC3E}">
        <p14:creationId xmlns:p14="http://schemas.microsoft.com/office/powerpoint/2010/main" val="13442599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1D2C29-F132-429D-93F8-6E90254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Formal model: shared features, sparse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6CB3C-EB5A-4720-B3C8-ED1932C0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4F84E-D302-4DC3-9B0B-D0E7E08C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30333-350C-48B8-B852-11C54D20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143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63051-A71A-4292-9E62-16A13196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525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Data-generating processes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F445A-AC28-486B-A53F-998C6B5D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4876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y_gold  = xᵀ β*_gold  + ε_gold   (ε ~ σ_gold-subgaussian)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y_proxy = xᵀ β*_proxy + ε_proxy  (ε ~ σ_proxy-subgaussian)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Same features x ∈ R^d for both 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9BB86-CFB2-4150-9D19-513B8FD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14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001B2-0A93-4534-867F-FB8EDCD9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Structural decomposition (key)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62A30-64FC-4954-82AE-5FB0A8D8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487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β*_gold = β*_proxy + δ*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||δ*||_0 = s  (only s coordinates differ)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EC327-65A0-4B07-B7DA-C5CD94D8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76375"/>
            <a:ext cx="438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B0CC3-7D44-4099-921B-EAB871E6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7637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0AF40-184B-49D5-9E02-159B14BF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71625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Proxy and gold tasks share the same feature space x ∈ R^d but have different regression coefficients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CB9E7-1F04-4CCB-A9C2-AA793A6F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438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D5A8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E6C19-5DB7-489A-8CB9-6B2853E8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6D875-582F-41A7-BE2E-E361B5C5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δ* is the sparse correction — only s of d features drive the gap between proxy and gold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E89E9-6F6E-4A4E-9B0D-261B1816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1375"/>
            <a:ext cx="438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6783A-66FD-4606-AB9D-5213567A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137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6DF24-6C10-4052-98E8-8F1F47C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Neither β*_gold nor β*_proxy needs to be sparse — only their DIFFERENCE δ* is assumed sparse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EB0D2-59C8-4653-8034-639B3B54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8B868-5F8E-496C-A3DF-BBC35BF9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B6612-9D13-4CBA-A751-FA21DD2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55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we need (3 assumptions)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D2BE7-8F7F-47C8-A113-42482395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055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1. Sparse bias: ||δ*||_0 = s &lt;&lt; d   2. Proxy invertibility: Σ_proxy ⪰ ψI (mild, n_proxy large)   3. Compatibility condition on gold design matrix restricted to supp(δ*) — weaker than requiring Σ_gold ⪱ 0</a:t>
            </a:r>
          </a:p>
        </p:txBody>
      </p:sp>
    </p:spTree>
    <p:extLst>
      <p:ext uri="{BB962C8B-B14F-4D97-AF65-F5344CB8AC3E}">
        <p14:creationId xmlns:p14="http://schemas.microsoft.com/office/powerpoint/2010/main" val="8334435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C3A2F-6D43-4B59-A6F4-110BBB69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The joint estimator: two-step LASSO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16A95-6C56-44A2-B41F-FB6F0804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BF06F-9B22-4AEA-9779-46F80D76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AF0E5-16A6-4D0E-9B92-0A7D8A14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steps: estimate proxy with all proxy data, then debias using only gold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49998-1F72-4D5C-885C-04CABA72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48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6F8EA4">
              <a:alpha val="13333"/>
            </a:srgbClr>
          </a:solidFill>
          <a:ln xmlns:a="http://schemas.openxmlformats.org/drawingml/2006/main" w="14288">
            <a:solidFill>
              <a:srgbClr val="6F8E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03EF3-C416-4BD3-98EE-1DFF2932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97D01-9184-4CCE-A39C-0AD09292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Proxy OLS (use all proxy data)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C5CEC-B0EF-4FF5-86E1-D64466F1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819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β̂_proxy = argmin_β { (1/n_proxy) ||Y_proxy - X_proxy β||^2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Converges to β*_proxy with rate O_p(d·σ_proxy / √n_proxy)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Requires only n_proxy &gt;&gt; 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BF943-4C18-4E24-9C68-399F3BC6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048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5A834">
              <a:alpha val="13333"/>
            </a:srgbClr>
          </a:solidFill>
          <a:ln xmlns:a="http://schemas.openxmlformats.org/drawingml/2006/main" w="14288">
            <a:solidFill>
              <a:srgbClr val="D5A8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949A9-FB41-4E4B-BE93-BD3EB59F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33E88-2F45-47BF-BFC9-4175731A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Debiasing LASSO (gold data only)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3A72F-1080-4D18-AB68-7F8E542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819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δ̂ = argmin_δ { (1/n_gold) ||Y_gold - X_gold(δ + β̂_proxy)||^2 + λ||δ||_1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β̂_joint = δ̂ + β̂_proxy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λ chosen by cross-validation on gold data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Requires only n_gold &gt;&gt; s^2 (not d^2)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4766F-E358-419E-8F37-7579393A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5410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4751F-1169-4151-9268-EC03092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755A3-6A7E-4731-A42C-2FD56A4E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14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Reparameterization insight: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2 is LASSO on the residual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(Y_gold - X_gold·β̂_proxy), recovering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sparse correction δ*. Gold data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is used only to identify which s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features need adjustment.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64A9F-DD10-4D54-B496-EF962D58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5410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67A68-1424-4872-BCB2-A34CC97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B572B-D82F-421E-88B1-E9CC5372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514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Only β̂_proxy (a d-dimensional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vector) needs to be shared from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1 to Step 2. Raw proxy data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need not be shared — important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for privacy in federated clinical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trial settings.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05D3F-19F6-407A-B883-90614245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54102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83847-6563-495D-A041-D124EB57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First-stage noise flows 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61E22-891D-4BAD-A6CC-48717948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965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ν = β̂_proxy - β*_proxy  (small when n_proxy large)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δ̄ = δ* - ν = β*_gold - β̂_proxy  (approx. sparse)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Lasso tail bounds hold for approx. sparse targets</a:t>
            </a:r>
          </a:p>
        </p:txBody>
      </p:sp>
    </p:spTree>
    <p:extLst>
      <p:ext uri="{BB962C8B-B14F-4D97-AF65-F5344CB8AC3E}">
        <p14:creationId xmlns:p14="http://schemas.microsoft.com/office/powerpoint/2010/main" val="21156408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17A44-8B19-4D3E-8BF7-7365C81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Main result: bias sparsity s replaces dimension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48DC2-C863-4EFE-9F51-A77F5285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Theorem (Corollary 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BD00E-5178-46CA-8CF2-D23D2A09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D2F21-647C-49A3-8B86-5542789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Expected ℓ₁ estimation error, sup over problem parameters: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891ED-9C98-4131-99E4-C23F2F6A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89A4E-0224-47C4-B9C0-51013E68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Corollary 1 — Joint estimator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9879D-3367-49B0-9E85-7F850D0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055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R(β̂_joint, β*_gold) = O( max{ s·σ_gold·log(d·n_gold)/√n_gold,   s·d·σ_proxy·log(d·n_proxy)/√n_proxy } 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51FBB-347E-4DEE-8404-11106F06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>
              <a:alpha val="13333"/>
            </a:srgbClr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D68EC-AD12-44E9-A489-4E692514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Estimator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243BC-8288-4A07-9A8A-136096EE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ℓ₁ Error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F29F4-AD5D-4838-A69E-47428F46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Uses sparsity?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A4E0F-C5D2-4A4A-8C50-C5135E69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0231A-AD10-42AC-9019-B393D984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Gold OLS (n_gold only)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DEEF8-8E65-4061-AC24-8538BAA4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d·σ_gold / √n_gold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FB061-C237-4F30-8FB7-BE5A333D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6350B-D9D9-4E12-AAF8-B4BB0035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B3C5D-3DBA-47C1-A814-E601407F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Model averaging / weighted loss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45CAA-3616-4112-8223-6F92660B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min(d·σ/√n_gold, ||δ*||_1 + d·σ/√n_proxy)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62C2D-E3AF-4A36-87DC-696F1EC1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8CDEC-8D55-494A-B694-4C54CC54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>
              <a:alpha val="13333"/>
            </a:srgbClr>
          </a:solidFill>
          <a:ln xmlns:a="http://schemas.openxmlformats.org/drawingml/2006/main" w="14288">
            <a:solidFill>
              <a:srgbClr val="7B8F7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60D84-2016-42C8-A123-1BA7E409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Joint estimator (Bastani)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04AD2-0C33-47BE-8745-D7932BD0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8F70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7B8F70"/>
                </a:solidFill>
                <a:latin typeface="Courier New"/>
                <a:ea typeface="Courier New"/>
                <a:cs typeface="Courier New"/>
              </a:rPr>
              <a:t>s·σ·log(d) / √n_gold  [s &lt;&lt; d]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6C7950-275C-4DE8-9673-39CD24D3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YES 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3C225-3107-4A75-A605-37B84B0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C4D042-F9F3-4EB6-9CF6-10B7866C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F2BBE-6924-4AC9-9608-A1E580F1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55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Interpretation: model averaging and weighted loss cannot exploit the sparse structure in δ* — they interpolate on the full d-dimensional parameter space and are provably stuck at the d/√n rate. The joint estimator targets δ* directly, needing gold data only for s dimensions.</a:t>
            </a:r>
          </a:p>
        </p:txBody>
      </p:sp>
    </p:spTree>
    <p:extLst>
      <p:ext uri="{BB962C8B-B14F-4D97-AF65-F5344CB8AC3E}">
        <p14:creationId xmlns:p14="http://schemas.microsoft.com/office/powerpoint/2010/main" val="9336035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AFA8F-F209-4646-A4DD-9973BED0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When the proxy-gold correction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24F5D-5C7C-4FB0-9A42-ECC417A1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Conditions and 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119D2-4090-4A72-B30A-A0C7FA3C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3A539-2D94-4141-9F6E-6094E4FF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49079-5D61-40F5-8731-FF2AA4F7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622AA-F6A3-4C34-A7C3-0ED36241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✓ Transfer helps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7D350-0515-4FCE-AAD2-DC06FBA9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768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1. Sparse bias: s &lt;&lt; 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Few features drive the proxy-gold gap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2. Abundant proxy: n_proxy &gt;&gt; s²d² σ²_proxy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Step 1 accurately estimates β*_proxy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3. Compatibility on gold design: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Σ_gold satisfies compatibility on supp(δ*)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[weaker than requiring Σ_gold ⪱ 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CAE2D-C260-426D-97D9-E7CC8C54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DF1F6-18F6-47F2-924D-2D556957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4FD1C-B498-4495-9490-93BEC9CD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✗ Transfer does not help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7FCC3-AB5A-4870-8262-7A28FD1D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4876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1. Dense bias (s ~ d):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Joint estimator ≈ gold-only OLS; no gain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2. Proxy too noisy (σ_proxy large, n_proxy small):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First-stage error ν dominates; δ̄ not sparse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3. Gold design degenerate on supp(δ*):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 Compatibility fails; δ* not identifiable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D612C-E564-4A75-91F9-74745D30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362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F1A28-1E2A-42BB-ABF0-0E37FFE3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636E8-C248-4497-A917-69637053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Sample complexity gap: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Gold-only methods: n_gold = O(d² σ²/ξ²)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Joint estimator: n_gold = O(s² σ² log²(d)/ξ²)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Exponentially smaller in d when s &lt;&lt; 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58547-83D8-4844-BA50-5DDFB16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3624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03EDE-15D9-47D3-BBE9-DEBC1A30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Optimal lambda (Corollary 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D6F83-9592-4701-BF83-1586793D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λ* = Õ(σ_gold/√n_gold + d·σ_proxy/√n_proxy)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In practice: cross-validate on gold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26BC4-CAE6-452A-A91B-A90E1526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362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D5A8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5E177-4553-4F29-B6BA-457F4DA4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62DFE-0BC7-4A78-A50D-58C03CF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Privacy-friendly: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Only β̂_proxy (Step 1 output) is shared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between sites. Raw proxy data stays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local. Works in federated healthcare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settings with data-sharing restrictions.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8CCF0-61AC-43BF-8682-F2BC8C6B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362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560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42267-4BB8-4492-BAE0-52B2FB75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6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072704-A5EB-4EF0-8D00-7B4A2FC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2920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Extensions (§4.5):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Generalizes to any M-estimator with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convex loss (logistic, Poisson, etc.) with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identical rate using strong convexity of A</a:t>
            </a:r>
          </a:p>
        </p:txBody>
      </p:sp>
    </p:spTree>
    <p:extLst>
      <p:ext uri="{BB962C8B-B14F-4D97-AF65-F5344CB8AC3E}">
        <p14:creationId xmlns:p14="http://schemas.microsoft.com/office/powerpoint/2010/main" val="15603855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97C48-4D80-4191-B75B-8263FFD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How Bastani maps to our estimator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92EE4-6A4A-4588-97DA-B5865332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— Connection to our paper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0DBB7-0731-44F1-ACAB-D2265652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94B4D-0FD1-45B3-93AD-1D45009A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Our sparse correction step IS Bastani's Eq. (2): debiasing LASSO on target placebo residuals, centered at the source-site proxy estimate.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2C45A-D1DD-4B88-93A7-DB98CA93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Bastani (2021) formulation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3BF0F-2A46-4CA6-B9E7-2810BAD4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26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Our 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4EB91-304D-404C-B134-F65A8FA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669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EE021-CE4F-4025-A05B-BC06B957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395ED-F44C-4391-A29C-7F72E7B1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EEE81-58DB-4F8B-82BE-0B3814C0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Proxy: β*_proxy (source regression coeff.)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D8493-A3F4-4446-834A-E2C88501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μ̂₀^proxy(x)  — source-trial outcome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344E9-182B-4C28-85EC-AEC41974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87F19-5B72-4356-AFD1-68369CC5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B44D6-A3FA-44D8-9457-5FA0E72A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Gold: β*_gold (target regression coeff.)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EA475-F47F-4BF2-BB17-ECD30701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μ₀(x) — true target baseline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7586F-61AD-4816-B89C-7F6DE79A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CADDF-F637-4E90-A4B0-6673DE4A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50600-B284-4D10-BDAA-53ABA93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Sparse correction: δ* = β*_gold − β*_proxy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95116-CE1D-4588-A94C-F8270671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Sparse covariate-shift correction under A5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C6EB2-BBFA-4A84-8569-77EE573E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EF593-8A52-4AEF-AE81-D8B1887D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B8ED0-4C86-450B-A4CB-757E469E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Compatibility condition (gold design)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EB996-1121-4B53-9465-A8CB3C9F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Assumption A5: sparse local shift identifiable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B36D1-DB9B-4AA5-A1C9-9AAD32B1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2FFAC-4857-4ACA-937F-7D2759F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8D8ED-B00B-412B-A9DC-8E76DB45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δ̂ = argmin ||Y_gold − X_gold(δ + β̂_proxy)||^2 + λ||δ||_1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87D6CE-ABC2-4373-94E6-3F998BB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767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Our Eq. (4): sparse correction of baseline 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7EF77-A80F-4093-A242-8C4AFEBA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6F66B-A98A-4679-BE3F-6F51274B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03C8E1-3FE3-4A28-96D9-9803FFA7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617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β̂_joint = δ̂ + β̂_proxy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7D6BCE-62CC-4DD9-B17C-BEDAAD83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μ̂₀^anchor(x) = δ̂ + μ̂₀^proxy(x)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7614C3-C83D-4781-BE24-5C98A920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8A00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8FF273-6A7B-49A8-884D-5D35D2F3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D7D29E-995A-47D7-96BF-8A3F6A2F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55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difference: our setting adds a DR learner on top of the corrected baseline risk estimate. Bastani's β̂_joint gives μ̂₀^anchor(x). We then form pseudo-outcomes ψ_i = μ̂₁(x_i) − μ̂₀^anchor(x_i) + IPW residual and fit CATE τ̂(x) = E[ψ|x]. Bastani provides the first-stage foundation.</a:t>
            </a:r>
          </a:p>
        </p:txBody>
      </p:sp>
    </p:spTree>
    <p:extLst>
      <p:ext uri="{BB962C8B-B14F-4D97-AF65-F5344CB8AC3E}">
        <p14:creationId xmlns:p14="http://schemas.microsoft.com/office/powerpoint/2010/main" val="15291587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98A70C-AD17-48A7-915C-68B5B4A0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Beyond one proxy: K sources with unknown similarity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1E6F2-B382-4E6D-86EA-35864B9B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BASTANI (2021) → TIAN &amp; FENG (2023)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AB99F-4375-4C54-BC2E-069EC0E1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0C87B-6DB1-4EB6-8881-9DAE50A5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23902-960D-4B70-A8A4-3B8C1A8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381A5-7198-4C4C-9E68-45C92C9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Bastani covers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2B559-4201-447A-8F32-2304ACE2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76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One proxy source dataset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Linear model (extended to GLMs in §4.5)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Oracle knowledge of which source to use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Sparse bias in ℓ₀ sense: ||δ*||_0 =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2255D-51AB-48FA-8CE7-F50B18C1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143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0E219-B5BB-478F-885D-0C6E0CB1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46E95-4630-473D-8478-6EDBE739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Bastani does NOT 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C9674-269D-426C-B2AC-1E6C8576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876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Multiple source datasets (K &gt; 1)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Which sources are informative when h varies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Negative transfer when bad sources are pooled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Minimax lower bounds (optimality certificate)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Valid confidence intervals for inference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ℓ₁-sparse contrast (more general than ℓ₀)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41E69-94E0-40A2-9FA2-0D06CEC5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381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075B2-72B2-43F5-AEBD-E30CEC6D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7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1F5B9-D0AE-46A5-ADD4-2D68EA2E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41148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Clinical trials have K source studies, each with possibly different patient populations. Some sources are close to the target (small h = ||β_target − w^(k)||_1), others are far (negative transfer). We need: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1. A method that pools ONLY informative sources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 Data-driven selection of which k ∈ A_h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3. Minimax optimality over the class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→ Tian &amp; Feng (2023) addresses all three.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A26B1-741E-47BD-ADD3-280E9FC6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571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→ See next section: Tian &amp; Feng (2023)</a:t>
            </a:r>
          </a:p>
        </p:txBody>
      </p:sp>
    </p:spTree>
    <p:extLst>
      <p:ext uri="{BB962C8B-B14F-4D97-AF65-F5344CB8AC3E}">
        <p14:creationId xmlns:p14="http://schemas.microsoft.com/office/powerpoint/2010/main" val="15507713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00C848-C8ED-4A46-992D-34328C90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Tian &amp; Feng (2023): Transfer Learning under High-dimensional GLMs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FE09C-E46E-4997-8FFC-58DE54EB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JASA 118(544), pp. 2684–2697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CAAFF-CA1E-416E-AE49-15247DE6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612E3-6080-4BB1-8163-0592AFCC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Extends Bastani to K source datasets, any GLM, with data-driven source selection and minimax-optimal rates.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F005E-BD80-4363-B85F-E157A3FB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00300" cy="3048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E3055-1A12-4326-9C0E-30119488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F072F-EAF4-4511-B28A-057B7B59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107BB-0F40-41D5-A462-C9A3938B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13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Any number of source datasets {(X^(k),y^(k))}^K_{k=1}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Each with possibly different w^(k)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553F8-4527-454E-9BE6-4DE29E37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400300" cy="3048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62EF6-8E41-41D0-A7F3-EFF84FBA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767A4-F422-4949-A6C4-0588336C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288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Any GLM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CAB49-E20E-417B-8631-4194FAC0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213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Linear, logistic, Poisson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y^(k)|x ~ exp{y·xᵀw^(k) − ψ(xᵀw^(k))}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893CC-D1A9-426B-9471-F2B6FBE2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400300" cy="3048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6C7DD-C4D2-4371-8339-A121D299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16BEE-0595-4281-B92D-CD17D753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Auto-selection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8994F-7CBC-41DD-B208-C2FBE2E7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213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Cross-validation detects A_h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(informative sources)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No oracle knowledge required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6354A-9205-4918-983A-2CC2BE20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400300" cy="3048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8708D-68C3-4B74-A806-2210C8BB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0F560-A764-4529-89C8-E7542E2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Minimax optimal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9EACD-F725-4FE5-A7D0-FC84DE2A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213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Rate is tight: lower bound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matches upper bound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+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13774122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C3E0B8-E759-465F-8C61-4C07E585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Setup: K source GLMs + 1 target in high dimension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7D92C-80C3-491D-B787-B2E4FA9B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55A24-13A9-437C-A22C-B669BE8D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B8EAC-F43B-4B6F-99D1-D97649B5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52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ACFF0-F4B2-4845-A383-C1E147A2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GLM model (k = 0, 1, ..., 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A9DDB-1EC8-4FAC-9C44-3618FE1C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5257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y^(k)|x ~ ρ(y) exp{ y·xᵀ w^(k) − ψ(xᵀ w^(k))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Target: β = w^(0) ∈ R^p,  ||β||_0 = s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High-dimensional: n_0 &lt;&lt; p,  n_k &lt;&lt;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D45CA-F60B-4306-9F08-EED6C4F7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52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D9A68-059E-48C6-8FA8-57042D85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Contrast and transferring 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645F-9F77-4726-9DBD-3A874BC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25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δ^(k) = β − w^(k)     (contrast of source k from target)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||δ^(k)||_1 = h_k      (transferring level of source k)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A_h = { k : ||δ^(k)||_1 ≤ h }   (informative set)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96829-736C-4C97-93B1-77DA01F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52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713CE-EDD5-4BAB-ADF3-181AA1AD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Effective sample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9CEEB-D93A-42B3-A7EE-E7BE453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525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n_{A_h} = Σ_{k ∈ A_h} n_k     (total informative samples)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K_{A_h} = |A_h|               (number of informative sources)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A7C22-6B99-4736-8D69-C3DDE8D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7E062-268E-446C-A65A-5A494498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598B6-778B-4F62-B807-39190295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43050"/>
            <a:ext cx="468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High-dimensional regime: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n_0 &lt;&lt; p — classical MLE fails.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Baseline is Lasso with rate O(s√(log p/n_0)).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Transfer replaces n_0 by n_{A_h} + n_0.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49674-AC5A-4355-9510-BBC30E7D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D5A8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C44BB-77B7-4D81-9185-BC7A4239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A6685-1D63-420B-A584-87BCA31C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4686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ℓ₁ vs ℓ₀ contrast sparsity: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Tian &amp; Feng use ||δ^(k)||_1 ≤ h (ℓ₁).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Bastani uses ||δ*||_0 = s (ℓ₀).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ℓ₁ allows the contrast to be diffusely small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across many coords, not exactly zero on 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F666B-1E4F-4281-9B5A-C0D005F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C69BD-CE03-46D8-8873-9046F1D1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98B7B-3C4D-49B1-95FA-F2610841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1400"/>
            <a:ext cx="4686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sparsity conditions: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1. Target sparsity: ||β||_0 = s (needed to identify β with Lasso)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 Contrast sparsity: ||δ^(k)||_1 ≤ h (needed for debiasing step to work)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These are independent: β can have sparse support while δ^(k) is diffusely small.</a:t>
            </a:r>
          </a:p>
        </p:txBody>
      </p:sp>
    </p:spTree>
    <p:extLst>
      <p:ext uri="{BB962C8B-B14F-4D97-AF65-F5344CB8AC3E}">
        <p14:creationId xmlns:p14="http://schemas.microsoft.com/office/powerpoint/2010/main" val="16817038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A44A1B-44F9-4051-B0FB-C2D13A08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A-Trans-GLM: two-step algorithm with known A_h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FB936-0135-4AD1-8B2C-F9D02559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Algorithm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F0575-8835-424E-BE01-7261E38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2E334-F46D-4214-BF4D-CCD5A705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52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6F8EA4">
              <a:alpha val="13333"/>
            </a:srgbClr>
          </a:solidFill>
          <a:ln xmlns:a="http://schemas.openxmlformats.org/drawingml/2006/main" w="14288">
            <a:solidFill>
              <a:srgbClr val="6F8E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53D8C-4732-4BD9-8864-9A54971B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3E26C-0AFC-4FD0-9167-06E0759A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43050"/>
            <a:ext cx="489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Pooled Lasso (Step 1 — use all informative data)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3C2AC-7901-40F7-B49D-233D8A91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5295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ŵ^A = argmin_w { (1/(n_A+n_0)) Σ_{k ∈ {0}∪A} L_k(w) + λ_w||w||_1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L_k(w) = -(y^(k))ᵀ X^(k)w + Σ_i ψ(wᵀ x_i^(k))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λ_w = C_w √(log p / (n_{A_h} + n_0))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C5F99-1C55-45E7-9723-67222CE7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52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5A834">
              <a:alpha val="13333"/>
            </a:srgbClr>
          </a:solidFill>
          <a:ln xmlns:a="http://schemas.openxmlformats.org/drawingml/2006/main" w="14288">
            <a:solidFill>
              <a:srgbClr val="D5A8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69D12-F744-42AB-ACB6-361D77F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32E86-BBDA-4496-81DD-B7A0C5B2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489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Debiasing Lasso (Step 2 — target data only)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07081-87C6-4692-A75C-097EB101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5295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δ̂^A = argmin_δ { -(1/n_0)(y^(0))ᵀ X^(0)(ŵ^A + δ) + (1/n_0) Σ_i ψ((ŵ^A+δ)ᵀ x_i^(0)) + λ_δ||δ||_1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λ_δ = C_δ √(log p / n_0)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001BE-B79E-41AE-BA3F-53E83E5F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52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99490-F60A-416C-8512-E10EA19D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84DB3-CB47-4079-BF75-B5E9E503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525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β̂ = ŵ^A + δ̂^A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85CDF-83E4-483C-849A-2B44AF2B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303FD-8E0D-48D7-AD6E-A3CA1F0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3C1E1-5DFD-4318-98DA-1976EA80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43050"/>
            <a:ext cx="4686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1 intuition: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Pool all n_{A_h} + n_0 observations.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gives a biased but low-variance estimate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ŵ^A ≈ weighted mixture of {w^(k)}_{k∈A}.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larger n_{A_h}, the lower the variance.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E1361-5DC4-424E-B375-4A8CCE5D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D5A8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99928-BD6C-4AFC-AF6E-61A23330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2B74C-F4A4-460A-A394-EA43CD3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4686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2 intuition: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Correct the bias introduced by pooling.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 data alone estimates δ = β − ŵ^A.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Since ||δ||_1 ≤ h (small), this needs only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n_0 observations. Requires h &lt;&lt; √(log p/n_0).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480BE-3956-43DF-BFB6-A2C5FAFD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6240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739B58-F2EC-4A1F-94CF-F10D3F8F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624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9AE24-8A5C-4788-B203-5E6362E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Same structure as Bastani: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1 = proxy estimation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Step 2 = debiasing LASSO on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Difference: Step 1 pools K sources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instead of 1, and uses GLM loss.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51E19-5121-4B39-8AC2-EF060449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560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6BD0D-6AC7-4125-96C4-6968ABE1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6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4B97FC-F79C-42DE-9BDA-C4A76100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19700"/>
            <a:ext cx="468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Penalty scales: λ_w uses combined n_{A_h}+n_0 (more data → smaller regularization). λ_δ uses only n_0 (target-only estimation of contrast).</a:t>
            </a:r>
          </a:p>
        </p:txBody>
      </p:sp>
    </p:spTree>
    <p:extLst>
      <p:ext uri="{BB962C8B-B14F-4D97-AF65-F5344CB8AC3E}">
        <p14:creationId xmlns:p14="http://schemas.microsoft.com/office/powerpoint/2010/main" val="3492828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1AB63-A0CE-4734-83FF-E49DB03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Trans-GLM: data-driven detection of informative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0AFB9-08CC-44CB-9FF5-7AF35C24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Algorithm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A6786-50F7-4B5C-9D21-6CD03990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07D88-88FA-49A8-9A6B-42700C95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8A00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AF6AB-DDC5-4FED-A76A-BFDD90B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120BC-D9B9-406A-AF7B-D9934BBB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55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Problem: A_h is unknown in practice. We cannot observe ||β − w^(k)||_1 without knowing β. Algorithm 2 detects informative sources using cross-validation on the TARGET data only.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2054-3C61-4B92-8D86-3F648315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6F8EA4">
              <a:alpha val="13333"/>
            </a:srgbClr>
          </a:solidFill>
          <a:ln xmlns:a="http://schemas.openxmlformats.org/drawingml/2006/main" w="14288">
            <a:solidFill>
              <a:srgbClr val="6F8E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BFD3D-D570-44D1-BD38-3E3E6EC5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4C645-A94E-4AE7-AD0F-54C739CB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CV for each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DBEA4-61BF-494C-9428-24FB6E97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009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For each source k and fold r: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Fit pooled model using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{source k} + {2 target folds}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Evaluate CV loss on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held-out target fold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Compute mean CV loss L̂₀^(k)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A99CD-0696-4BE7-876C-A2A98D3F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238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5A834">
              <a:alpha val="13333"/>
            </a:srgbClr>
          </a:solidFill>
          <a:ln xmlns:a="http://schemas.openxmlformats.org/drawingml/2006/main" w="14288">
            <a:solidFill>
              <a:srgbClr val="D5A8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5F098-0973-4AAD-BDE7-242E0DA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D081D-7283-4A76-AD1F-A09E7622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Compare to target-only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A610F-263B-43AF-B626-3E5F0330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009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Fit target-only Lasso: L̂₀^(0)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Estimate noise σ̂ from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cross-validated residuals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Include source k if: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L̂₀^(k) − L̂₀^(0) ≤ C₀·σ̂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(CV loss not worse than target)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96819-9369-44B8-8EE4-3B32E966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37338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7B8F70">
              <a:alpha val="13333"/>
            </a:srgbClr>
          </a:solidFill>
          <a:ln xmlns:a="http://schemas.openxmlformats.org/drawingml/2006/main" w="14288">
            <a:solidFill>
              <a:srgbClr val="7B8F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A8B4E-4F4A-4542-B532-9E8906E8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ED4CE-8B10-4059-B527-B2614522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Run A-Trans-GLM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E4A99-7E89-4D37-A442-DCB1A576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3505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Â = { k : L̂₀^(k) − L̂₀^(0) ≤ threshold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Run Algorithm 1 with Â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instead of oracle A_h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Theorem 4: Â = A_h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with high probability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C3E56-7D39-4358-B12E-D51FD24A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ADD6B-BD0C-4C3C-B6C7-CEF002F9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9CF4F-B408-4E31-8EEF-5F38854E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Theorem 4 — Detection consistency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6239D-856D-49B1-8E03-B475756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4876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Under identifiability (Assumption 5) and sufficient sample sizes: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P(Â = A_h) ≥ 1 − 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Auto-detection is asymptotically exact.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42624-813E-42C0-AF6C-AA65DA14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14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CDF31-A21B-4415-82C0-9886A2C9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14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8DEA4B-A8A2-49DD-B8BC-AC9D8578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8625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R package: glmtrans (CRAN)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F0FC9-ADC2-4B82-860C-C474E9E4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5048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Implements all three algorithms: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A-Trans-GLM (oracle, known A_h)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Trans-GLM (auto-detection via CV)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Confidence intervals (Theorem 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Install: install.packages('glmtrans')</a:t>
            </a:r>
          </a:p>
        </p:txBody>
      </p:sp>
    </p:spTree>
    <p:extLst>
      <p:ext uri="{BB962C8B-B14F-4D97-AF65-F5344CB8AC3E}">
        <p14:creationId xmlns:p14="http://schemas.microsoft.com/office/powerpoint/2010/main" val="3345980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33D78-6818-447B-B1DA-D7894B2C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Main theorem: transfer replaces n₀ by n_{A_h} + n₀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042D7-E386-494C-BD98-10795332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Theorem 1 + 2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3321B-BE9B-4B39-A1C2-D8CC637F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0ECA5-5C7B-480C-9858-389CC77C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6158A-A5C6-4125-AED4-B106210F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Theorem 1 (upper bound) — ℓ₁ estimation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BB4AB-B9F6-440C-9228-7B6F2DC0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055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||β̂ − β||_1 ≲ s · √(log p / (n_{A_h} + n_0)) + h        [with prob. ≥ 1 − n_0^{-1}]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Two terms: (1) variance term — improves with more data; (2) bias term h — controlled when h &lt;&lt; √(log p / n_0)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33C60-2F81-4C01-9E20-16EBB7CE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BEAB0-71C4-43D0-8300-6708AFBA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Naive Lasso baseline (no transfer)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9B7BA-E429-488F-B1CE-D6DF1F52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055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||β̂_Lasso − β||_1 = O_p( s · √(log p / n_0) )    [slower — only n_0 in denominator]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911ED-EB86-4D77-91F7-35984A1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8D5D6-CB32-44F8-AD8E-64E0A26A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Theorem 2 (lower bound — minimax optimal)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1604A-27D9-4F7C-824F-5E0C0C0D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55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inf_{β̂} sup P(||β̂−β||_1 ≥ c·s·√(log p/(n_{A_h}+n_0))) ≥ 1/2  →  A-Trans-GLM is rate-optimal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868C3-91A1-4FA6-9D33-9D95C4D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DD908-A219-461A-9226-7088C63F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3435D-8586-43BA-BD2C-8D1CB6E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Transfer benefit condition: h &lt;&lt; √(log p / n_0)  AND  n_{A_h} &gt;&gt; n_0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When both hold: denominator (n_{A_h} + n_0) &gt;&gt; n_0 → first term shrinks → huge improvement over Lasso.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bias term h vanishes when sources are very close to target.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BFC49-D443-4845-8270-6D86EB7B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43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11075-C485-4738-AECC-BB8DF84D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C3AE1-73FB-49DB-9175-E1C87BD3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Rate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C89A4-7201-445A-8FE8-0901B2F3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487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h → 0, n_{A_h} → ∞: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Tian &amp; Feng: O(s√(log p / n_{A_h}))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Naive Lasso:  O(s√(log p / n_0))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Ratio improvement: √(n_{A_h}/n_0)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2CCF7-E598-4AC9-B757-22BAE6C2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5314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DDCC7-64E3-4A08-A0EF-D38731D5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5314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14D27-A9DF-4FE4-B7AB-4178CE2A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Confidence intervals (Theorem 5)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64D0C-AA91-4688-AA70-71689C58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9700"/>
            <a:ext cx="504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Desparsified estimator b: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√n_0 (b_j − β_j)/σ̂_j → N(0,1)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Valid CIs even in high dimension.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Implemented in glmtrans.</a:t>
            </a:r>
          </a:p>
        </p:txBody>
      </p:sp>
    </p:spTree>
    <p:extLst>
      <p:ext uri="{BB962C8B-B14F-4D97-AF65-F5344CB8AC3E}">
        <p14:creationId xmlns:p14="http://schemas.microsoft.com/office/powerpoint/2010/main" val="5019612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BB04E-E169-4C93-91F3-D8B44A5A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Negative transfer: uninformative sources hurt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6BB0E-4AB8-4A2B-8F15-51725F6A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Cautionary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FD8EF-C935-4744-8028-725A28C0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85459-7997-44F3-83C2-8BA0A042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B34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5FBF1-34FB-4116-A63F-81933C2D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1FA02-BA7E-493D-AAE3-D000DFD1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553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Naively pooling ALL K sources (including those with large ||δ^(k)||_1 &gt;&gt; h) WORSENS estimation — 'negative transfer'. Use Trans-GLM (Algorithm 2) to avoid this.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A8891-2941-4747-A0A8-7156CAF9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983FE-8AB8-434F-A579-3EC3C5BE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FB0C0-8AC7-45A5-938E-63CD242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goes wrong with naive pooling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407B4-009E-4760-BD5A-751C9D89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4876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If source k has ||δ^(k)||_1 = h_large &gt;&gt; h: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Step 1 pooling bias is O(h_large)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Step 2 debiasing cannot correct large h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(requires n_0 &gt;&gt; h²/log p, which fails)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Net: bias term dominates → worse than Lasso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Pooled-Trans-GLM (all K sources) can be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MUCH worse than naive Lasso when most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sources are far from the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5862F-E1BC-47D0-A96A-CE35E3EB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3149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D5499-70E3-4618-84E2-8123346F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314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E7C03-E3F6-4A7C-A8D8-274CB010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Trans-GLM solves this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89C25-DFDD-46A0-9DF7-36641054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5048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Algorithm 2 detects and excludes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uninformative sources before pooling.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Key guarantee (Theorem 4):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P(Â = A_h) → 1 as n_0 → 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Result: Trans-GLM is NEVER worse than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target-only Lasso in the limit (safe transfer).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Safe to deploy without knowing h in advance.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8C70D-91C1-4A8F-A6AF-44BEE3EF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1F15F-86FA-41BA-9BB6-920B2E72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Formal negative transfer condition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63883-6B3F-4D23-B6C2-D3C57D34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055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If k ∉ A_h (i.e., ||δ^(k)||_1 &gt; h) is included in pooling: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||β̂ − β||_1 ≥ c · h_large  (bias-dominated)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This is O(h_large) &gt;&gt; O(s·√(log p/n_0)) for large h_large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→ Naive pooling can be arbitrarily bad; source selection is mandatory</a:t>
            </a:r>
          </a:p>
        </p:txBody>
      </p:sp>
    </p:spTree>
    <p:extLst>
      <p:ext uri="{BB962C8B-B14F-4D97-AF65-F5344CB8AC3E}">
        <p14:creationId xmlns:p14="http://schemas.microsoft.com/office/powerpoint/2010/main" val="170664059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674639-88CA-4FAE-9D35-FBE3D7CB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Bastani (2021) vs Tian &amp; Feng (2023): key differences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D54F2-1C27-46A2-9595-7D65FAC7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517CB-347E-4050-BF02-675195C4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CF338-970B-4FAA-9370-390EA0C4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>
              <a:alpha val="13333"/>
            </a:srgbClr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BE1DF-AC05-458F-914E-2D868E6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CA955-6D53-4B77-A36B-AA36E00D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43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Bastani (2021)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44937-75B4-483F-915D-1598E7AA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430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Tian &amp; Feng (2023)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68D90-C393-437D-A947-6C0FD7C5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F687D-9A1A-403A-B0B6-E6915754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EE92C-B9DD-4F62-AF76-94C2090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621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Linear (+ GLM extension §4.5)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196EA-7975-4499-94C7-98975C14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Any GLM as primary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699F9-C2AE-4FAE-8135-9E8A2E6C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00859-679A-4AA7-8E4D-B2C500EE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177C3-F2A4-4A8F-80F2-B71FD7A5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574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1 proxy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B42E3-5901-4562-B0F6-7D234BA6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 source datasets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90EDE-5503-4AD2-A9EC-351A1621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AF373-DAAF-498D-AC8F-03C487F7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Sparsity of contrast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28FBB-1DB8-4353-B3BC-C48D3BD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ℓ₀: ||δ*||_0 =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F34C7-4354-434B-85A4-F5CAFAF8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ℓ₁: ||δ^(k)||_1 ≤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546FB-E2B3-46E3-911D-C3DF543E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96EAA-E39F-4D0A-B648-C80BDFE1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 selection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841BC-0B57-4DF7-A79C-FEE35C55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480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Oracle (proxy known)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36668-CDFE-4B47-85B9-4378FF78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Data-driven via CV (Alg. 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C46BDE-4408-493D-87A5-A03C2BD8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C42FD-E27B-4F83-AF46-8E0DC4D7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Optimality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4735E-E1A7-4C8F-8804-71D9944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433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Rate result (Corollary 1)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39BE9-25B1-423A-8FBF-FD5D0AC9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433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Minimax lower bound (Theorem 2)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6C075C-9CB3-491B-A2E3-4455A280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D4F095-92DE-46F0-AFD5-E2EF761F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B665CE-8637-4603-BECC-32EBB6F0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386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Point estimation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FF1DB4-6B9C-4EEA-9403-93458957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386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+ Confidence intervals (Theorem 5)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05B4F-E36E-4FBD-ACC3-50F4E64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6D32B-10C0-4AF7-B0E8-FD8E5225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BAD0B5-16FA-4506-82EF-9FCEE2CB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Both papers use the same two-step structure: (1) estimate with proxy/source data, (2) debias on target. Tian &amp; Feng extends the scope from 1 source to K, provides minimax optimality, and handles unknown source quality.</a:t>
            </a:r>
          </a:p>
        </p:txBody>
      </p:sp>
    </p:spTree>
    <p:extLst>
      <p:ext uri="{BB962C8B-B14F-4D97-AF65-F5344CB8AC3E}">
        <p14:creationId xmlns:p14="http://schemas.microsoft.com/office/powerpoint/2010/main" val="2520240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85A802-C1CA-4B28-9AB1-605F744C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How Tian &amp; Feng maps to our multi-source clinical trial setting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62651-E7AC-4380-A90A-65034784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TIAN &amp; FENG (2023) — Connection to our paper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3DD76-8D35-4270-8BD0-1395852C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3E1D5-E710-4116-9B07-A9238E22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In our paper: K source RCTs, target has placebo only, some sources are close (small h), others far (large h). Tian &amp; Feng provides the foundation for multi-source pooling.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AD315-A254-41A6-B9FA-2CA67291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>
              <a:alpha val="13333"/>
            </a:srgbClr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683A2-5F8C-4390-A369-285BAF50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Tian &amp; Feng (2023)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680CA-4842-4CC6-B9A6-5CC18D7E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Our paper (this work)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5B861-9C33-4B2B-A805-275262DB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369E3-5E07-4029-AB81-9BC15E61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K source GLMs {(X^(k), y^(k))}_{k=1}^K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25C53-1604-4959-93BD-EF9399F6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 source trial IPDs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34740-4FA8-4C3B-9190-D0306566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E0F37-3FE9-4A26-A9BD-5389BD82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Source coefficient w^(k) ∈ R^p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B57A0-53B8-4E3F-899D-58B1D015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765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Source-site outcome model μ̂₀^(k)(x)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079C5-B2D9-45EA-AE0F-310CB596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D1DC7-AE18-4649-B787-3766CBAF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Target coefficient β = w^(0)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2ADF1-ADDD-4AD9-A191-DB4D5810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 baseline risk μ₀(x)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7727C-739E-4087-8065-F98449D3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7134E-2928-4138-BB95-83FDCA30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Contrast δ^(k) = β − w^(k)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3C1B4-5FDC-4291-80F1-2C35C0A1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Covariate shift under A5: sparse local shift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13892-11E7-451F-A200-54CC43C6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51E81-17B5-4F5D-91BC-D12011CD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Transferring set A_h (informative sources)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24CAE-C1E2-4F40-B8C6-06C1704D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Compatible sources satisfying Assumption A6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DCC63-0298-4AAF-B02D-C49E7D55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B7774-9542-485E-9BD1-9EE59335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Trans-GLM Step 1: pooled Lasso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85396-31EA-4AB7-B0FF-AD8969C4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053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 pooling with anchor (sparse correction)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084B6-F4CA-4742-A265-9B31D93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8FE4BD-B3A0-4DCC-8FEC-6EBF9B8D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Trans-GLM Step 2: debiasing on target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4F0B4-A1AA-491F-BD35-F8F15B10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62525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δ̂ correction: argmin with λ||δ||_1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60D5AA-EF61-4191-952B-C4284EB8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8A00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13C869-FC31-42FD-AC28-75E2F75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70D90-57FE-46C0-BB14-F563DEA0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55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difference from Tian &amp; Feng: we target individual CATE τ(x) = E[Y(1)−Y(0)|x], not the baseline risk coefficient β. Our DR learner layer (pseudo-outcomes ψ_i = μ̂₁(x_i)−μ̂₀^anchor(x_i)+IPW residual) sits on top of the Tian &amp; Feng foundation. GLM family = logistic regression for binary endpoints, linear regression for continuous.</a:t>
            </a:r>
          </a:p>
        </p:txBody>
      </p:sp>
    </p:spTree>
    <p:extLst>
      <p:ext uri="{BB962C8B-B14F-4D97-AF65-F5344CB8AC3E}">
        <p14:creationId xmlns:p14="http://schemas.microsoft.com/office/powerpoint/2010/main" val="13878856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861ED7-A64C-407B-97EA-379EEB57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Summary: two papers, one estimator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435E3-F6D5-43FC-B920-31E6D23D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8A5B4-E895-4FFC-91C6-C594DBA8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38B91-84E0-46E2-8351-8AA01A18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19450" cy="41910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AA2BE-DBFC-4727-8194-A4548301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82670-9A44-4033-9F57-78B1521F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Bastani (2021)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E6291-0AF2-46FE-8B56-E5B15A37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952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Single proxy-gold setup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β*_gold = β*_proxy + δ*, ||δ*||_0 = s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Two-step Lasso: proxy OLS → debiasing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Rate: s·σ/√n_gold (s replaces d)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Powers our sparse correction step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Privacy: share only β̂_proxy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E177E-4EC6-4C94-95A7-2967B7D5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19450" cy="41910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57FF6-600F-462A-8FEA-FD8BE0DD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C2851-828A-439D-A73E-C6049BD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573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Tian &amp; Feng (2023)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F23EA-130B-443D-A555-47C094E6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2952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K sources, GLMs, unknown quality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Contrast: ||δ^(k)||_1 ≤ h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Auto-detects A_h via cross-validation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Minimax optimal rates (Theorem 2)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Confidence intervals (Theorem 5)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R: glmtrans on CRAN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94B96-6CC4-4D09-937D-F0E712F4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219450" cy="41910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A70A4-F619-4DBA-B0E0-821B117F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BD8CB-350C-4BC8-80C9-1C753764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Our estimator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A6E1B-E137-4D96-B6A8-61D2AD6B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2952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Bastani's correction: μ̂₀^proxy → μ̂₀^anchor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Tian &amp; Feng: K-source GLM extension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DR learner: pseudo-outcomes ψ_i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CATE: τ̂(x) = E[ψ|x]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Connected: Theorem 1 (identified)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Disconnected: Theorem 2 (working model)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F33F5-20FE-4197-B816-1CA68588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F9D43-16C4-4B81-8270-305BDFF0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DE198-718A-4B73-8194-3C2BE94C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55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full estimator = Tian &amp; Feng baseline risk correction (multi-source GLM pooling with debiasing) + Kennedy (2023) doubly robust CATE learner with cross-fitting. Each layer has its own theoretical guarantee; our paper proves the joint guarantee under Assumptions A1–A6.</a:t>
            </a:r>
          </a:p>
        </p:txBody>
      </p:sp>
    </p:spTree>
    <p:extLst>
      <p:ext uri="{BB962C8B-B14F-4D97-AF65-F5344CB8AC3E}">
        <p14:creationId xmlns:p14="http://schemas.microsoft.com/office/powerpoint/2010/main" val="194366447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8A38D-419B-4A45-A109-61B358E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5322A-440F-4D30-AEB9-E2A972DA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Kennedy (2023): Doubly Robust CATE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B0610-FE92-42A6-BB89-B63A77F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5A834"/>
                </a:solidFill>
                <a:latin typeface="Aptos"/>
                <a:ea typeface="Aptos"/>
                <a:cs typeface="Aptos"/>
              </a:rPr>
              <a:t>The final layer: from corrected baseline risk to heterogeneous treatment effects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B59B2-860A-42E6-8C93-1ABF3D6C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Kennedy (2023), Electronic Journal of Statistics 17(2): 3008–3049  ·  DOI: 10.1214/23-EJS2157</a:t>
            </a:r>
          </a:p>
        </p:txBody>
      </p:sp>
    </p:spTree>
    <p:extLst>
      <p:ext uri="{BB962C8B-B14F-4D97-AF65-F5344CB8AC3E}">
        <p14:creationId xmlns:p14="http://schemas.microsoft.com/office/powerpoint/2010/main" val="46826354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5BE029-FD02-4A84-A842-3AFA2D8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Setup: estimating heterogeneous treatment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A30E4-CE75-4126-9E97-636E436E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KENNEDY (2023) —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2506B-D8FB-449E-BD20-03A03CCC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ED3A7-1B3B-46E8-AFC2-37EB2343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Goal: estimate CATE τ(x) = E[Y(1)−Y(0)|X=x] from experimental data using flexible ML for nuisance functions.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BE1E8-001D-4259-A499-4D8E6C11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295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D5DC8-0B71-45DE-9971-918E81EC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502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Observed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90FDE-9BD8-4794-8CEE-4961707C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502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Z_i = (Y_i, A_i, X_i)  i.i.d.  i = 1,...,n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Y_i = outcome,  A_i ∈ {0,1} = treatment assigned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X_i ∈ R^d = pre-treatment covariates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924BA-B0F2-4DEF-BBA6-E6A4E606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295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DEF65-73F8-4C77-948D-A1413796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502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Target estimand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CDEB3-86AC-4FAF-9E58-ECED5EEA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502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τ(x) = E[Y(1) − Y(0) | X = x]     (CATE)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ATE = E[τ(X)],    GATE = E[τ(X) | X ∈ G]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6E4C5-1158-4A60-A2D9-BEED0D74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5334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8A00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D886C-E59D-4358-9864-D73DE6A4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02302-E960-4FE6-91DD-2139F520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5067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 our clinical trial setting: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• A_i = treatment indicator (active vs. placebo)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• e(x) = P(treated|x) is KNOWN by randomization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• Overlap guaranteed by design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• Unconfoundedness holds by construction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Known propensity removes one estimation step — a structural advantage Kennedy's framework exploits via exact IPW weighting.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24D1E-B499-4111-BD35-1DA9ADC1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E6257-0322-4E9D-8111-DB34FDDF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44602-E662-416E-AE37-DB0BF939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A1: Unconfoundedness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3CF98-5272-432D-A5D6-AB611FF9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2971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Y(0), Y(1) ⊥ A | 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No unmeasured confounders.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Conditioning on X removes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all treatment assignment bias.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Automatic in RCTs.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F5064-B227-4F6D-879A-B5363374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29A2E-3E70-40E5-982E-FBDA8C53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1805D-E706-4B03-B33D-8354F893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A2: Overlap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CCA2F-D5F0-463D-BE8F-EE52EA89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57650"/>
            <a:ext cx="2971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 &lt; e(x) &lt; 1  ∀x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e(x) = P(A=1|X=x)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Both arms observed at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every covariate value.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Critical for IPW weighting.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FA46D-DC6F-4989-B23C-72688B0B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3962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397DB-2C74-45FC-B42F-803CD826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396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EDE18-7BD6-4175-940F-6752C2C9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5285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A3: SUTVA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110F9-91AB-4DF4-AF8A-1A8F9E5E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36957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Y_i(a) = Y_i  when A_i = 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No interference between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units. Single version of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treatment. Standard in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individual-level trials.</a:t>
            </a:r>
          </a:p>
        </p:txBody>
      </p:sp>
    </p:spTree>
    <p:extLst>
      <p:ext uri="{BB962C8B-B14F-4D97-AF65-F5344CB8AC3E}">
        <p14:creationId xmlns:p14="http://schemas.microsoft.com/office/powerpoint/2010/main" val="98722013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8F29F5-6BF0-490E-A789-8D82CA97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The DR pseudo-outcome: efficient influence function for CATE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2FAE6-75B2-4CBD-876C-7983CD75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KENNEDY (2023) — Eq. (2.3)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121D8-45DA-491A-A281-0470D095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E4C92-CABA-4CED-886E-90D8A109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06DE8-9E13-4911-A24B-2CA07D33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DR pseudo-outcome (Kennedy 2023, Eq. 2.3)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36D9F-9FF1-436C-9A24-C08321A9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φ̂(Z_i) =  (μ̂₁(X_i) − μ̂₀(X_i))   +   A_i(Y_i − μ̂₁(X_i)) / ê(X_i)   −   (1−A_i)(Y_i − μ̂₀(X_i)) / (1−ê(X_i))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         [direct plug-in term]             [treated residual / propensity]         [control residual / (1−propensity)]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5D930-E2E8-4286-AC2E-91E9D326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A3955-D770-4651-AF53-91F49E81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D8E9C-46C3-4E2F-A370-7F78167C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Direct term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F11AA-27F7-4201-83DD-DD9C7EDB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μ̂₁(x) − μ̂₀(x)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Plug-in outcome model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difference. Fast when μ̂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is close to μ. Biased when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ML models overfit training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DA7A1-9AE8-422F-8FB1-AD7D04B2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527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EE02E-4764-4C31-99BE-6A6977DD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527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0C39D-A0DE-40BC-AB7E-5794434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Treated IPW residual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05F15-E291-428E-8902-D6A66A1D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908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A_i(Y_i − μ̂₁(X_i)) / ê(X_i)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Residual of treated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observations re-weighted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by propensity.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Corrects bias in direct term.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7BA90-084E-47DB-9895-F12B2553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52700"/>
            <a:ext cx="39624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DF757-034C-4581-925A-207BCD14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52700"/>
            <a:ext cx="396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A4889-6A1A-47D6-8EDA-0DD051E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Control IPW residual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87D22-A446-4197-886A-36E2E3E5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90850"/>
            <a:ext cx="3695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−(1−A_i)(Y_i − μ̂₀(X_i)) / (1−ê(X_i))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Residual of control obs.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weighted by 1−propensity.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Completes double correction.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8FFF3-1D37-4743-A724-59A5FDB5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95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FC0D4-B3DD-4878-A7D5-9CD94A9F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73151-A5D4-4DD5-B728-4E3BCBF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02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property: E[φ̂(Z_i) | X_i] = τ(X_i)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pseudo-outcome is an unbiased pointwise proxy for the true CATE at each x — under A1–A3, regardless of how μ̂ and ê are estimated.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0FDF8-AAEA-454E-BF6B-077FAA4A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533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126FBF-446C-4EA3-B722-CB7D2EBE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3776D5-1A2A-4A3E-ACDA-864170FD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506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Double robustness: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Consistent if μ̂ correct (direct term dominates)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OR if ê correct (IPW residuals unbiased)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Both wrong → product error: O(||μ̂−μ||·||ê−e||)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31F11-C85F-4D23-A22A-7B4FE0BC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33ABB-FC4A-45CA-ABEE-35702EA5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Final CATE estimate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9A76A3-1970-43BF-AB73-476CBFD9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τ̂(x) = argmin_f  Σᵢ (φ̂(Z_i) − f(X_i))²    →   regress pseudo-outcomes on covariates; f can be any ML estimator</a:t>
            </a:r>
          </a:p>
        </p:txBody>
      </p:sp>
    </p:spTree>
    <p:extLst>
      <p:ext uri="{BB962C8B-B14F-4D97-AF65-F5344CB8AC3E}">
        <p14:creationId xmlns:p14="http://schemas.microsoft.com/office/powerpoint/2010/main" val="44083903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BD58CC-C6AF-4D4E-8089-FFAD6B03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Cross-fitting: separating nuisance training from CATE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4C521-3948-4022-8B9F-8B4BF4FB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KENNEDY (2023) —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C2634-37F6-48FA-9292-41ACE369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D8148-B373-45E6-B3D9-584840A6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B34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66123-2A4D-4422-99E3-20962C86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C34B3-063F-4D1C-A79F-6A75F602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55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Problem: estimating μ̂ and ê on the same data used to compute φ̂ introduces first-order bias — nuisances 'memorize' training data, inflating pseudo-outcomes. Cross-fitting removes this bias via sample splitting.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C4248-50C0-4481-974E-DBBD44AB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105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6F8EA4">
              <a:alpha val="13333"/>
            </a:srgbClr>
          </a:solidFill>
          <a:ln xmlns:a="http://schemas.openxmlformats.org/drawingml/2006/main" w="14288">
            <a:solidFill>
              <a:srgbClr val="6F8E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68756-83CB-4266-91CB-B908281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AC510-DA27-434B-94F2-6FA13C3B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Partition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E0E90-EC62-42E1-A9DA-6980889B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876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Split {Z_i}ⁿ into K folds: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I₁, I₂, ..., I_K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(K = 3 is standard)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For fold k: use Iₖᶜ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(complement) to train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nuisances, apply on Iₖ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160D8-0BB6-46A2-922C-09AADE06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81200"/>
            <a:ext cx="37338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5A834">
              <a:alpha val="13333"/>
            </a:srgbClr>
          </a:solidFill>
          <a:ln xmlns:a="http://schemas.openxmlformats.org/drawingml/2006/main" w="14288">
            <a:solidFill>
              <a:srgbClr val="D5A8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DFBAF-5811-45D3-AE82-0E34F43B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76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DB5F7-C22F-4F3E-9403-1B9AF79A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Estimate nuisances (out-of-fold)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8FB30-F849-40CF-95CB-DEA677BB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3505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For each fold k ∈ {1,...,K}: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Fit μ̂₁^{−k}(·) on Iₖᶜ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Fit μ̂₀^{−k}(·) on Iₖᶜ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Fit ê^{−k}(·)  on Iₖᶜ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← use any ML 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171EF-5626-404C-A65C-E8F324AF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81200"/>
            <a:ext cx="3638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7B8F70">
              <a:alpha val="13333"/>
            </a:srgbClr>
          </a:solidFill>
          <a:ln xmlns:a="http://schemas.openxmlformats.org/drawingml/2006/main" w="14288">
            <a:solidFill>
              <a:srgbClr val="7B8F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5A288-8CFD-4902-9B7F-9FD76015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EAD78-8A49-42A3-BC2E-C57BD213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Compute pseudo-outcomes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8296B-3611-47DB-BC1E-481D1E41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409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For i ∈ I_k (held-out fold):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φ̂_i = (μ̂₁^{-k}(X_i) − μ̂₀^{-k}(X_i))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+ A_i(Y_i−μ̂₁^{-k}(X_i))/ê^{-k}(X_i)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− (1−A_i)(Y_i−μ̂₀^{-k}(X_i))/(1−ê^{-k}(X_i))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7AB4B-F77E-4467-9F0C-C07AB082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8A0020">
              <a:alpha val="13333"/>
            </a:srgbClr>
          </a:solidFill>
          <a:ln xmlns:a="http://schemas.openxmlformats.org/drawingml/2006/main" w="14288">
            <a:solidFill>
              <a:srgbClr val="8A00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12D9A-E343-4F5F-9C5D-3312A65C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B159B-6AD3-4626-9016-7A7B2B24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Final CATE regression (all n obs)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8653E-BCDD-412E-A13A-7D2FC323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48196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τ̂(x) = argmin_f Σᵢ (φ̂_i − f(X_i))²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Choice of f: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Linear — interpretable coefficients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Random forest/boosting — flexible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Lasso — sparse effect modifiers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• In our paper: random forest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50D77A-FDBC-400C-B572-DE89F548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5600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65605C">
              <a:alpha val="13333"/>
            </a:srgbClr>
          </a:solidFill>
          <a:ln xmlns:a="http://schemas.openxmlformats.org/drawingml/2006/main" w="14288">
            <a:solidFill>
              <a:srgbClr val="6560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7F443-8C39-4855-BA99-520D388F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7C74D-656A-4997-B722-AD3BA1B3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97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Optional: Best Linear Projection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6A0EBC-2BCB-4E2E-8FE1-DB70379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9600"/>
            <a:ext cx="537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γ̂ = argmin_γ Σᵢ (φ̂_i − γ₀ − γᵀX_i)²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Interpretable summary of CATE heterogeneity.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Wald test on γ_j: does covariate j drive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effect modification?</a:t>
            </a:r>
          </a:p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Our paper: ranking and regret evaluation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35961-E79E-4122-B81E-5BBB59B9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7DE23-CA0D-41EC-A327-626D1042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Why cross-fitting removes bias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0E93E6-3436-442E-890F-73028B8C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1055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φ̂_i is computed from nuisances trained on Iₖᶜ and evaluated on held-out Iₖ → (nuisance, pseudo-outcome) pairs are independent → first-order remainder E[Δμ̂·Δê] ≈ 0</a:t>
            </a:r>
          </a:p>
        </p:txBody>
      </p:sp>
    </p:spTree>
    <p:extLst>
      <p:ext uri="{BB962C8B-B14F-4D97-AF65-F5344CB8AC3E}">
        <p14:creationId xmlns:p14="http://schemas.microsoft.com/office/powerpoint/2010/main" val="9274391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13B7B-CBBE-4329-AD3A-E23ACE8B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Main theorem: product error structure and optimal 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8E672-108D-4C27-B02E-90489270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KENNEDY (2023) — Theorem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F41FB-25F1-4650-9CE7-A473F724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CB6DE-6A72-4C82-B791-578B4A7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49670-29E9-443C-835C-4DDACBD5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Theorem 2 (Kennedy 2023) — mean-squared error of DR-Learner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894DD-728C-4094-975B-9EF0CE5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055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E||τ̂ − τ||² ≤ C · { ||μ̂₁−μ₁||₂·||ê−e||₂  +  ||μ̂₀−μ₀||₂·||ê−e||₂  +  r_n²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r_n = excess risk of the final regression (depends on smoothness of τ and choice of f)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A0745-6189-4D58-A8AB-5E97A4BA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33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7E587-CB1B-402D-98B1-E0C0827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3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CE7C3-1EDA-404D-B574-7484C193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506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Optimal rate — β-smooth CATE, dim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A5EAB-4F06-436A-9C70-D4702737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506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Optimal CATE rate: n^{−2β/(2β+d)}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Nuisance requirement: ||μ̂−μ||₂, ||ê−e||₂ = o(n^{−β/(2β+d)})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DR-Learner achieves oracle CATE rate when nuisances are fast enough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6159C-19D0-4B55-A743-0D80F8FA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529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D3CF9-C218-429E-A483-518D9D3B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529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FB6AE-9C80-47BB-A830-F8FB3755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02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Double robustness in practice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C9190-E8B4-4279-9F94-FF72990B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502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Product structure: total error = O(||μ̂−μ||·||ê−e||)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If one nuisance converges at O(n^{−α}), the other at O(n^{−γ}):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bias = O(n^{−α−γ}) — diminishing even for slow estimators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8D619-9638-4CDC-AC74-292EA2A8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>
              <a:alpha val="13333"/>
            </a:srgbClr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ACBC3-27A8-4F25-A88B-73F9457F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4AB4A-CE34-4446-9D1D-93C3B76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Bias 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6BAB5-3837-42C5-9129-A309A9D9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Requirement for consistency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B6E45-2956-4034-84A5-F7B761BE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59B42-E893-418C-AE9A-2DAB3204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Plug-in (μ̂₁−μ̂₀ only)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D3B57-1DBF-451D-8A57-233D693E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95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O(||μ̂₁−μ₁|| + ||μ̂₀−μ₀||)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863EC-ADF7-4F44-B208-F6B32014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Both outcome models correct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91CD1-E42A-454C-95B0-C0D98240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03E00-0B12-4D51-8B65-8E5DF465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IPW-only (no outcome model)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190C4-8FDD-45CB-A84E-C62088FA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O(||ê−e|| / e(1−e)²)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B4EE0-2D67-4144-8DAA-42261AB3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Propensity correct + strong overlap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ECD0B-E411-4421-94BA-5A6EC318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>
              <a:alpha val="13333"/>
            </a:srgbClr>
          </a:solidFill>
          <a:ln xmlns:a="http://schemas.openxmlformats.org/drawingml/2006/main" w="14288">
            <a:solidFill>
              <a:srgbClr val="7B8F7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8938FA-1B06-462A-BDC8-C7007CD5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DR-Learner — Kennedy (2023)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D1EE3-3EE0-475D-8E9D-CC21806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720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O(||μ̂−μ||·||ê−e||)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246601-78BD-4FA4-9494-46C52E46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Only ONE nuisance needs to be correct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4F1BA-C43F-4A60-A01F-85C717A7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BD1C5-E952-4938-93C6-5CB4CD2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390441-FE44-4341-809E-8410C7BE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RCT bonus: e(x) is KNOWN → ||ê−e||₂ = 0 → bias = 0 regardless of outcome model quality. In our paper, propensity is known by randomization, so the DR-Learner achieves the oracle CATE rate with only the outcome model estimated from data.</a:t>
            </a:r>
          </a:p>
        </p:txBody>
      </p:sp>
    </p:spTree>
    <p:extLst>
      <p:ext uri="{BB962C8B-B14F-4D97-AF65-F5344CB8AC3E}">
        <p14:creationId xmlns:p14="http://schemas.microsoft.com/office/powerpoint/2010/main" val="34425893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3C40D4-CBF2-474C-B66F-7F84481F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Why it works: Neyman orthogonality and the influence function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6F982-51EF-43FD-8A71-6A6C9961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KENNEDY (2023) — 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8D961-61A1-43B4-A89A-3A672693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D8C38-B4CE-4909-A5AA-2EF5102D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DR pseudo-outcome is the efficient influence function (EIF) of the CATE functional — this is what makes cross-fitting and ML nuisances compatible with √n inference on τ.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2C502-1224-45DA-A169-C959F4F3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29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9D7C5-068E-48FC-8C52-02781632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502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Efficient influence function (EIF)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26A46-3E71-48FF-9B7D-28178D01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502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ψ(Z; τ, e, μ₀, μ₁) = [A/e(X) − (1−A)/(1−e(X))](Y−μ_A(X))  +  [μ₁(X) − μ₀(X) − τ(X)]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φ̂_i = empirical analog with plug-in (μ̂₀, μ̂₁, ê) for (μ₀, μ₁, 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2475F-2683-4A3F-AB30-8406D54B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29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99F82-C549-473C-B927-97070AC9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502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Neyman orthogonality condition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0F5A7-09DD-4303-B0B8-51E9A86E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502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∂/∂η  E[ψ(Z; τ, η)] |_{η=η₀} = 0     (η = (e, μ₀, μ₁))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First-order sensitivity to nuisance errors vanishes at truth η₀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421CA-5C13-4124-8D42-BF32B54B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6F8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91612-CE0A-45D8-B184-13A26054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AFDC4-FB33-42C5-AC98-469822BB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5067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orthogonality buys: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1. Nuisance errors enter only at SECOND ORDER — O(||Δμ||·||Δê||), not O(||Δμ||)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 Allows ML nuisances at slow nonparametric rates while τ̂ achieves √n consistency on smooth CATE subproblems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3. Enables valid inference on τ without Donsker conditions on nuisance function classes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68DB0-5B37-4021-BE67-49A929F5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143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E97D4-243B-4223-A614-9C4E3909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0934D-CFB7-43AA-A78B-265DE01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Without orthogonality (naive plug-in)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449D8-EBC7-4E73-A93F-2F04F189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876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τ̂_plugin(x) = μ̂₁(x) − μ̂₀(x)  directly: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Bias = E[μ̂₁−μ₁] − E[μ̂₀−μ₀]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This is O(||μ̂−μ||) — FIRST-ORDER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If ||μ̂−μ|| = n^{-1/4}, bias = n^{-1/4}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&gt;&gt; n^{-1/2} threshold for √n-consistency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No √n rate without exact model spec.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62AB9-F9CC-4CA4-9ADC-49D9940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95700"/>
            <a:ext cx="5486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0D7DA-9F73-470B-BF0A-EB6A842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95700"/>
            <a:ext cx="548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9DBE9-7AD9-4DB7-B67F-02AB3E5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29050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With orthogonality (DR pseudo-outcome)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B7F3C-52EC-4066-BD0F-82F90BDD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33850"/>
            <a:ext cx="5219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Using φ̂_i with cross-fitting: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Bias = O(||μ̂−μ||·||ê−e||) — SECOND-ORDER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If ||μ̂−μ|| = ||ê−e|| = n^{-1/4}: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  bias = n^{-1/2} ✓ (√n-consistent)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RCT: ê = e known → bias = 0 exactly</a:t>
            </a:r>
          </a:p>
          <a:p xmlns:a="http://schemas.openxmlformats.org/drawingml/2006/main">
            <a:pPr algn="l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• Flexible ML for nuisances → valid inference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8521D-5A3C-4D0B-A798-0D463D22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8A00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3AB8F-B512-470E-895D-C710545C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648D0-31B9-45F0-B6C0-22B0DF9C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55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Practical summary: the EIF construction converts nuisance estimation errors from additive (first-order, unavoidable) into multiplicative (second-order, negligible when either nuisance is accurate). Cross-fitting ensures independence so sample splitting does not lose efficiency.</a:t>
            </a:r>
          </a:p>
        </p:txBody>
      </p:sp>
    </p:spTree>
    <p:extLst>
      <p:ext uri="{BB962C8B-B14F-4D97-AF65-F5344CB8AC3E}">
        <p14:creationId xmlns:p14="http://schemas.microsoft.com/office/powerpoint/2010/main" val="170777588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0C516B-6C34-4CC4-A930-00B3B915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Kennedy (2023) in our estimator: the anchored DR learner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D282C-698B-4CE6-855C-4061B79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KENNEDY (2023) — Connection to our paper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D7463-705D-408B-8178-F836C527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53A5A-A43B-4321-93D0-546E56FD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We apply Kennedy's DR learner on top of the Bastani/Tian&amp;Feng corrected baseline risk — replacing μ̂₀ with μ̂₀^anchor, the sparse-corrected estimate.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2F4D8-D851-471E-826A-76E61AD5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2C47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6691C-A253-4EA8-AA6B-53EB4F16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55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47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4770"/>
                </a:solidFill>
                <a:latin typeface="Aptos"/>
                <a:ea typeface="Aptos"/>
                <a:cs typeface="Aptos"/>
              </a:rPr>
              <a:t>Full pipeline pseudo-outcome (our Eq.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5D48A-CAE9-402F-92D9-F84B3F8B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ψ_i = (μ̂₁(X_i) − μ̂₀^anchor(X_i))  +  A_i(Y_i − μ̂₁(X_i)) / e(X_i)  −  (1−A_i)(Y_i − μ̂₀^anchor(X_i)) / (1−e(X_i))</a:t>
            </a:r>
          </a:p>
          <a:p xmlns:a="http://schemas.openxmlformats.org/drawingml/2006/main">
            <a:pPr algn="l">
              <a:def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          [anchored direct term]               [treated residual IPW]                    [control residual — uses sparse-corrected μ̂₀^anchor]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E2C0B-455E-46CB-8150-8CA4F4F6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>
              <a:alpha val="13333"/>
            </a:srgbClr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68D87-8BB3-46BA-AE34-4E9FDB2A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Kennedy (2023) — generic DR learner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C7BC7-DF9E-4639-92C1-4665AFD2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Our estimator (Proposed / Proposed-CF)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76190-8C63-48F8-9E38-BD99D4F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1774B-60F5-48FA-A322-20E4E285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μ̂₀(x)  — any ML outcome model for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8D09F-2BAF-46B6-A8C4-D7035A5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μ̂₀^anchor(x)  — Tian&amp;Feng corrected (K sources + target placebo)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44D9A-DFCC-4B42-B10F-62351F9C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D74DE-920B-4A6C-B6D1-27DF0E0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μ̂₁(x)  — any ML outcome model for treatment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FFB3B-D29F-4E37-A2AA-7CF8B776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957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μ̂₁(x)  — estimated from target treated arm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E1B0C-6A11-4013-B33A-AEF56815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947C5-EE30-4182-AADE-63225EF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ê(x)  — estimated propensity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863BF-55CA-4632-96D2-888BFEA1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338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e(x)  — KNOWN exactly (randomized, by design)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A14EE-E163-4CAD-ACB7-D2941265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24616-DBB1-421F-8968-7B5F73E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Final: τ̂(x) = E[φ̂|X=x], any ML method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00E93-D48D-4B1A-9AD3-AA2C14C5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Final: τ̂(x) = random forest on ψ_i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FD092-DB10-4D72-B7D2-5665B340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3DC64-65D4-410A-A66C-4C83001A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2B2B2B"/>
                </a:solidFill>
                <a:latin typeface="Courier New"/>
                <a:ea typeface="Courier New"/>
                <a:cs typeface="Courier New"/>
              </a:rPr>
              <a:t>Proposed-CF: cross-fit φ̂_i across 3 folds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D3DB8-A725-4C67-8F8E-D63B24C6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101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Cross-fitting improves calibration → ECE rank 1.3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5B90E-BAB7-491F-AC37-1E33C4F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143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7B8F7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B5B039-C5F7-4EE8-AD35-FE59FF51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F4604-5EDA-4CE0-874C-530F781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487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Why anchoring μ̂₀^anchor matters: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Standard TargetOnly uses μ̂₀ from target data only — scarce, high variance. Our μ̂₀^anchor pools K source RCTs via sparse correction → lower variance → lower variance pseudo-outcomes ψ_i → more precise CATE τ̂(x). This is the key empirical improvement over Kennedy's generic DR learner.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03ED87-AB8A-4019-8D36-81A2581E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91150"/>
            <a:ext cx="54864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19050">
            <a:solidFill>
              <a:srgbClr val="8A00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E7128C-7476-43C7-BA80-A62CA8F7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91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4ED397-E0A3-4EFF-951A-0DD2D5E7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86400"/>
            <a:ext cx="521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Theorem 1 (connected target):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μ̂₀^anchor is identified. ψ_i is Neyman-orthogonal → τ̂ achieves the identified CATE rate. Theorem 2 (disconnected — target placebo only):</a:t>
            </a:r>
          </a:p>
          <a:p xmlns:a="http://schemas.openxmlformats.org/drawingml/2006/main">
            <a:pPr algn="l">
              <a:defRPr sz="11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μ̂₀^anchor is working-model transport (A6). ψ_i remains well-calibrated for ranking and regret under the transport condition.</a:t>
            </a:r>
          </a:p>
        </p:txBody>
      </p:sp>
    </p:spTree>
    <p:extLst>
      <p:ext uri="{BB962C8B-B14F-4D97-AF65-F5344CB8AC3E}">
        <p14:creationId xmlns:p14="http://schemas.microsoft.com/office/powerpoint/2010/main" val="121722046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2026-05-21T23:21:02.7900000Z</dcterms:created>
  <dcterms:modified xsi:type="dcterms:W3CDTF">2026-05-21T23:21:02.7900000Z</dcterms:modified>
</coreProperties>
</file>