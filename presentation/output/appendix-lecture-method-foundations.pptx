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b4d7de089e46dc" /><Relationship Type="http://schemas.openxmlformats.org/officeDocument/2006/relationships/extended-properties" Target="/docProps/app.xml" Id="Rfcbc3ea0bf664b6f" /><Relationship Type="http://schemas.openxmlformats.org/officeDocument/2006/relationships/officeDocument" Target="/ppt/presentation.xml" Id="R516457d3a80744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0dd168cb48453e"/>
  </p:sldMasterIdLst>
  <p:notesMasterIdLst>
    <p:notesMasterId xmlns:r="http://schemas.openxmlformats.org/officeDocument/2006/relationships" r:id="R3b489dac95d14f6d"/>
  </p:notesMasterIdLst>
  <p:sldIdLst>
    <p:sldId xmlns:r="http://schemas.openxmlformats.org/officeDocument/2006/relationships" id="256" r:id="R9d05e21889934f30"/>
    <p:sldId xmlns:r="http://schemas.openxmlformats.org/officeDocument/2006/relationships" id="257" r:id="R5134698ebdef4ee6"/>
    <p:sldId xmlns:r="http://schemas.openxmlformats.org/officeDocument/2006/relationships" id="258" r:id="Rcf2fce30a4df4d00"/>
    <p:sldId xmlns:r="http://schemas.openxmlformats.org/officeDocument/2006/relationships" id="259" r:id="R5fbc3cfb97d146d3"/>
    <p:sldId xmlns:r="http://schemas.openxmlformats.org/officeDocument/2006/relationships" id="260" r:id="Rc43ff0fc9b4945a0"/>
    <p:sldId xmlns:r="http://schemas.openxmlformats.org/officeDocument/2006/relationships" id="261" r:id="Rc21a1b0a244a4732"/>
    <p:sldId xmlns:r="http://schemas.openxmlformats.org/officeDocument/2006/relationships" id="262" r:id="Rcaae133fa8544061"/>
    <p:sldId xmlns:r="http://schemas.openxmlformats.org/officeDocument/2006/relationships" id="263" r:id="R8c18479650864188"/>
    <p:sldId xmlns:r="http://schemas.openxmlformats.org/officeDocument/2006/relationships" id="264" r:id="Rc963ab3096504394"/>
    <p:sldId xmlns:r="http://schemas.openxmlformats.org/officeDocument/2006/relationships" id="265" r:id="Rbd0fc32145a64298"/>
    <p:sldId xmlns:r="http://schemas.openxmlformats.org/officeDocument/2006/relationships" id="266" r:id="R30632696a6b948f1"/>
    <p:sldId xmlns:r="http://schemas.openxmlformats.org/officeDocument/2006/relationships" id="267" r:id="Rec2d83cf04604065"/>
    <p:sldId xmlns:r="http://schemas.openxmlformats.org/officeDocument/2006/relationships" id="268" r:id="Rcc240adb012649a8"/>
    <p:sldId xmlns:r="http://schemas.openxmlformats.org/officeDocument/2006/relationships" id="269" r:id="R3a96cef2d46f4996"/>
    <p:sldId xmlns:r="http://schemas.openxmlformats.org/officeDocument/2006/relationships" id="270" r:id="Rcacfa05c5bb74935"/>
    <p:sldId xmlns:r="http://schemas.openxmlformats.org/officeDocument/2006/relationships" id="271" r:id="R8bf7eec5d8c744c5"/>
    <p:sldId xmlns:r="http://schemas.openxmlformats.org/officeDocument/2006/relationships" id="272" r:id="R071c10bf29e9469d"/>
    <p:sldId xmlns:r="http://schemas.openxmlformats.org/officeDocument/2006/relationships" id="273" r:id="R93918865633b474c"/>
    <p:sldId xmlns:r="http://schemas.openxmlformats.org/officeDocument/2006/relationships" id="274" r:id="R070ddf23055d4a6e"/>
    <p:sldId xmlns:r="http://schemas.openxmlformats.org/officeDocument/2006/relationships" id="275" r:id="Re9007450dde94513"/>
    <p:sldId xmlns:r="http://schemas.openxmlformats.org/officeDocument/2006/relationships" id="276" r:id="R782719b725ca4b43"/>
    <p:sldId xmlns:r="http://schemas.openxmlformats.org/officeDocument/2006/relationships" id="277" r:id="R16738511bd1e4588"/>
    <p:sldId xmlns:r="http://schemas.openxmlformats.org/officeDocument/2006/relationships" id="278" r:id="Rd38071b5881d4b80"/>
    <p:sldId xmlns:r="http://schemas.openxmlformats.org/officeDocument/2006/relationships" id="279" r:id="R5a17792440cc4950"/>
    <p:sldId xmlns:r="http://schemas.openxmlformats.org/officeDocument/2006/relationships" id="280" r:id="R6b43521095634d05"/>
    <p:sldId xmlns:r="http://schemas.openxmlformats.org/officeDocument/2006/relationships" id="281" r:id="R0f720052f19047c9"/>
    <p:sldId xmlns:r="http://schemas.openxmlformats.org/officeDocument/2006/relationships" id="282" r:id="R313277e7cf9c4785"/>
    <p:sldId xmlns:r="http://schemas.openxmlformats.org/officeDocument/2006/relationships" id="283" r:id="R8e237ebf721f444a"/>
    <p:sldId xmlns:r="http://schemas.openxmlformats.org/officeDocument/2006/relationships" id="284" r:id="Rfbb792110d84416b"/>
    <p:sldId xmlns:r="http://schemas.openxmlformats.org/officeDocument/2006/relationships" id="285" r:id="R3c2724ec63db4f0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0dd168cb48453e" /><Relationship Type="http://schemas.openxmlformats.org/officeDocument/2006/relationships/theme" Target="/ppt/theme/theme1.xml" Id="R17d0095d1c9f45bb" /><Relationship Type="http://schemas.openxmlformats.org/officeDocument/2006/relationships/notesMaster" Target="/ppt/notesMasters/notesMaster1.xml" Id="R3b489dac95d14f6d" /><Relationship Type="http://schemas.openxmlformats.org/officeDocument/2006/relationships/presProps" Target="/ppt/presProps.xml" Id="R82aa056ffc854303" /><Relationship Type="http://schemas.openxmlformats.org/officeDocument/2006/relationships/viewProps" Target="/ppt/viewProps.xml" Id="R075b0736639c49b1" /><Relationship Type="http://schemas.openxmlformats.org/officeDocument/2006/relationships/tableStyles" Target="/ppt/tableStyles.xml" Id="Ra2a53bc87a9c4c86" /><Relationship Type="http://schemas.openxmlformats.org/officeDocument/2006/relationships/slide" Target="/ppt/slides/slide1.xml" Id="R9d05e21889934f30" /><Relationship Type="http://schemas.openxmlformats.org/officeDocument/2006/relationships/slide" Target="/ppt/slides/slide2.xml" Id="R5134698ebdef4ee6" /><Relationship Type="http://schemas.openxmlformats.org/officeDocument/2006/relationships/slide" Target="/ppt/slides/slide3.xml" Id="Rcf2fce30a4df4d00" /><Relationship Type="http://schemas.openxmlformats.org/officeDocument/2006/relationships/slide" Target="/ppt/slides/slide4.xml" Id="R5fbc3cfb97d146d3" /><Relationship Type="http://schemas.openxmlformats.org/officeDocument/2006/relationships/slide" Target="/ppt/slides/slide5.xml" Id="Rc43ff0fc9b4945a0" /><Relationship Type="http://schemas.openxmlformats.org/officeDocument/2006/relationships/slide" Target="/ppt/slides/slide6.xml" Id="Rc21a1b0a244a4732" /><Relationship Type="http://schemas.openxmlformats.org/officeDocument/2006/relationships/slide" Target="/ppt/slides/slide7.xml" Id="Rcaae133fa8544061" /><Relationship Type="http://schemas.openxmlformats.org/officeDocument/2006/relationships/slide" Target="/ppt/slides/slide8.xml" Id="R8c18479650864188" /><Relationship Type="http://schemas.openxmlformats.org/officeDocument/2006/relationships/slide" Target="/ppt/slides/slide9.xml" Id="Rc963ab3096504394" /><Relationship Type="http://schemas.openxmlformats.org/officeDocument/2006/relationships/slide" Target="/ppt/slides/slide10.xml" Id="Rbd0fc32145a64298" /><Relationship Type="http://schemas.openxmlformats.org/officeDocument/2006/relationships/slide" Target="/ppt/slides/slide11.xml" Id="R30632696a6b948f1" /><Relationship Type="http://schemas.openxmlformats.org/officeDocument/2006/relationships/slide" Target="/ppt/slides/slide12.xml" Id="Rec2d83cf04604065" /><Relationship Type="http://schemas.openxmlformats.org/officeDocument/2006/relationships/slide" Target="/ppt/slides/slide13.xml" Id="Rcc240adb012649a8" /><Relationship Type="http://schemas.openxmlformats.org/officeDocument/2006/relationships/slide" Target="/ppt/slides/slide14.xml" Id="R3a96cef2d46f4996" /><Relationship Type="http://schemas.openxmlformats.org/officeDocument/2006/relationships/slide" Target="/ppt/slides/slide15.xml" Id="Rcacfa05c5bb74935" /><Relationship Type="http://schemas.openxmlformats.org/officeDocument/2006/relationships/slide" Target="/ppt/slides/slide16.xml" Id="R8bf7eec5d8c744c5" /><Relationship Type="http://schemas.openxmlformats.org/officeDocument/2006/relationships/slide" Target="/ppt/slides/slide17.xml" Id="R071c10bf29e9469d" /><Relationship Type="http://schemas.openxmlformats.org/officeDocument/2006/relationships/slide" Target="/ppt/slides/slide18.xml" Id="R93918865633b474c" /><Relationship Type="http://schemas.openxmlformats.org/officeDocument/2006/relationships/slide" Target="/ppt/slides/slide19.xml" Id="R070ddf23055d4a6e" /><Relationship Type="http://schemas.openxmlformats.org/officeDocument/2006/relationships/slide" Target="/ppt/slides/slide20.xml" Id="Re9007450dde94513" /><Relationship Type="http://schemas.openxmlformats.org/officeDocument/2006/relationships/slide" Target="/ppt/slides/slide21.xml" Id="R782719b725ca4b43" /><Relationship Type="http://schemas.openxmlformats.org/officeDocument/2006/relationships/slide" Target="/ppt/slides/slide22.xml" Id="R16738511bd1e4588" /><Relationship Type="http://schemas.openxmlformats.org/officeDocument/2006/relationships/slide" Target="/ppt/slides/slide23.xml" Id="Rd38071b5881d4b80" /><Relationship Type="http://schemas.openxmlformats.org/officeDocument/2006/relationships/slide" Target="/ppt/slides/slide24.xml" Id="R5a17792440cc4950" /><Relationship Type="http://schemas.openxmlformats.org/officeDocument/2006/relationships/slide" Target="/ppt/slides/slide25.xml" Id="R6b43521095634d05" /><Relationship Type="http://schemas.openxmlformats.org/officeDocument/2006/relationships/slide" Target="/ppt/slides/slide26.xml" Id="R0f720052f19047c9" /><Relationship Type="http://schemas.openxmlformats.org/officeDocument/2006/relationships/slide" Target="/ppt/slides/slide27.xml" Id="R313277e7cf9c4785" /><Relationship Type="http://schemas.openxmlformats.org/officeDocument/2006/relationships/slide" Target="/ppt/slides/slide28.xml" Id="R8e237ebf721f444a" /><Relationship Type="http://schemas.openxmlformats.org/officeDocument/2006/relationships/slide" Target="/ppt/slides/slide29.xml" Id="Rfbb792110d84416b" /><Relationship Type="http://schemas.openxmlformats.org/officeDocument/2006/relationships/slide" Target="/ppt/slides/slide30.xml" Id="R3c2724ec63db4f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bb73e75c81e4a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6a2c7a61d3462b" /><Relationship Type="http://schemas.openxmlformats.org/officeDocument/2006/relationships/notesMaster" Target="/ppt/notesMasters/notesMaster1.xml" Id="Rb3f63748e6ac40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5eecfb5bd94456" /><Relationship Type="http://schemas.openxmlformats.org/officeDocument/2006/relationships/notesMaster" Target="/ppt/notesMasters/notesMaster1.xml" Id="Ra19a6f078b054e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f36e84ed6f4bd6" /><Relationship Type="http://schemas.openxmlformats.org/officeDocument/2006/relationships/notesMaster" Target="/ppt/notesMasters/notesMaster1.xml" Id="R6a7517f8184045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9dd712eb7a4909" /><Relationship Type="http://schemas.openxmlformats.org/officeDocument/2006/relationships/notesMaster" Target="/ppt/notesMasters/notesMaster1.xml" Id="Re2a937efafe944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90f67ed10d4ec4" /><Relationship Type="http://schemas.openxmlformats.org/officeDocument/2006/relationships/notesMaster" Target="/ppt/notesMasters/notesMaster1.xml" Id="Rb5fc4ca8cfd941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e70da695024afa" /><Relationship Type="http://schemas.openxmlformats.org/officeDocument/2006/relationships/notesMaster" Target="/ppt/notesMasters/notesMaster1.xml" Id="R820dc27e14354d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95081a79814522" /><Relationship Type="http://schemas.openxmlformats.org/officeDocument/2006/relationships/notesMaster" Target="/ppt/notesMasters/notesMaster1.xml" Id="R69ed758cfbf74d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a0f80e362544137" /><Relationship Type="http://schemas.openxmlformats.org/officeDocument/2006/relationships/notesMaster" Target="/ppt/notesMasters/notesMaster1.xml" Id="R84f86e2411d747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7befd0cfb2441c" /><Relationship Type="http://schemas.openxmlformats.org/officeDocument/2006/relationships/notesMaster" Target="/ppt/notesMasters/notesMaster1.xml" Id="Rcbb5db5ea974491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b294a0aa7f441b" /><Relationship Type="http://schemas.openxmlformats.org/officeDocument/2006/relationships/notesMaster" Target="/ppt/notesMasters/notesMaster1.xml" Id="R61aebb726a13482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18c810cc07f41df" /><Relationship Type="http://schemas.openxmlformats.org/officeDocument/2006/relationships/notesMaster" Target="/ppt/notesMasters/notesMaster1.xml" Id="R99adeaa9582c4b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da27675a854e69" /><Relationship Type="http://schemas.openxmlformats.org/officeDocument/2006/relationships/notesMaster" Target="/ppt/notesMasters/notesMaster1.xml" Id="Rc10b7d1a1def4b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d7743c7906a428b" /><Relationship Type="http://schemas.openxmlformats.org/officeDocument/2006/relationships/notesMaster" Target="/ppt/notesMasters/notesMaster1.xml" Id="Re05494727cc34e7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9cb1b5b3ad841b2" /><Relationship Type="http://schemas.openxmlformats.org/officeDocument/2006/relationships/notesMaster" Target="/ppt/notesMasters/notesMaster1.xml" Id="Rb212959214cb485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23bd1a1905c48a6" /><Relationship Type="http://schemas.openxmlformats.org/officeDocument/2006/relationships/notesMaster" Target="/ppt/notesMasters/notesMaster1.xml" Id="R2cd731122aca48e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74894779c6f481b" /><Relationship Type="http://schemas.openxmlformats.org/officeDocument/2006/relationships/notesMaster" Target="/ppt/notesMasters/notesMaster1.xml" Id="R84768bf8c05648f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c56205638e648a8" /><Relationship Type="http://schemas.openxmlformats.org/officeDocument/2006/relationships/notesMaster" Target="/ppt/notesMasters/notesMaster1.xml" Id="R14ace432b93148d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fcd36411c4f4abb" /><Relationship Type="http://schemas.openxmlformats.org/officeDocument/2006/relationships/notesMaster" Target="/ppt/notesMasters/notesMaster1.xml" Id="R7cf15d6507ae41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b20b4e8ed924b5d" /><Relationship Type="http://schemas.openxmlformats.org/officeDocument/2006/relationships/notesMaster" Target="/ppt/notesMasters/notesMaster1.xml" Id="Rb53f241371fd4b5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1f95bb024c24980" /><Relationship Type="http://schemas.openxmlformats.org/officeDocument/2006/relationships/notesMaster" Target="/ppt/notesMasters/notesMaster1.xml" Id="R9bb20fb4766247c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f89a696a7374496" /><Relationship Type="http://schemas.openxmlformats.org/officeDocument/2006/relationships/notesMaster" Target="/ppt/notesMasters/notesMaster1.xml" Id="R143e49ec32d84ae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2741d55315049e3" /><Relationship Type="http://schemas.openxmlformats.org/officeDocument/2006/relationships/notesMaster" Target="/ppt/notesMasters/notesMaster1.xml" Id="Rddd97f93ea004c3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92a0be036254a66" /><Relationship Type="http://schemas.openxmlformats.org/officeDocument/2006/relationships/notesMaster" Target="/ppt/notesMasters/notesMaster1.xml" Id="R3f6e42bd7bd4485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75f2b171da044f0" /><Relationship Type="http://schemas.openxmlformats.org/officeDocument/2006/relationships/notesMaster" Target="/ppt/notesMasters/notesMaster1.xml" Id="R0d225f2589744fe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384a4868b7843cb" /><Relationship Type="http://schemas.openxmlformats.org/officeDocument/2006/relationships/notesMaster" Target="/ppt/notesMasters/notesMaster1.xml" Id="Re31055dab97c4d3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a1953db5ab24edd" /><Relationship Type="http://schemas.openxmlformats.org/officeDocument/2006/relationships/notesMaster" Target="/ppt/notesMasters/notesMaster1.xml" Id="R2036ebe63c924a7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472525e9b094070" /><Relationship Type="http://schemas.openxmlformats.org/officeDocument/2006/relationships/notesMaster" Target="/ppt/notesMasters/notesMaster1.xml" Id="R3aa2c6f2f5cd4c8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6572d1875fa4789" /><Relationship Type="http://schemas.openxmlformats.org/officeDocument/2006/relationships/notesMaster" Target="/ppt/notesMasters/notesMaster1.xml" Id="Rf7f3aaa09617444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ebf88f072f341b3" /><Relationship Type="http://schemas.openxmlformats.org/officeDocument/2006/relationships/notesMaster" Target="/ppt/notesMasters/notesMaster1.xml" Id="R33899da1581b4cc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dfdeeac66424017" /><Relationship Type="http://schemas.openxmlformats.org/officeDocument/2006/relationships/notesMaster" Target="/ppt/notesMasters/notesMaster1.xml" Id="Rcf6ce2a5aa5949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8bc4c7ac354a1c" /></Relationships>
</file>

<file path=ppt/slideLayouts/slideLayout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 1">
            <a:extLst xmlns:a="http://schemas.openxmlformats.org/drawingml/2006/main">
              <a:ext uri="{FF2B5EF4-FFF2-40B4-BE49-F238E27FC236}">
                <a16:creationId xmlns:a16="http://schemas.microsoft.com/office/drawing/2014/main" id="{C375C9C4-A553-40BE-9547-A301280E7032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B43CAE6E-4C38-4D1E-8730-EFF1517FB48A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85DC9AD-018D-40CA-A6D8-34E504BDE8FA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CD502A0-457D-42A7-B3A7-99A4B0E106C1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C64DB-28BF-4CE3-AFC9-2D673C483414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71e2404064094" /><Relationship Type="http://schemas.openxmlformats.org/officeDocument/2006/relationships/theme" Target="/ppt/theme/theme1.xml" Id="R3afac0b7fdf64db2" /><Relationship Type="http://schemas.openxmlformats.org/officeDocument/2006/relationships/slideLayout" Target="/ppt/slideLayouts/slideLayout2.xml" Id="R546b3983cb244f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ADE5BD-3AAD-4483-AF95-2FC2200A13DD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8" r:id="Rcba71e2404064094"/>
    <p:sldLayoutId xmlns:r="http://schemas.openxmlformats.org/officeDocument/2006/relationships" id="2147483649" r:id="R546b3983cb244f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96bc30c2d4caa" /><Relationship Type="http://schemas.openxmlformats.org/officeDocument/2006/relationships/notesSlide" Target="/ppt/notesSlides/notesSlide1.xml" Id="Rd63f79ac15584b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b8e303c3b4966" /><Relationship Type="http://schemas.openxmlformats.org/officeDocument/2006/relationships/notesSlide" Target="/ppt/notesSlides/notesSlide2.xml" Id="R3f447ce4efca48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00e8a39974d17" /><Relationship Type="http://schemas.openxmlformats.org/officeDocument/2006/relationships/notesSlide" Target="/ppt/notesSlides/notesSlide3.xml" Id="Re845d30a216a44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c55d4264745f1" /><Relationship Type="http://schemas.openxmlformats.org/officeDocument/2006/relationships/notesSlide" Target="/ppt/notesSlides/notesSlide4.xml" Id="R05b13526cee84f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147ac37e445a3" /><Relationship Type="http://schemas.openxmlformats.org/officeDocument/2006/relationships/notesSlide" Target="/ppt/notesSlides/notesSlide5.xml" Id="Re9e50f4cf9bc45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0b2494cea0444e" /><Relationship Type="http://schemas.openxmlformats.org/officeDocument/2006/relationships/notesSlide" Target="/ppt/notesSlides/notesSlide6.xml" Id="R545a51f046ac4d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34d5e9b3c44cb" /><Relationship Type="http://schemas.openxmlformats.org/officeDocument/2006/relationships/notesSlide" Target="/ppt/notesSlides/notesSlide7.xml" Id="R4cc7f4f76a6141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0afc88be346ec" /><Relationship Type="http://schemas.openxmlformats.org/officeDocument/2006/relationships/notesSlide" Target="/ppt/notesSlides/notesSlide8.xml" Id="R7e09f04a081447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0152f90f0488d" /><Relationship Type="http://schemas.openxmlformats.org/officeDocument/2006/relationships/notesSlide" Target="/ppt/notesSlides/notesSlide9.xml" Id="R6f6ceb98f7804df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5b5383dad4f71" /><Relationship Type="http://schemas.openxmlformats.org/officeDocument/2006/relationships/notesSlide" Target="/ppt/notesSlides/notesSlide10.xml" Id="R90198d90b4ba4b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bbcb37d5347f1" /><Relationship Type="http://schemas.openxmlformats.org/officeDocument/2006/relationships/notesSlide" Target="/ppt/notesSlides/notesSlide11.xml" Id="Rb36fac8cd19642e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e5ab0c1d04eb5" /><Relationship Type="http://schemas.openxmlformats.org/officeDocument/2006/relationships/notesSlide" Target="/ppt/notesSlides/notesSlide12.xml" Id="Ra971f6696bdf48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35c9c7f9a49a6" /><Relationship Type="http://schemas.openxmlformats.org/officeDocument/2006/relationships/notesSlide" Target="/ppt/notesSlides/notesSlide13.xml" Id="R1715f0d92b3d47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7f12e91504ab9" /><Relationship Type="http://schemas.openxmlformats.org/officeDocument/2006/relationships/notesSlide" Target="/ppt/notesSlides/notesSlide14.xml" Id="Rab47fab7b1aa4bb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182c91638040d5" /><Relationship Type="http://schemas.openxmlformats.org/officeDocument/2006/relationships/notesSlide" Target="/ppt/notesSlides/notesSlide15.xml" Id="Rec3d21adae0444a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255ea02fd45d7" /><Relationship Type="http://schemas.openxmlformats.org/officeDocument/2006/relationships/notesSlide" Target="/ppt/notesSlides/notesSlide16.xml" Id="Rfcba129b91b94ba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7837c98f5407a" /><Relationship Type="http://schemas.openxmlformats.org/officeDocument/2006/relationships/notesSlide" Target="/ppt/notesSlides/notesSlide17.xml" Id="Ree58289da807456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b242899514fb7" /><Relationship Type="http://schemas.openxmlformats.org/officeDocument/2006/relationships/notesSlide" Target="/ppt/notesSlides/notesSlide18.xml" Id="Rcf311915640a47a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1978c99f04875" /><Relationship Type="http://schemas.openxmlformats.org/officeDocument/2006/relationships/notesSlide" Target="/ppt/notesSlides/notesSlide19.xml" Id="R2e5b387bfa0f47a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f8224e8db4cc4" /><Relationship Type="http://schemas.openxmlformats.org/officeDocument/2006/relationships/notesSlide" Target="/ppt/notesSlides/notesSlide20.xml" Id="Rad99526b3a5441e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65ccf1cdd471f" /><Relationship Type="http://schemas.openxmlformats.org/officeDocument/2006/relationships/notesSlide" Target="/ppt/notesSlides/notesSlide21.xml" Id="R338e12613987486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a3f495d1b4632" /><Relationship Type="http://schemas.openxmlformats.org/officeDocument/2006/relationships/notesSlide" Target="/ppt/notesSlides/notesSlide22.xml" Id="R01d0f52d6a104bb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e31cb6f244f4b" /><Relationship Type="http://schemas.openxmlformats.org/officeDocument/2006/relationships/notesSlide" Target="/ppt/notesSlides/notesSlide23.xml" Id="R0115f5150146412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c5a7749b244f1c" /><Relationship Type="http://schemas.openxmlformats.org/officeDocument/2006/relationships/notesSlide" Target="/ppt/notesSlides/notesSlide24.xml" Id="Ra23c2c7455a7484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481f8daf747a7" /><Relationship Type="http://schemas.openxmlformats.org/officeDocument/2006/relationships/notesSlide" Target="/ppt/notesSlides/notesSlide25.xml" Id="R90ac118077ea49e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5c1c27e4b64ee8" /><Relationship Type="http://schemas.openxmlformats.org/officeDocument/2006/relationships/notesSlide" Target="/ppt/notesSlides/notesSlide26.xml" Id="R8891c5dbfe1d4cc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428c5f6c94d55" /><Relationship Type="http://schemas.openxmlformats.org/officeDocument/2006/relationships/notesSlide" Target="/ppt/notesSlides/notesSlide27.xml" Id="R1b279fe6d67c473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4480e12b440fb" /><Relationship Type="http://schemas.openxmlformats.org/officeDocument/2006/relationships/notesSlide" Target="/ppt/notesSlides/notesSlide28.xml" Id="Rc07410e0da4c4cd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04515ca1c4611" /><Relationship Type="http://schemas.openxmlformats.org/officeDocument/2006/relationships/notesSlide" Target="/ppt/notesSlides/notesSlide29.xml" Id="R92ca448b3a8449f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7b6f87e5c4213" /><Relationship Type="http://schemas.openxmlformats.org/officeDocument/2006/relationships/notesSlide" Target="/ppt/notesSlides/notesSlide30.xml" Id="R079a6441f0ad454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2FB442-C1FE-4EF7-B2EE-3D3E5E8E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3689A-97D2-4514-A866-16124B5C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Appendix: Method Foundations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DC684-D15A-4E0D-87D5-D40E067C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1066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5A834"/>
                </a:solidFill>
                <a:latin typeface="Aptos"/>
                <a:ea typeface="Aptos"/>
                <a:cs typeface="Aptos"/>
              </a:rPr>
              <a:t>Bastani (2021)  ·  Tian &amp; Feng (2023)  ·  Kennedy (2023)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EA053-5E3C-4446-94DE-26A47962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0"/>
            <a:ext cx="1066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These slides explain the sparse correction mechanism underlying our estimator pipeline.</a:t>
            </a:r>
          </a:p>
        </p:txBody>
      </p:sp>
    </p:spTree>
    <p:extLst>
      <p:ext uri="{BB962C8B-B14F-4D97-AF65-F5344CB8AC3E}">
        <p14:creationId xmlns:p14="http://schemas.microsoft.com/office/powerpoint/2010/main" val="106413765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EC32F7-419E-41D4-86AA-89EF7FFB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Bastani (2021): Predicting with Proxies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20A969-A701-4D96-9E99-53A5922A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BASTANI (2021) — Management Science 67(5), pp. 2964–2984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EB36CC-6A53-4DA8-8CA7-055D8C28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1D3451-A157-4045-B4D0-0C7ADF6E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A two-step LASSO estimator combining abundant proxy data with scarce gold labels. Achieves minimax rate scaling with bias sparsity s, not dimension 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B172F-0B51-489A-B535-2F968579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219450" cy="323850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070D02-8280-4195-9D2E-772C6F77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219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90CA8-3FC8-4A7A-A557-F0EA6BB5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Proxy (source)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4C9B25-60B6-4CAB-AB0C-A3EAA36E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9527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Large n_proxy, small σ_proxy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Abundant data → tight estimate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BUT: centered at wrong β*_proxy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y_proxy = xᵀ β*_proxy + 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81194-E497-43FC-9FCB-B5EA9B0E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3219450" cy="323850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DF664F-7BEE-4D47-8F09-B7D4A7F0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3219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5D485-BB6C-4238-A47A-7846446A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2885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Gold (target)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95B003-90F4-462C-938A-F817B5E6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9527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Small n_gold, large σ_gold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Scarce data → wide uncertainty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BUT: centered at truth β*_gold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y_gold = xᵀ β*_gold + 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1A0E8D-0EFA-4581-AE91-B46FADA4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95500"/>
            <a:ext cx="3219450" cy="323850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B0DD44-377C-4232-9F95-FF272E45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95500"/>
            <a:ext cx="3219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5F3760-7EA4-4D6E-BB45-215EC025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2885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Key decomposition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D52B4-1F56-4BD4-9F6F-71BE16FC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33650"/>
            <a:ext cx="29527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β*_gold = β*_proxy + δ*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||δ*||_0 = s (sparse bias)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Only s of d features drive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the proxy-to-gold gap</a:t>
            </a:r>
          </a:p>
        </p:txBody>
      </p:sp>
    </p:spTree>
    <p:extLst>
      <p:ext uri="{BB962C8B-B14F-4D97-AF65-F5344CB8AC3E}">
        <p14:creationId xmlns:p14="http://schemas.microsoft.com/office/powerpoint/2010/main" val="17750542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0FCAB-3CD3-490A-8AF2-D0387267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Formal model: shared features, sparse correction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FB16B-D1CB-4598-A6E2-583719EA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BASTANI (2021) —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2BC15A-6FBC-42CB-A34D-0DF5E9A0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1606E-8610-4FF1-97FC-CC377446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5143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0AC82-17F8-4729-B618-C02BAB5E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52575"/>
            <a:ext cx="487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Data-generating processes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4E125-5FF1-41F1-9F36-05A17F7C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62125"/>
            <a:ext cx="487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y_gold  = xᵀ β*_gold  + ε_gold   (ε ~ σ_gold-subgaussian)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y_proxy = xᵀ β*_proxy + ε_proxy  (ε ~ σ_proxy-subgaussian)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Same features x ∈ R^d for both tasks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26FF4-A65A-494D-BCAA-FB5548E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5143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672BE-DDA5-4399-8C4D-EB33972F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95575"/>
            <a:ext cx="487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Structural decomposition (key)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9C171A-A479-477B-A7AE-66328021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05125"/>
            <a:ext cx="487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β*_gold = β*_proxy + δ*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||δ*||_0 = s  (only s coordinates differ)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ED922-12E4-4055-88EF-29709D23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76375"/>
            <a:ext cx="4381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F8EA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F7BE8C-2FCA-4F06-84F9-42572287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76375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B8D13-26C1-431F-9ED8-9B4C5A33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4114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Proxy and gold tasks share the same feature space x ∈ R^d but have different regression coefficients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CC53C-B602-413A-82B9-2A4A19DA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28875"/>
            <a:ext cx="4381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D5A8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C7FFE8-2038-4DF4-8F83-A5AC1CE2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28875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9F92B0-085D-4E59-A6F4-E35D27B7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4125"/>
            <a:ext cx="4114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δ* is the sparse correction — only s of d features drive the gap between proxy and gold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1D2D5E-8177-4D08-9589-F211D45F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81375"/>
            <a:ext cx="4381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4D7D97-62D1-434F-A864-8CC783F5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81375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803319-EB77-4665-8A9D-529D502E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76625"/>
            <a:ext cx="4114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Neither β*_gold nor β*_proxy needs to be sparse — only their DIFFERENCE δ* is assumed sparse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D31427-2ED8-46E1-AC43-D3C06A21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1082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F40397-3D5E-4FA4-9955-E31451DF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10820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B15F9C-2127-4849-ABF8-98A64C4D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62475"/>
            <a:ext cx="10553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we need (3 assumptions)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33EC6-5AB3-412D-B34C-6BD928EC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67275"/>
            <a:ext cx="10553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1. Sparse bias: ||δ*||_0 = s &lt;&lt; d   2. Proxy invertibility: Σ_proxy ⪰ ψI (mild, n_proxy large)   3. Compatibility condition on gold design matrix restricted to supp(δ*) — weaker than requiring Σ_gold ⪱ 0</a:t>
            </a:r>
          </a:p>
        </p:txBody>
      </p:sp>
    </p:spTree>
    <p:extLst>
      <p:ext uri="{BB962C8B-B14F-4D97-AF65-F5344CB8AC3E}">
        <p14:creationId xmlns:p14="http://schemas.microsoft.com/office/powerpoint/2010/main" val="122601317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0D37C2-711B-4E77-8F00-768AC6C0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The joint estimator: two-step LASSO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B7A0F-CCB4-42A4-92AA-D248B18A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BASTANI (2021) — Algorithm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A4DEA-EADD-4DF0-8C52-A5B8EB74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631E5-B393-4E4D-878F-80A9D5FB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82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Two steps: estimate proxy with all proxy data, then debias using only gold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5B5AB-BF1A-43FE-BC2D-6AA52B34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5048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6F8EA4">
              <a:alpha val="13333"/>
            </a:srgbClr>
          </a:solidFill>
          <a:ln xmlns:a="http://schemas.openxmlformats.org/drawingml/2006/main" w="14288">
            <a:solidFill>
              <a:srgbClr val="6F8EA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C3B8A3-E9A8-4C7D-B8D5-C724AA1A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1DC52-5093-4C5F-A441-6AFDFA1F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924050"/>
            <a:ext cx="4419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Proxy OLS (use all proxy data)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CE2806-6542-47A6-8B9D-5B06E0C1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4819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β̂_proxy = argmin_β { (1/n_proxy) ||Y_proxy - X_proxy β||^2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Converges to β*_proxy with rate O_p(d·σ_proxy / √n_proxy)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Requires only n_proxy &gt;&gt; 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5D566-0431-409E-B347-6550AB6F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50482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5A834">
              <a:alpha val="13333"/>
            </a:srgbClr>
          </a:solidFill>
          <a:ln xmlns:a="http://schemas.openxmlformats.org/drawingml/2006/main" w="14288">
            <a:solidFill>
              <a:srgbClr val="D5A8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B44D16-4FAD-425F-A0A6-A64E5F28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E51CBA-8A6C-46ED-893D-C160FDC4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4419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Debiasing LASSO (gold data only)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F065AF-FD38-46CB-98F9-3F615ECE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48196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δ̂ = argmin_δ { (1/n_gold) ||Y_gold - X_gold(δ + β̂_proxy)||^2 + λ||δ||_1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β̂_joint = δ̂ + β̂_proxy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λ chosen by cross-validation on gold data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Requires only n_gold &gt;&gt; s^2 (not d^2)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305AF-48C9-48ED-BE13-4EBC9845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28800"/>
            <a:ext cx="54102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8D0007-7356-48FD-BD91-4838369D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288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63633-C0FB-4F84-9F20-9D5F18D7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5143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Reparameterization insight: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Step 2 is LASSO on the residual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(Y_gold - X_gold·β̂_proxy), recovering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sparse correction δ*. Gold data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is used only to identify which s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features need adjustment.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E32B76-FBC7-4636-A5A7-AF88D30E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81350"/>
            <a:ext cx="54102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F8EA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E9795C-E8CD-4F9A-8044-22F27AB4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813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C28E3-472E-4223-9027-34817A0A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76600"/>
            <a:ext cx="5143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Only β̂_proxy (a d-dimensional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vector) needs to be shared from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Step 1 to Step 2. Raw proxy data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need not be shared — important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for privacy in federated clinical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trial settings.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0F1594-94B1-49D1-975C-D664932B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33900"/>
            <a:ext cx="54102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DC3629-D58E-47FF-970D-6E05172A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61010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First-stage noise flows through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8A62BB-D27B-4CFC-8BD2-A9F036E6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19650"/>
            <a:ext cx="5143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ν = β̂_proxy - β*_proxy  (small when n_proxy large)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δ̄ = δ* - ν = β*_gold - β̂_proxy  (approx. sparse)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Lasso tail bounds hold for approx. sparse targets</a:t>
            </a:r>
          </a:p>
        </p:txBody>
      </p:sp>
    </p:spTree>
    <p:extLst>
      <p:ext uri="{BB962C8B-B14F-4D97-AF65-F5344CB8AC3E}">
        <p14:creationId xmlns:p14="http://schemas.microsoft.com/office/powerpoint/2010/main" val="212405925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3876A3-545F-4A80-BA1C-D92F63C9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Main result: bias sparsity s replaces dimension 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605A3D-48D3-47CF-B8AA-8FFF748E7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BASTANI (2021) — Theorem (Corollary 1)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75404-2B62-4E92-A7D0-7CA6B06C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8F589-D253-477A-BA1F-F1065667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820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Expected ℓ₁ estimation error, sup over problem parameters: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8792E-950E-4B15-BF73-29357578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7DDDF9-F4E5-41A5-A1E8-54BAB7D2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Corollary 1 — Joint estimator rate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23F2CF-6848-4352-8CE8-7939B55C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81200"/>
            <a:ext cx="10553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R(β̂_joint, β*_gold) = O( max{ s·σ_gold·log(d·n_gold)/√n_gold,   s·d·σ_proxy·log(d·n_proxy)/√n_proxy } 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A0434B-B79C-46F4-91D0-1037DAD2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>
              <a:alpha val="13333"/>
            </a:srgbClr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50D77-6DE1-4431-9E27-FAEF07AA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Estimator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F9A444-7773-4BDB-8A6F-28857051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86050"/>
            <a:ext cx="381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ℓ₁ Error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1FFB03-03E2-4429-A6C3-18CEEE4F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86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Uses sparsity?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408ABC-C7D0-47EA-BDBA-CCB8D862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51377C-63DB-4174-829F-6B6733A3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Gold OLS (n_gold only)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90B15B-D1D1-41D5-873B-CA42172B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05150"/>
            <a:ext cx="381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d·σ_gold / √n_gold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44B61-C479-4AEE-A21A-03616656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051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B0F57B-2CE7-46B3-ACBC-AC8F35F6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558902-CB6F-4FDB-A833-91E6436B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Model averaging / weighted loss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582DC6-0128-44B7-9706-A54D12D5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24250"/>
            <a:ext cx="381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min(d·σ/√n_gold, ||δ*||_1 + d·σ/√n_proxy)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0764FC-83EB-4D88-8DA1-AD49FD80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242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625F18-EB34-4E76-82A1-A22B92FE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>
              <a:alpha val="13333"/>
            </a:srgbClr>
          </a:solidFill>
          <a:ln xmlns:a="http://schemas.openxmlformats.org/drawingml/2006/main" w="14288">
            <a:solidFill>
              <a:srgbClr val="7B8F7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92DB1C-A71B-4987-B3E7-60447C36B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Joint estimator (Bastani)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060B32-2082-4E5E-A8A5-BA6CE7A9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43350"/>
            <a:ext cx="381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B8F70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B8F70"/>
                </a:solidFill>
                <a:latin typeface="Courier New"/>
                <a:ea typeface="Courier New"/>
                <a:cs typeface="Courier New"/>
              </a:rPr>
              <a:t>s·σ·log(d) / √n_gold  [s &lt;&lt; d]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74B4EE-B2C0-4D61-9EDF-FFF92853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433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B8F7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B8F70"/>
                </a:solidFill>
                <a:latin typeface="Aptos"/>
                <a:ea typeface="Aptos"/>
                <a:cs typeface="Aptos"/>
              </a:rPr>
              <a:t>YES 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AF3221-009B-4275-A9B2-FC0FCF0A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0820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B5AD8F-972D-4606-A70A-F5133189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47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1FDC07-4C23-445E-B96F-521F6703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38650"/>
            <a:ext cx="10553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Interpretation: model averaging and weighted loss cannot exploit the sparse structure in δ* — they interpolate on the full d-dimensional parameter space and are provably stuck at the d/√n rate. The joint estimator targets δ* directly, needing gold data only for s dimensions.</a:t>
            </a:r>
          </a:p>
        </p:txBody>
      </p:sp>
    </p:spTree>
    <p:extLst>
      <p:ext uri="{BB962C8B-B14F-4D97-AF65-F5344CB8AC3E}">
        <p14:creationId xmlns:p14="http://schemas.microsoft.com/office/powerpoint/2010/main" val="15004505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E462E6-E838-4DD4-AE88-FF0910F6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When the proxy-gold correction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3FCD5-139C-4F73-AFFA-DB7444E9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BASTANI (2021) — Conditions and failure modes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D3896A-880B-4FC5-9823-C079D6A1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DFB7B-2341-4B5C-A8BE-74FFBCEB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5143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56F58-ACA1-4126-B30B-DE9AA2F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939974-7830-41DD-B7A2-6DF7C07F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487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✓ Transfer helps when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8E0BC-200F-4051-BC58-54497EB6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85950"/>
            <a:ext cx="48768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1. Sparse bias: s &lt;&lt; d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   Few features drive the proxy-gold gap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2. Abundant proxy: n_proxy &gt;&gt; s²d² σ²_proxy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   Step 1 accurately estimates β*_proxy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3. Compatibility on gold design: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   Σ_gold satisfies compatibility on supp(δ*)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   [weaker than requiring Σ_gold ⪱ 0]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3D7C3E-5D08-4D14-8C58-52C29535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5143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A56FAB-105E-4457-A117-7233E737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5B50C6-5120-43B0-8906-C2744C6F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76700"/>
            <a:ext cx="487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✗ Transfer does not help when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79F8B1-A107-4013-836D-84DBE943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0"/>
            <a:ext cx="4876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1. Dense bias (s ~ d):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   Joint estimator ≈ gold-only OLS; no gain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2. Proxy too noisy (σ_proxy large, n_proxy small):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   First-stage error ν dominates; δ̄ not sparse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3. Gold design degenerate on supp(δ*):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   Compatibility fails; δ* not identifiable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B3465-7038-4E44-9343-07AEAC26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47800"/>
            <a:ext cx="43624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F8EA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A3E373-4138-41AE-B3BF-01A447CF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478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F4D134-4D12-48F0-8A22-01910D5D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43050"/>
            <a:ext cx="4095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Sample complexity gap: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Gold-only methods: n_gold = O(d² σ²/ξ²)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Joint estimator: n_gold = O(s² σ² log²(d)/ξ²)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Exponentially smaller in d when s &lt;&lt; 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137E3A-8483-43FF-B415-D572F5C9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05100"/>
            <a:ext cx="43624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04DCBB-10C6-4841-9B79-DA68F8F9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813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Optimal lambda (Corollary 1)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531876-3FB7-4720-81A1-1B8AE4C6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90850"/>
            <a:ext cx="409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λ* = Õ(σ_gold/√n_gold + d·σ_proxy/√n_proxy)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In practice: cross-validate on gold 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D2E71A-4C4C-4172-93C8-9546B857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76650"/>
            <a:ext cx="43624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D5A8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E53FC9-B8B2-4820-87EB-87D61BA4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766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D9642-B750-4DE2-BDF6-224E0341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71900"/>
            <a:ext cx="4095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Privacy-friendly: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Only β̂_proxy (Step 1 output) is shared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between sites. Raw proxy data stays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local. Works in federated healthcare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settings with data-sharing restrictions.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ADB7B7-3D6A-4031-95E1-EF4DD6A4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33950"/>
            <a:ext cx="43624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5605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6E8ADB-2A6C-42D5-ACEE-AA69DDA2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33950"/>
            <a:ext cx="47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60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704DD1-1672-419E-809C-259CF780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29200"/>
            <a:ext cx="4095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Extensions (§4.5):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Generalizes to any M-estimator with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convex loss (logistic, Poisson, etc.) with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identical rate using strong convexity of A</a:t>
            </a:r>
          </a:p>
        </p:txBody>
      </p:sp>
    </p:spTree>
    <p:extLst>
      <p:ext uri="{BB962C8B-B14F-4D97-AF65-F5344CB8AC3E}">
        <p14:creationId xmlns:p14="http://schemas.microsoft.com/office/powerpoint/2010/main" val="60158260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32DAE2-2DEA-43BC-AA2C-71601343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How Bastani maps to our estimator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94C111-3406-490C-843D-0729E685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BASTANI (2021) — Connection to our paper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E7D20-81D9-4EBF-8074-3D80E488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FEB94-B9D5-4365-94E9-0713B929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820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Our sparse correction step IS Bastani's Eq. (2): debiasing LASSO on target placebo residuals, centered at the source-site proxy estimate.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E0E44-75C1-46B3-B9A3-E59F6F96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590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Bastani (2021) formulation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BF56B5-6CF9-4AFC-B468-A63F6590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05000"/>
            <a:ext cx="426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Our paper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6F12C-DB7E-4198-B8F0-041618A6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66900"/>
            <a:ext cx="190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3E829D-1863-4267-9DBD-1F634873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28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7DE76-4B97-4BDC-88EB-BC46447E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247900"/>
            <a:ext cx="4438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34A85B-98E7-4F33-BAA4-D338BDFB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617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Proxy: β*_proxy (source regression coeff.)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B56C41-AD1D-4B08-B22C-34AB775B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2410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μ̂₀^proxy(x)  — source-trial outcome model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77BE0-33BC-4960-8B90-A575F3F1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28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E85A5-22AB-4E09-8E33-7172FE24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686050"/>
            <a:ext cx="4438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57372F-D97C-48A9-87A9-C8F32E63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617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Gold: β*_gold (target regression coeff.)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906B30-D0A1-45A4-AF77-14DD1150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6225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μ₀(x) — true target baseline 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4FE012-1AD5-4A77-A2F3-6EC8E843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628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F89EF3-4FE9-4F93-AC78-ADB111BD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24200"/>
            <a:ext cx="4438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5B59D9-FF17-4387-AF2C-9DC29DCD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617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Sparse correction: δ* = β*_gold − β*_proxy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C53A1F-8ADE-4AA7-9092-E22D8E83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0040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Sparse covariate-shift correction under A5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B052DF-908A-4D23-8127-BCB6B384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628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212210-CB52-41AF-8F79-B2FBBA49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562350"/>
            <a:ext cx="4438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7D3FBA-BE09-4B53-B531-8BB9C08D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617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Compatibility condition (gold design)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2C2576-295F-4DCF-9335-E8EB84C0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3855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Assumption A5: sparse local shift identifiable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7E5BD5-ABDE-46C4-B28D-2FA55560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628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5E46D4-7A6D-4E89-B668-A706DC1E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00500"/>
            <a:ext cx="4438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647744-23B6-40EC-BABF-1D5C4A88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617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δ̂ = argmin ||Y_gold − X_gold(δ + β̂_proxy)||^2 + λ||δ||_1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31FB16-289F-4E6E-8067-976E7A4C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7670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Our Eq. (4): sparse correction of baseline risk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24E6BD-BD3E-48D2-B09D-EF027D6B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628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0B7FBC-AAF0-45C0-BF58-6CDF87E6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4438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1A781A-3C72-46BA-80A6-7FFA7257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617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β̂_joint = δ̂ + β̂_proxy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1EC817-D7C9-4943-B207-91716041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1485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μ̂₀^anchor(x) = δ̂ + μ̂₀^proxy(x)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530E0A-3CDB-4C51-A4F0-29772C6E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8A002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81BBB8-1A75-422A-9C00-B6AFE26B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ED7D72-6839-460D-9D66-CFFBEE2D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553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Key difference: our setting adds a DR learner on top of the corrected baseline risk estimate. Bastani's β̂_joint gives μ̂₀^anchor(x). We then form pseudo-outcomes ψ_i = μ̂₁(x_i) − μ̂₀^anchor(x_i) + IPW residual and fit CATE τ̂(x) = E[ψ|x]. Bastani provides the first-stage foundation.</a:t>
            </a:r>
          </a:p>
        </p:txBody>
      </p:sp>
    </p:spTree>
    <p:extLst>
      <p:ext uri="{BB962C8B-B14F-4D97-AF65-F5344CB8AC3E}">
        <p14:creationId xmlns:p14="http://schemas.microsoft.com/office/powerpoint/2010/main" val="193910734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0FB4FD-449D-4882-A628-8CD6F154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Beyond one proxy: K sources with unknown similarity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C7F6A-F839-4BA2-B29F-A7E6A999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BASTANI (2021) → TIAN &amp; FENG (2023)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C86748-DB82-4252-A805-2BC63982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30D2CD-3DD3-4946-A2C8-26BED63D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5143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A742E-0F58-491C-9298-C0DE4220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AA2B06-1DF3-49F3-9048-0CBF2210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487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Bastani covers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7AF90-C0A0-49D3-B252-CF414772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85950"/>
            <a:ext cx="48768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One proxy source dataset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Linear model (extended to GLMs in §4.5)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Oracle knowledge of which source to use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Sparse bias in ℓ₀ sense: ||δ*||_0 = 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E9CC7-8130-48B0-AF00-D9A74EB6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51435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8B1D65-ACB2-487E-9A30-5EDEF2E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B16CF1-630D-4B70-BF07-8F9C2445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487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Bastani does NOT cover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13227C-8AC7-4536-A14D-5042DA47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48768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Multiple source datasets (K &gt; 1)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Which sources are informative when h varies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Negative transfer when bad sources are pooled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Minimax lower bounds (optimality certificate)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Valid confidence intervals for inference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ℓ₁-sparse contrast (more general than ℓ₀)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0EF114-C00D-4C83-AEF2-D78805AA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47800"/>
            <a:ext cx="4381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F8EA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8ED56D-F195-4756-A9CF-BD3B80DD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47800"/>
            <a:ext cx="47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C2ECEF-E7B8-4B4F-88C5-91AD5D67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43050"/>
            <a:ext cx="41148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Clinical trials have K source studies, each with possibly different patient populations. Some sources are close to the target (small h = ||β_target − w^(k)||_1), others are far (negative transfer). We need: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1. A method that pools ONLY informative sources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2. Data-driven selection of which k ∈ A_h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3. Minimax optimality over the class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→ Tian &amp; Feng (2023) addresses all three.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B0141-CC81-4678-9231-F35C8811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810250"/>
            <a:ext cx="5715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→ See next section: Tian &amp; Feng (2023)</a:t>
            </a:r>
          </a:p>
        </p:txBody>
      </p:sp>
    </p:spTree>
    <p:extLst>
      <p:ext uri="{BB962C8B-B14F-4D97-AF65-F5344CB8AC3E}">
        <p14:creationId xmlns:p14="http://schemas.microsoft.com/office/powerpoint/2010/main" val="173591690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F911A3-8181-4C8D-85F5-95D23D49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Tian &amp; Feng (2023): Transfer Learning under High-dimensional GLMs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52A2C9-E184-474F-B508-E151E996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TIAN &amp; FENG (2023) — JASA 118(544), pp. 2684–2697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0B2628-DAEE-4A7E-A6D1-849EFB44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FEE5F6-F56B-4F94-BBA0-C07B912D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Extends Bastani to K source datasets, any GLM, with data-driven source selection and minimax-optimal rates.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18869-3D55-4732-8025-F1E8384D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400300" cy="30480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4085B2-85E6-404A-9065-E4A9C674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101EAE-82BE-48FB-9118-965899A0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2133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K sources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1B3C30-D1BA-4D57-89FA-D1085012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1336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Any number of source datasets {(X^(k),y^(k))}^K_{k=1}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Each with possibly different w^(k)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F4AEC-BBDA-4CC3-AD2E-3A01C169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400300" cy="30480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C168BC-A79B-4D4D-90AC-B69C2F8F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3CC476-181F-4003-B987-FE0CAA6E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28850"/>
            <a:ext cx="2133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Any GLM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3D4EDE-CB6A-4620-BF6E-7158B531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33650"/>
            <a:ext cx="21336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Linear, logistic, Poisson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y^(k)|x ~ exp{y·xᵀw^(k) − ψ(xᵀw^(k))}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36DF1-E96C-4017-9D8E-E6AD18AA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95500"/>
            <a:ext cx="2400300" cy="30480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766235-EE06-4A13-A500-A00D8873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9550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DDB6E4-2A84-41E9-9130-D671E77F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28850"/>
            <a:ext cx="2133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Auto-selection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56EDA-9204-41D4-BD8A-77B2BBA6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33650"/>
            <a:ext cx="21336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Cross-validation detects A_h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(informative sources)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No oracle knowledge required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7C7731-B9A5-4008-804F-613AC963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95500"/>
            <a:ext cx="2400300" cy="30480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3002EB-9B8F-485D-A6C6-952CC4B1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9550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7DE4F5-2748-4818-81D3-0C2AE1E7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28850"/>
            <a:ext cx="2133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Minimax optimal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BF107C-98CC-46FC-ADCA-A70CC9C4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1336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Rate is tight: lower bound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matches upper bound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+ confidence intervals</a:t>
            </a:r>
          </a:p>
        </p:txBody>
      </p:sp>
    </p:spTree>
    <p:extLst>
      <p:ext uri="{BB962C8B-B14F-4D97-AF65-F5344CB8AC3E}">
        <p14:creationId xmlns:p14="http://schemas.microsoft.com/office/powerpoint/2010/main" val="55426391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57F461-2CE1-470B-9847-83FE2001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Setup: K source GLMs + 1 target in high dimension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4533A0-F12A-464E-A0E6-FC656E86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TIAN &amp; FENG (2023) —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12013-33C0-41FE-AE0F-BE01DE3C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12DE4-0D8D-4973-97F5-6CB4D260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5524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0132B9-1277-42E9-9D71-90EC4125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525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GLM model (k = 0, 1, ..., K)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62FCF6-C8D3-4B97-BED9-E59B90E0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52578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y^(k)|x ~ ρ(y) exp{ y·xᵀ w^(k) − ψ(xᵀ w^(k))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Target: β = w^(0) ∈ R^p,  ||β||_0 = s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High-dimensional: n_0 &lt;&lt; p,  n_k &lt;&lt; 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9F6A43-2C70-4B38-8358-2AE16B0A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552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4B886-2AFF-4B42-8D54-F77D55C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525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Contrast and transferring level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71E009-5F75-4BE8-9049-79CF493B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525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δ^(k) = β − w^(k)     (contrast of source k from target)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||δ^(k)||_1 = h_k      (transferring level of source k)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A_h = { k : ||δ^(k)||_1 ≤ h }   (informative set)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95AC1F-080D-44A2-BD4A-A4BB3802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552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BE7451-10E9-4140-845F-CB5A7E78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48100"/>
            <a:ext cx="525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Effective sample size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508C45-93C8-4456-8E53-1617A5FE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525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n_{A_h} = Σ_{k ∈ A_h} n_k     (total informative samples)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K_{A_h} = |A_h|               (number of informative sources)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546000-4B75-4F99-8107-69887C14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447800"/>
            <a:ext cx="4953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F8EA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3D8F31-7C40-416D-B5D4-2A987211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4478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00B383-4903-4F8B-A683-46A41A69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543050"/>
            <a:ext cx="4686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High-dimensional regime: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n_0 &lt;&lt; p — classical MLE fails.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Baseline is Lasso with rate O(s√(log p/n_0)).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Transfer replaces n_0 by n_{A_h} + n_0.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F07E4D-90E5-463D-84D8-FFF7964A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19350"/>
            <a:ext cx="4953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D5A8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AE9506-CDCA-4DF7-BEF2-A8E2536D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19350"/>
            <a:ext cx="47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3E5AB5-1047-4F23-8973-79620A0C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514600"/>
            <a:ext cx="46863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ℓ₁ vs ℓ₀ contrast sparsity: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Tian &amp; Feng use ||δ^(k)||_1 ≤ h (ℓ₁).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Bastani uses ||δ*||_0 = s (ℓ₀).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ℓ₁ allows the contrast to be diffusely small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across many coords, not exactly zero on 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EA7C76-202F-49B6-B5E1-761FFEB0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486150"/>
            <a:ext cx="49530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22775A-6B69-4823-AEBD-095FB95C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4861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345B53-FB56-4029-9EAF-817A9FD9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81400"/>
            <a:ext cx="46863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Two sparsity conditions: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1. Target sparsity: ||β||_0 = s (needed to identify β with Lasso)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2. Contrast sparsity: ||δ^(k)||_1 ≤ h (needed for debiasing step to work)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These are independent: β can have sparse support while δ^(k) is diffusely small.</a:t>
            </a:r>
          </a:p>
        </p:txBody>
      </p:sp>
    </p:spTree>
    <p:extLst>
      <p:ext uri="{BB962C8B-B14F-4D97-AF65-F5344CB8AC3E}">
        <p14:creationId xmlns:p14="http://schemas.microsoft.com/office/powerpoint/2010/main" val="118438707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A6FB9D-AE97-4080-A832-2EB89E3E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A-Trans-GLM: two-step algorithm with known A_h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6650D4-DE4E-45CB-A3F4-E28AC370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TIAN &amp; FENG (2023) — Algorithm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CCDDC8-BD85-4086-8308-CB21EEF4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5F9FF-45AB-4D47-BC4B-4DE97C3D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5524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6F8EA4">
              <a:alpha val="13333"/>
            </a:srgbClr>
          </a:solidFill>
          <a:ln xmlns:a="http://schemas.openxmlformats.org/drawingml/2006/main" w="14288">
            <a:solidFill>
              <a:srgbClr val="6F8EA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F6DAE-443A-427C-BC49-7D77CBC1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430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069113-8C8F-4F43-9FD3-77C4CAB8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43050"/>
            <a:ext cx="489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Pooled Lasso (Step 1 — use all informative data)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98247-87F7-4429-B63A-9B01D66F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66900"/>
            <a:ext cx="52959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ŵ^A = argmin_w { (1/(n_A+n_0)) Σ_{k ∈ {0}∪A} L_k(w) + λ_w||w||_1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L_k(w) = -(y^(k))ᵀ X^(k)w + Σ_i ψ(wᵀ x_i^(k))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λ_w = C_w √(log p / (n_{A_h} + n_0))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340C7F-BF42-4073-8EE7-0FCD599A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5524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D5A834">
              <a:alpha val="13333"/>
            </a:srgbClr>
          </a:solidFill>
          <a:ln xmlns:a="http://schemas.openxmlformats.org/drawingml/2006/main" w="14288">
            <a:solidFill>
              <a:srgbClr val="D5A8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16552F-AB25-414E-BB46-0F7A01D9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FFBDC5-D0D5-40C2-882D-F5A9E659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71850"/>
            <a:ext cx="489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Debiasing Lasso (Step 2 — target data only)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FCB293-724D-4FDC-A58B-A7B37DA5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95700"/>
            <a:ext cx="52959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δ̂^A = argmin_δ { -(1/n_0)(y^(0))ᵀ X^(0)(ŵ^A + δ) + (1/n_0) Σ_i ψ((ŵ^A+δ)ᵀ x_i^(0)) + λ_δ||δ||_1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λ_δ = C_δ √(log p / n_0)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CE102F-EDAC-4EE4-8ECC-CAF91607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552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9078D1-12B6-47FD-8D22-6CB9C933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81600"/>
            <a:ext cx="525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531ED7-9DC0-4DEB-934B-5DF755EB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91150"/>
            <a:ext cx="525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β̂ = ŵ^A + δ̂^A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DE613-B5A2-4219-997C-B2B2B361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44780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F8EA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2445C2-24C9-4965-BAD2-458932B9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4478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CCF50A-1659-4E79-9022-FE25B091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543050"/>
            <a:ext cx="46863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Step 1 intuition: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Pool all n_{A_h} + n_0 observations.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This gives a biased but low-variance estimate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ŵ^A ≈ weighted mixture of {w^(k)}_{k∈A}.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larger n_{A_h}, the lower the variance.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7E6ACC-85B3-407E-A75C-C3D67289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0510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D5A8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3A5A4F-E18F-484D-A127-25792777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051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755A85-9D9A-4074-87B8-B22D7CE3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0350"/>
            <a:ext cx="46863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Step 2 intuition: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Correct the bias introduced by pooling.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Target data alone estimates δ = β − ŵ^A.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Since ||δ||_1 ≤ h (small), this needs only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n_0 observations. Requires h &lt;&lt; √(log p/n_0).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AB8F69-A528-4FAC-9106-7E88EFFF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962400"/>
            <a:ext cx="4953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AF7C69-CA6D-4A20-8370-5B94251A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96240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BBE466-3EB5-44D5-AC6D-D2C72C54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57650"/>
            <a:ext cx="4686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Same structure as Bastani: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Step 1 = proxy estimation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Step 2 = debiasing LASSO on target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Difference: Step 1 pools K sources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instead of 1, and uses GLM loss.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B033FD-3838-4553-8F4C-ACEEDB43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124450"/>
            <a:ext cx="4953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5605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6C8BC2-B266-4A7F-8498-904C3AE6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1244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60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0E210F-7E4E-4CF4-B51D-9EC139E2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219700"/>
            <a:ext cx="4686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Penalty scales: λ_w uses combined n_{A_h}+n_0 (more data → smaller regularization). λ_δ uses only n_0 (target-only estimation of contrast).</a:t>
            </a:r>
          </a:p>
        </p:txBody>
      </p:sp>
    </p:spTree>
    <p:extLst>
      <p:ext uri="{BB962C8B-B14F-4D97-AF65-F5344CB8AC3E}">
        <p14:creationId xmlns:p14="http://schemas.microsoft.com/office/powerpoint/2010/main" val="214739127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744C61-C12F-4509-9637-46FA88A9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Trans-GLM: data-driven detection of informative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BC195-B586-48A6-B406-0F34821F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TIAN &amp; FENG (2023) — Algorithm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9A88DC-5CC5-43F5-8125-2C866F3C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03C52-D7B6-455A-A8D6-3DED0079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8A002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B443B-3A7B-439B-8484-8793F8AB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76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36B4B-6E49-4A1C-8F0D-0AEA3AFE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43050"/>
            <a:ext cx="10553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Problem: A_h is unknown in practice. We cannot observe ||β − w^(k)||_1 without knowing β. Algorithm 2 detects informative sources using cross-validation on the TARGET data only.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7F3A55-0627-445C-8E12-A5CAE608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2385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6F8EA4">
              <a:alpha val="13333"/>
            </a:srgbClr>
          </a:solidFill>
          <a:ln xmlns:a="http://schemas.openxmlformats.org/drawingml/2006/main" w="14288">
            <a:solidFill>
              <a:srgbClr val="6F8EA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2DFD7E-ADB5-4D12-9D03-7669EA40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7E491D-2C5E-4AC3-B783-27625C00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90750"/>
            <a:ext cx="2609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CV for each 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1DBFA-2E01-45FD-96A7-9379E26A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14600"/>
            <a:ext cx="30099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For each source k and fold r: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• Fit pooled model using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{source k} + {2 target folds}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• Evaluate CV loss on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held-out target fold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• Compute mean CV loss L̂₀^(k)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E90784-811F-49D7-BE31-3AA4533A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95500"/>
            <a:ext cx="32385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5A834">
              <a:alpha val="13333"/>
            </a:srgbClr>
          </a:solidFill>
          <a:ln xmlns:a="http://schemas.openxmlformats.org/drawingml/2006/main" w="14288">
            <a:solidFill>
              <a:srgbClr val="D5A8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DAEDD0-3C56-4DAC-86B8-E7A47AE7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907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10ED2-03CA-4163-BEAE-50C90A89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190750"/>
            <a:ext cx="2609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Compare to target-only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400C96-D548-4A59-8901-A6EAC25E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14600"/>
            <a:ext cx="30099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Fit target-only Lasso: L̂₀^(0)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Estimate noise σ̂ from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cross-validated residuals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Include source k if: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L̂₀^(k) − L̂₀^(0) ≤ C₀·σ̂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(CV loss not worse than target)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D955C6-D47A-4A8E-AEA8-431DD792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95500"/>
            <a:ext cx="37338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7B8F70">
              <a:alpha val="13333"/>
            </a:srgbClr>
          </a:solidFill>
          <a:ln xmlns:a="http://schemas.openxmlformats.org/drawingml/2006/main" w="14288">
            <a:solidFill>
              <a:srgbClr val="7B8F7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7D4406-47EC-42C0-A9EC-9EE5F024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907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B8F7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8F7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2C18DB-18FC-47B1-A209-E56C84AE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105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B8F7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7B8F70"/>
                </a:solidFill>
                <a:latin typeface="Aptos"/>
                <a:ea typeface="Aptos"/>
                <a:cs typeface="Aptos"/>
              </a:rPr>
              <a:t>Run A-Trans-GLM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1C2E43-51BD-43E1-9FD3-A8A48AA7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14600"/>
            <a:ext cx="3505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Â = { k : L̂₀^(k) − L̂₀^(0) ≤ threshold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Run Algorithm 1 with Â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instead of oracle A_h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Theorem 4: Â = A_h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with high probability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40F3F-B934-4E38-8D43-58EECD49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5143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4C658A-8EA2-4F23-9459-1FC83B29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CEFA25-DF39-409F-B5C8-6D525C9F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487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Theorem 4 — Detection consistency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F1364B-FE5C-4309-91D0-944108C6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91050"/>
            <a:ext cx="4876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Under identifiability (Assumption 5) and sufficient sample sizes: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P(Â = A_h) ≥ 1 − 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Auto-detection is asymptotically exact.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50E2F9-E527-4B98-A7C6-2339D30E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53149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1BFB9C-C29E-474A-A44E-27E1125F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5314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FD6699-7CE1-4376-B23E-DB85F8FD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86250"/>
            <a:ext cx="504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R package: glmtrans (CRAN)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B462AE-3251-4E17-A90E-9742B190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91050"/>
            <a:ext cx="50482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Implements all three algorithms: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A-Trans-GLM (oracle, known A_h)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Trans-GLM (auto-detection via CV)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Confidence intervals (Theorem 5)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Install: install.packages('glmtrans')</a:t>
            </a:r>
          </a:p>
        </p:txBody>
      </p:sp>
    </p:spTree>
    <p:extLst>
      <p:ext uri="{BB962C8B-B14F-4D97-AF65-F5344CB8AC3E}">
        <p14:creationId xmlns:p14="http://schemas.microsoft.com/office/powerpoint/2010/main" val="182784529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92D017-DF8F-463C-A665-08591777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Main theorem: transfer replaces n₀ by n_{A_h} + n₀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38D9F-8A87-45AF-9DD0-A190403E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TIAN &amp; FENG (2023) — Theorem 1 + 2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4FB6D-FCAE-4DAB-A8FD-D632FE00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895C0F-723F-4C96-A34F-7707A432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51F57-7B96-4AEE-B163-C7762D0D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Theorem 1 (upper bound) — ℓ₁ estimation error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14CE89-EC2F-49EC-8768-CFC145CF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10553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||β̂ − β||_1 ≲ s · √(log p / (n_{A_h} + n_0)) + h        [with prob. ≥ 1 − n_0^{-1}]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Two terms: (1) variance term — improves with more data; (2) bias term h — controlled when h &lt;&lt; √(log p / n_0)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00661-7536-4596-9D9A-3C70EF00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08204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FAF7E-0FC0-403B-939A-10BE2E1A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Naive Lasso baseline (no transfer)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EE837B-A873-447E-A555-DC9AAE5A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10553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||β̂_Lasso − β||_1 = O_p( s · √(log p / n_0) )    [slower — only n_0 in denominator]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20BB46-4471-42FC-B7D5-13EC72B3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8204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673D99-931A-45B4-BAC4-3F6AEB84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Theorem 2 (lower bound — minimax optimal)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5EE3FA-030F-4DFA-BC40-0C138347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10553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inf_{β̂} sup P(||β̂−β||_1 ≥ c·s·√(log p/(n_{A_h}+n_0))) ≥ 1/2  →  A-Trans-GLM is rate-optimal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A2155D-1B10-423F-9C58-1CF7838B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8204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692468-FDB8-4785-860F-909F105C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18ADE0-E753-428F-A3A8-292801A3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10553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Transfer benefit condition: h &lt;&lt; √(log p / n_0)  AND  n_{A_h} &gt;&gt; n_0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When both hold: denominator (n_{A_h} + n_0) &gt;&gt; n_0 → first term shrinks → huge improvement over Lasso.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bias term h vanishes when sources are very close to target.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77614C-C776-4031-8F03-7F18F119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5143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0C3093-1489-479A-900F-38FDFCA5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8344FC-2D8C-4AC7-A28E-4D5146A0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14900"/>
            <a:ext cx="487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Rate comparison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2368D-873B-4A11-B745-921379DD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4876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h → 0, n_{A_h} → ∞: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Tian &amp; Feng: O(s√(log p / n_{A_h}))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Naive Lasso:  O(s√(log p / n_0))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Ratio improvement: √(n_{A_h}/n_0)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5A4F6F-F5E2-4313-8F9F-B0531518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1550"/>
            <a:ext cx="5314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FC314B-E47A-479F-9989-9811CF7F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1550"/>
            <a:ext cx="5314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D82B6F-A4A8-4B30-AA0F-B0B1BEA0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504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Confidence intervals (Theorem 5)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D8BE7A-70AF-4819-9EE3-0D94CDD1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19700"/>
            <a:ext cx="504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Desparsified estimator b: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√n_0 (b_j − β_j)/σ̂_j → N(0,1)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Valid CIs even in high dimension.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Implemented in glmtrans.</a:t>
            </a:r>
          </a:p>
        </p:txBody>
      </p:sp>
    </p:spTree>
    <p:extLst>
      <p:ext uri="{BB962C8B-B14F-4D97-AF65-F5344CB8AC3E}">
        <p14:creationId xmlns:p14="http://schemas.microsoft.com/office/powerpoint/2010/main" val="153923675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546384-41F5-4AC8-9E98-6D845312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Negative transfer: uninformative sources hurt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3A087-4116-430B-B675-9CDAFEC0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TIAN &amp; FENG (2023) — Cautionary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EC7F4-5F8D-4028-B98B-92A72B9A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67FD69-FEE9-44D4-AB94-F5E2CB39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B341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7D701-D027-44F2-BB92-791D1FDE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7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FC0B95-AFA2-41CB-AE18-E6DDE6AE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43050"/>
            <a:ext cx="10553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Naively pooling ALL K sources (including those with large ||δ^(k)||_1 &gt;&gt; h) WORSENS estimation — 'negative transfer'. Use Trans-GLM (Algorithm 2) to avoid this.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F947E-3B7A-4EE4-8E0D-2CEE78DE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5143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9C69EC-397C-4BF7-82C5-65D759B0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C5044-8F0F-4C93-9572-8399EB86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487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goes wrong with naive pooling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D081E-7B68-43C8-80BA-C51C7B7E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48768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If source k has ||δ^(k)||_1 = h_large &gt;&gt; h: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Step 1 pooling bias is O(h_large)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Step 2 debiasing cannot correct large h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  (requires n_0 &gt;&gt; h²/log p, which fails)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Net: bias term dominates → worse than Lasso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Pooled-Trans-GLM (all K sources) can be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MUCH worse than naive Lasso when most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sources are far from the target.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5541B8-FCF1-4464-823C-FC04990F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33600"/>
            <a:ext cx="53149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E7340-257C-415B-A545-E7017994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33600"/>
            <a:ext cx="5314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F59DBD-9DEA-44F8-AAD3-BB0A53D8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504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Trans-GLM solves this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D73C11-58C7-424A-A5C0-658068BD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5048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Algorithm 2 detects and excludes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uninformative sources before pooling.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Key guarantee (Theorem 4):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P(Â = A_h) → 1 as n_0 → 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Result: Trans-GLM is NEVER worse than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target-only Lasso in the limit (safe transfer).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Safe to deploy without knowing h in advance.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8EF0DF-EEF1-4535-A6C5-B6B6C732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0820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279CF2-542E-4C98-9B2E-BFA154F9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Formal negative transfer condition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37EE94-8A13-45A1-B6EB-643ABF04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29200"/>
            <a:ext cx="10553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If k ∉ A_h (i.e., ||δ^(k)||_1 &gt; h) is included in pooling: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||β̂ − β||_1 ≥ c · h_large  (bias-dominated)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This is O(h_large) &gt;&gt; O(s·√(log p/n_0)) for large h_large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→ Naive pooling can be arbitrarily bad; source selection is mandatory</a:t>
            </a:r>
          </a:p>
        </p:txBody>
      </p:sp>
    </p:spTree>
    <p:extLst>
      <p:ext uri="{BB962C8B-B14F-4D97-AF65-F5344CB8AC3E}">
        <p14:creationId xmlns:p14="http://schemas.microsoft.com/office/powerpoint/2010/main" val="125878808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B368CC-5BFF-4E64-A9B3-360D29F0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Bastani (2021) vs Tian &amp; Feng (2023): key differences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CF394-AADB-4BBE-98C5-EFBD0C6D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9AB349-81D3-41E9-BF95-9195FE05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82652-1913-4BAB-B31C-0123428E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>
              <a:alpha val="13333"/>
            </a:srgbClr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8EE60-0596-46A4-87E4-FC44CF98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430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Aspect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3F8F6-40F4-46DB-AA83-152AE187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43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Bastani (2021)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5814BC-D86F-4020-A28B-09DEB483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430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Tian &amp; Feng (2023)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DCB5E-E6A0-4AA2-A93C-86DCD30A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DFE49-4B51-4D03-958E-3FBBC672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6215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3A84FD-92ED-411D-8046-FD2B2DDD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9621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Linear (+ GLM extension §4.5)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5087C-7000-49C2-8B7F-CA44102D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6215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Any GLM as primary focus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9AAC41-CE06-426F-B3DB-6CCE4620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29E072-66BC-4010-99D8-6E89B341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8965C5-B27F-4B5A-A9C5-3C5F0902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574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1 proxy dataset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56C8A4-3BF7-42E1-B26B-0AB2A643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 source datasets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9FAEE3-CC2C-44BE-9C98-399431E9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4459F7-5D46-4A1D-91AB-FA32D91C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Sparsity of contrast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1182DE-3D12-444A-9C74-509FB693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527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ℓ₀: ||δ*||_0 = 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50F2F0-26EC-4F72-BEDF-08E9CB49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5275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ℓ₁: ||δ^(k)||_1 ≤ 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0E0247-9DBA-4E21-A28A-AD04892E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03376E-446B-4686-81EF-75BD5A78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 selection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C971A6-D64C-4605-ACC3-C4AD1D84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480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Oracle (proxy known)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98C46F-8999-4CFC-8FA2-80101D74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4805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Data-driven via CV (Alg. 2)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D9E8E3-C5BA-45C8-8716-401F4DAA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93B121-925A-433F-ACF5-93B49DDD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Optimality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B7BBAF-0D9D-42B0-8748-C2F07620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433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Rate result (Corollary 1)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ACB91D-58BB-456E-BF5C-614B346D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4335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Minimax lower bound (Theorem 2)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F2D988-5C3C-4C9B-B96F-B0957720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745F25-1CB1-4260-8148-A4814083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Inference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AB580B-4DED-41D9-9AAB-1DFC0CDB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4386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Point estimation only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783AC7-7010-4A5E-9C6E-5AD423D2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3865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+ Confidence intervals (Theorem 5)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0890F3-D8F6-4AE0-97D3-4289823B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47856-1BC5-4F6C-B157-E1608439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BA3524-8445-4D4F-B5A7-913E1B7D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10553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Both papers use the same two-step structure: (1) estimate with proxy/source data, (2) debias on target. Tian &amp; Feng extends the scope from 1 source to K, provides minimax optimality, and handles unknown source quality.</a:t>
            </a:r>
          </a:p>
        </p:txBody>
      </p:sp>
    </p:spTree>
    <p:extLst>
      <p:ext uri="{BB962C8B-B14F-4D97-AF65-F5344CB8AC3E}">
        <p14:creationId xmlns:p14="http://schemas.microsoft.com/office/powerpoint/2010/main" val="133647302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EFD2F2-811B-44F9-8804-0410907A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How Tian &amp; Feng maps to our multi-source clinical trial setting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C663C3-4071-4FA0-B92C-16A1AD11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TIAN &amp; FENG (2023) — Connection to our paper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76E3B3-E3F2-435A-9D36-CC8CBB1E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6ECA11-53FC-496A-8951-A9C10086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820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In our paper: K source RCTs, target has placebo only, some sources are close (small h), others far (large h). Tian &amp; Feng provides the foundation for multi-source pooling.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FB6DB-0285-4941-A26E-43646A11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10820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>
              <a:alpha val="13333"/>
            </a:srgbClr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1EEB7-938C-46B2-82AD-8C429E76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Tian &amp; Feng (2023)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CF3B05-8A61-41F0-BDEF-77556808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57375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Our paper (this work)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059C1-E6E9-4790-989E-B4BC75CD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582A85-D100-4F46-9BBA-3F8AFF6D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19325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K source GLMs {(X^(k), y^(k))}_{k=1}^K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DAC3DD-AE70-4EB0-9B26-E9E0B555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19325"/>
            <a:ext cx="514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 source trial IPDs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0CD726-33B7-4FC7-86CB-FDAB13EC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592D5-F413-49A8-A22D-A1FE15CE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76525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Source coefficient w^(k) ∈ R^p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DF678D-04ED-4B9E-828A-A7EA227D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76525"/>
            <a:ext cx="514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Source-site outcome model μ̂₀^(k)(x)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9C0217-D3BC-4546-9DF2-6F59EF81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57525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2E0B01-7FB6-4678-B92A-747ACB16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33725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Target coefficient β = w^(0)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2E419A-D8A2-42F7-98D6-5D169B4E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33725"/>
            <a:ext cx="514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Target baseline risk μ₀(x)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22094A-2A22-4DA0-BADE-C623EA61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417C9F-7951-4D13-9079-84F4E15D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90925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Contrast δ^(k) = β − w^(k)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6CD388-BE7B-474F-B0DF-18E6A2C0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Covariate shift under A5: sparse local shift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13E383-8013-45D1-BC2A-5FD1F002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3F3FD3-785C-46C8-ACA7-38643E92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Transferring set A_h (informative sources)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C116B6-C7BA-46A3-B40E-175B3059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8125"/>
            <a:ext cx="514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Compatible sources satisfying Assumption A6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27F124-B18E-4F55-A589-45F9CCE9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CDFF96-16C1-45E4-BDA4-5897F552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Trans-GLM Step 1: pooled Lasso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F5C764-DF08-4ED6-9FE8-CB3DBBAB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05325"/>
            <a:ext cx="514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 pooling with anchor (sparse correction)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44493A-6BBC-43A4-AA37-A8E899C1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86325"/>
            <a:ext cx="10820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0D5A7D-5C6F-4E47-8627-81CDBDDC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62525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Trans-GLM Step 2: debiasing on target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F898CC-F8BD-434E-BB99-4EB2BF72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62525"/>
            <a:ext cx="514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δ̂ correction: argmin with λ||δ||_1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BC2C39-98E6-4563-8722-5D09A360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8A002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E0C943-6657-41E5-97A3-50E0DA22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DA53B7-235B-4C86-881E-477953F6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86400"/>
            <a:ext cx="10553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Key difference from Tian &amp; Feng: we target individual CATE τ(x) = E[Y(1)−Y(0)|x], not the baseline risk coefficient β. Our DR learner layer (pseudo-outcomes ψ_i = μ̂₁(x_i)−μ̂₀^anchor(x_i)+IPW residual) sits on top of the Tian &amp; Feng foundation. GLM family = logistic regression for binary endpoints, linear regression for continuous.</a:t>
            </a:r>
          </a:p>
        </p:txBody>
      </p:sp>
    </p:spTree>
    <p:extLst>
      <p:ext uri="{BB962C8B-B14F-4D97-AF65-F5344CB8AC3E}">
        <p14:creationId xmlns:p14="http://schemas.microsoft.com/office/powerpoint/2010/main" val="8658757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C38528-9025-4176-A6DA-FB7565A8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Summary: two papers, one estimator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B6A47-5630-409E-B60B-AD1366A6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SUMMARY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D7584-7E56-4E22-B086-1C628E82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B8DB2-981F-4D71-82E0-6662DA62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3219450" cy="419100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096C4-F41A-44C4-B88B-6C38A7D5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3219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DFB5D4-3F1A-496B-B1EA-20CF6D89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Bastani (2021)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570FA-A5E1-49D6-AC59-2DF06631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62150"/>
            <a:ext cx="2952750" cy="3600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Single proxy-gold setup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β*_gold = β*_proxy + δ*, ||δ*||_0 = s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Two-step Lasso: proxy OLS → debiasing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Rate: s·σ/√n_gold (s replaces d)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Powers our sparse correction step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Privacy: share only β̂_proxy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5D3E25-8098-4BFF-B900-182C8A42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3219450" cy="419100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39155-E09F-4091-8679-7B89C6E0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3219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4228C2-875A-48F6-8F53-A1D89611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65735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Tian &amp; Feng (2023)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A5CCD-7936-4909-8188-39CFED0C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962150"/>
            <a:ext cx="2952750" cy="3600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K sources, GLMs, unknown quality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Contrast: ||δ^(k)||_1 ≤ h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Auto-detects A_h via cross-validation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Minimax optimal rates (Theorem 2)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Confidence intervals (Theorem 5)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R: glmtrans on CRAN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04B49E-D9F2-4DAC-A367-538357BE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24000"/>
            <a:ext cx="3219450" cy="419100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8D519C-E2F8-4E6F-98D7-A2FD77A4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24000"/>
            <a:ext cx="3219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C91F41-64D0-49D8-916C-02EA224C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5735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Our estimator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7B4398-95F6-494A-8BBC-B99206FB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62150"/>
            <a:ext cx="2952750" cy="3600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Bastani's correction: μ̂₀^proxy → μ̂₀^anchor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Tian &amp; Feng: K-source GLM extension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DR learner: pseudo-outcomes ψ_i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CATE: τ̂(x) = E[ψ|x]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Connected: Theorem 1 (identified)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Disconnected: Theorem 2 (working model)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5FD0B6-415D-4562-91AF-F1AB3DAB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8204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065CB2-2788-492E-A87A-25E8BE43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847AE6-FF78-4556-999C-A6389C82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81700"/>
            <a:ext cx="10553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full estimator = Tian &amp; Feng baseline risk correction (multi-source GLM pooling with debiasing) + Kennedy (2023) doubly robust CATE learner with cross-fitting. Each layer has its own theoretical guarantee; our paper proves the joint guarantee under Assumptions A1–A6.</a:t>
            </a:r>
          </a:p>
        </p:txBody>
      </p:sp>
    </p:spTree>
    <p:extLst>
      <p:ext uri="{BB962C8B-B14F-4D97-AF65-F5344CB8AC3E}">
        <p14:creationId xmlns:p14="http://schemas.microsoft.com/office/powerpoint/2010/main" val="33285985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39EC16-27F0-439C-9F6E-86BD888D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0D37CC-A740-405A-A7A4-707A59A6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066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Kennedy (2023): Doubly Robust CATE Estimation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533F95-D1AA-42B1-9778-5CA44E1E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1066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5A834"/>
                </a:solidFill>
                <a:latin typeface="Aptos"/>
                <a:ea typeface="Aptos"/>
                <a:cs typeface="Aptos"/>
              </a:rPr>
              <a:t>The final layer: from corrected baseline risk to heterogeneous treatment effects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F0335-1D75-4A1E-8163-9ED5E64B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05200"/>
            <a:ext cx="1066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Kennedy (2023), Electronic Journal of Statistics 17(2): 3008–3049  ·  DOI: 10.1214/23-EJS2157</a:t>
            </a:r>
          </a:p>
        </p:txBody>
      </p:sp>
    </p:spTree>
    <p:extLst>
      <p:ext uri="{BB962C8B-B14F-4D97-AF65-F5344CB8AC3E}">
        <p14:creationId xmlns:p14="http://schemas.microsoft.com/office/powerpoint/2010/main" val="19509484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6723AD-6BEE-4E34-80AD-15C1DD21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Setup: estimating heterogeneous treatment effects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C4080F-39C7-4C81-8714-5C657F26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KENNEDY (2023) — Setup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25DA5F-66D3-43FC-A840-9796146F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16A27-4C7F-4DC9-B8B1-B10A1BCC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Goal: estimate CATE τ(x) = E[Y(1)−Y(0)|X=x] from experimental data using flexible ML for nuisance functions.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1441F-FF34-49F5-87F1-1130B3AE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52959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DCBE6-B79E-425A-A091-7D67F78E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502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Observed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CE6F7D-3E23-40FA-8F93-C2CC1F39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5029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Z_i = (Y_i, A_i, X_i)  i.i.d.  i = 1,...,n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Y_i = outcome,  A_i ∈ {0,1} = treatment assigned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X_i ∈ R^d = pre-treatment covariates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9E588-AAE5-4C79-8AF8-309ECB26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5295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CD4B9-C003-4515-8B5D-81E754B7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14650"/>
            <a:ext cx="502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Target estimand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E23AE3-B3DF-42D8-9EA3-B36F253C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502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τ(x) = E[Y(1) − Y(0) | X = x]     (CATE)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ATE = E[τ(X)],    GATE = E[τ(X) | X ∈ G]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EF13EB-177C-4D1A-8BA4-D9518DE5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53340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8A00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0840E0-2C4B-4424-AA93-DB678DDA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7625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82F949-33D8-4519-BC1F-3B74FC0B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50673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 our clinical trial setting: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• A_i = treatment indicator (active vs. placebo)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• e(x) = P(treated|x) is KNOWN by randomization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• Overlap guaranteed by design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• Unconfoundedness holds by construction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Known propensity removes one estimation step — a structural advantage Kennedy's framework exploits via exact IPW weighting.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127675-4AC3-436A-97FC-D4849395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3238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886DB1-AC47-406B-963D-76DC40D3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B6D410-703E-4A2E-AC62-6C1FAB59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A1: Unconfoundedness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4EE259-FCEE-40B4-9AA9-A9867525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2971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Y(0), Y(1) ⊥ A | 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No unmeasured confounders.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Conditioning on X removes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all treatment assignment bias.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Automatic in RCTs.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5DE1F4-48D2-4A93-91D1-A1C17AC5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619500"/>
            <a:ext cx="3238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B059B0-C334-41D4-803C-2E091C90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61950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ADE26B-A028-464A-A607-81D149F8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7528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A2: Overlap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95DDEF-32AB-46A0-91F8-391E1B22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57650"/>
            <a:ext cx="2971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0 &lt; e(x) &lt; 1  ∀x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e(x) = P(A=1|X=x)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Both arms observed at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every covariate value.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Critical for IPW weighting.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BCD4A7-E292-4820-8DDA-DAB51FE6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9624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921A86-C377-429D-B3C5-3941872A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962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FCB02B-9757-4E2F-840D-DB86C5FC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752850"/>
            <a:ext cx="3695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A3: SUTVA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BE0351-DCE8-4726-B539-33873578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57650"/>
            <a:ext cx="36957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Y_i(a) = Y_i  when A_i = 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No interference between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units. Single version of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treatment. Standard in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individual-level trials.</a:t>
            </a:r>
          </a:p>
        </p:txBody>
      </p:sp>
    </p:spTree>
    <p:extLst>
      <p:ext uri="{BB962C8B-B14F-4D97-AF65-F5344CB8AC3E}">
        <p14:creationId xmlns:p14="http://schemas.microsoft.com/office/powerpoint/2010/main" val="122817987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F426A5-407E-4773-9576-DF65B790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The DR pseudo-outcome: efficient influence function for CATE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7D3AD3-324C-4E88-9CF7-F51BF447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KENNEDY (2023) — Eq. (2.3)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1DDDD7-C19E-4DCD-8EA4-BD151F55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35FA3F-EC1B-455A-84F9-C8A564CE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7CCA7A-97E1-475B-ADB1-176C00C2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DR pseudo-outcome (Kennedy 2023, Eq. 2.3)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8160DC-77E1-4E76-8610-48ED4FF5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10553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φ̂(Z_i) =  (μ̂₁(X_i) − μ̂₀(X_i))   +   A_i(Y_i − μ̂₁(X_i)) / ê(X_i)   −   (1−A_i)(Y_i − μ̂₀(X_i)) / (1−ê(X_i))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         [direct plug-in term]             [treated residual / propensity]         [control residual / (1−propensity)]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6262D-562A-414F-8436-9230FA91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8762C-772A-44CD-A73A-C86C97A5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800B6-0A67-4F0E-8FE1-73971393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Direct term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1CB76E-1236-4B31-B040-683D4914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29718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μ̂₁(x) − μ̂₀(x)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Plug-in outcome model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difference. Fast when μ̂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is close to μ. Biased when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ML models overfit training data.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2B8897-2272-46A0-BB0F-FDC60D45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5270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0E351-F352-4660-B074-FDC1389E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5270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204DC-2C0F-41F1-A6F8-E3424046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86050"/>
            <a:ext cx="2971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Treated IPW residual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9F3C38-FFD4-418D-B03D-3A50FAA5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90850"/>
            <a:ext cx="29718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A_i(Y_i − μ̂₁(X_i)) / ê(X_i)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Residual of treated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observations re-weighted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by propensity.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Corrects bias in direct term.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2AD89F-35BF-4F72-A005-76159A66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52700"/>
            <a:ext cx="39624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5BCF11-6A2A-42E5-9229-0AD304CF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52700"/>
            <a:ext cx="3962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E718B2-A29E-4048-B50B-048CA3DC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86050"/>
            <a:ext cx="3695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Control IPW residual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543E17-7154-4423-A8B1-ED70E5AF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90850"/>
            <a:ext cx="3695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−(1−A_i)(Y_i − μ̂₀(X_i)) / (1−ê(X_i))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Residual of control obs.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weighted by 1−propensity.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Completes double correction.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528817-6C6B-4527-8561-45E99163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F36B58-9B5A-4D24-938C-402774A5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B0A7ED-F081-407D-A124-4C1162D5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5029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Key property: E[φ̂(Z_i) | X_i] = τ(X_i)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pseudo-outcome is an unbiased pointwise proxy for the true CATE at each x — under A1–A3, regardless of how μ̂ and ê are estimated.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18351C-4936-443E-A12C-5894F76F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5334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F8EA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4077BF-9886-4DFA-85A4-E0717C3D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F35250-CB74-4E01-8885-ED100A98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76750"/>
            <a:ext cx="5067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Double robustness: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Consistent if μ̂ correct (direct term dominates)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OR if ê correct (IPW residuals unbiased)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Both wrong → product error: O(||μ̂−μ||·||ê−e||)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6108EB-78EF-4E5C-A69E-87EDFDD3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108204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05A860-AD5C-45CC-AF95-A09117ED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Final CATE estimate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00D938-F97A-4472-9171-89BEEFDB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38800"/>
            <a:ext cx="10553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τ̂(x) = argmin_f  Σᵢ (φ̂(Z_i) − f(X_i))²    →   regress pseudo-outcomes on covariates; f can be any ML estimator</a:t>
            </a:r>
          </a:p>
        </p:txBody>
      </p:sp>
    </p:spTree>
    <p:extLst>
      <p:ext uri="{BB962C8B-B14F-4D97-AF65-F5344CB8AC3E}">
        <p14:creationId xmlns:p14="http://schemas.microsoft.com/office/powerpoint/2010/main" val="47776326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49B1AD-815C-4BF2-A546-AB98D484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Cross-fitting: separating nuisance training from CATE regression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A0EE47-9E66-410B-8EC8-88CF6563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KENNEDY (2023) — Algorithm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EE3883-3D23-4C4B-A727-EE203BD5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8F75C-232F-42DC-B0FD-DB08A6CC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B341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5B5013-DABB-4C0F-8254-75225FEB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4D7B5-20BE-427A-9F89-7FBEABA0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43050"/>
            <a:ext cx="1055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Problem: estimating μ̂ and ê on the same data used to compute φ̂ introduces first-order bias — nuisances 'memorize' training data, inflating pseudo-outcomes. Cross-fitting removes this bias via sample splitting.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96619-50F4-4D29-958F-5080BE11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1051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6F8EA4">
              <a:alpha val="13333"/>
            </a:srgbClr>
          </a:solidFill>
          <a:ln xmlns:a="http://schemas.openxmlformats.org/drawingml/2006/main" w="14288">
            <a:solidFill>
              <a:srgbClr val="6F8EA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0930C8-CEA9-4660-AE0E-212625D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2B74A3-BB72-4026-B7DE-C18DA005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764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Partition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EF5E0B-1F2E-46BC-BEBC-31F9987A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28765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Split {Z_i}ⁿ into K folds: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I₁, I₂, ..., I_K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(K = 3 is standard)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For fold k: use Iₖᶜ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(complement) to train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nuisances, apply on Iₖ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84E61-FF7F-4BD6-B767-0E4AB164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981200"/>
            <a:ext cx="37338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5A834">
              <a:alpha val="13333"/>
            </a:srgbClr>
          </a:solidFill>
          <a:ln xmlns:a="http://schemas.openxmlformats.org/drawingml/2006/main" w="14288">
            <a:solidFill>
              <a:srgbClr val="D5A8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9C687-C0CE-4A4B-866B-C8D0BA77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764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0CD86C-580D-4524-A2DD-85C23B92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76450"/>
            <a:ext cx="3105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Estimate nuisances (out-of-fold)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E08D24-782F-418F-BF8C-43BE02CF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400300"/>
            <a:ext cx="3505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For each fold k ∈ {1,...,K}: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Fit μ̂₁^{−k}(·) on Iₖᶜ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Fit μ̂₀^{−k}(·) on Iₖᶜ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Fit ê^{−k}(·)  on Iₖᶜ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← use any ML method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4DBC6-7120-4039-91A8-2C139C6A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81200"/>
            <a:ext cx="36385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7B8F70">
              <a:alpha val="13333"/>
            </a:srgbClr>
          </a:solidFill>
          <a:ln xmlns:a="http://schemas.openxmlformats.org/drawingml/2006/main" w="14288">
            <a:solidFill>
              <a:srgbClr val="7B8F7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14BB04-5D2A-4BCC-9175-8B682F8C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764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B8F7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8F7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5083A5-8A33-4E9B-A80F-6A4BA1D5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76450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B8F7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7B8F70"/>
                </a:solidFill>
                <a:latin typeface="Aptos"/>
                <a:ea typeface="Aptos"/>
                <a:cs typeface="Aptos"/>
              </a:rPr>
              <a:t>Compute pseudo-outcomes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E046E1-3370-4EF5-82CB-1C134156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0300"/>
            <a:ext cx="3409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For i ∈ I_k (held-out fold):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φ̂_i = (μ̂₁^{-k}(X_i) − μ̂₀^{-k}(X_i))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+ A_i(Y_i−μ̂₁^{-k}(X_i))/ê^{-k}(X_i)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− (1−A_i)(Y_i−μ̂₀^{-k}(X_i))/(1−ê^{-k}(X_i))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09BE2-046B-4160-98D5-58AC21A9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5048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8A0020">
              <a:alpha val="13333"/>
            </a:srgbClr>
          </a:solidFill>
          <a:ln xmlns:a="http://schemas.openxmlformats.org/drawingml/2006/main" w="14288">
            <a:solidFill>
              <a:srgbClr val="8A002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CFE607-4AF8-42DB-BC37-13E15394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883B44-1E9C-460D-A65F-7EFFA438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4419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Final CATE regression (all n obs)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BF974B-67F9-4177-91EB-AAFECB60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19600"/>
            <a:ext cx="48196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τ̂(x) = argmin_f Σᵢ (φ̂_i − f(X_i))²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Choice of f: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• Linear — interpretable coefficients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• Random forest/boosting — flexible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• Lasso — sparse effect modifiers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• In our paper: random forest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0A0477-A8F2-4145-A452-C44145204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00500"/>
            <a:ext cx="56007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65605C">
              <a:alpha val="13333"/>
            </a:srgbClr>
          </a:solidFill>
          <a:ln xmlns:a="http://schemas.openxmlformats.org/drawingml/2006/main" w="14288">
            <a:solidFill>
              <a:srgbClr val="65605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644F7B-B5F2-4653-B45E-1913E39B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957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79989F-7C29-45AC-B544-03637FFE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95750"/>
            <a:ext cx="4972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Optional: Best Linear Projection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0E0BAF-FB3E-4729-9C93-9CE95145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19600"/>
            <a:ext cx="53721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γ̂ = argmin_γ Σᵢ (φ̂_i − γ₀ − γᵀX_i)²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Interpretable summary of CATE heterogeneity.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Wald test on γ_j: does covariate j drive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effect modification?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Our paper: ranking and regret evaluation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8468E4-4C94-4176-9CB5-C5C31429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204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EAE6E8-DA95-489B-B909-4FFC9334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025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Why cross-fitting removes bias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39036A-BDA9-4798-9583-1C542898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19800"/>
            <a:ext cx="1055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φ̂_i is computed from nuisances trained on Iₖᶜ and evaluated on held-out Iₖ → (nuisance, pseudo-outcome) pairs are independent → first-order remainder E[Δμ̂·Δê] ≈ 0</a:t>
            </a:r>
          </a:p>
        </p:txBody>
      </p:sp>
    </p:spTree>
    <p:extLst>
      <p:ext uri="{BB962C8B-B14F-4D97-AF65-F5344CB8AC3E}">
        <p14:creationId xmlns:p14="http://schemas.microsoft.com/office/powerpoint/2010/main" val="6987229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65758C-788B-42F5-A2A1-BCE5C3F8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Main theorem: product error structure and optimal rates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1772B-E7C8-43EA-9C17-DCFFF16C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KENNEDY (2023) — Theorem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9BDE0D-8BE7-4A87-A5FB-BAB28271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2B7F3-AE91-483D-83DA-8597CC0B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F0465-81CF-453D-A956-B932D939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Theorem 2 (Kennedy 2023) — mean-squared error of DR-Learner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C9D08E-BB15-46A8-B000-7B95124D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10553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E||τ̂ − τ||² ≤ C · { ||μ̂₁−μ₁||₂·||ê−e||₂  +  ||μ̂₀−μ₀||₂·||ê−e||₂  +  r_n²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r_n = excess risk of the final regression (depends on smoothness of τ and choice of 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96AB6C-BE2F-4965-8987-EF43B714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5334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8A5AC-63AC-40FF-9973-E20C6B10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533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CAA85D-3E11-465E-B402-2BCE7D62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9850"/>
            <a:ext cx="5067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Optimal rate — β-smooth CATE, dim 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CD2646-C4BD-4979-B8AB-C4CAFE2F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14650"/>
            <a:ext cx="5067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Optimal CATE rate: n^{−2β/(2β+d)}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Nuisance requirement: ||μ̂−μ||₂, ||ê−e||₂ = o(n^{−β/(2β+d)})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DR-Learner achieves oracle CATE rate when nuisances are fast enough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53B3D1-5275-47CF-A584-BFB15C83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529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2765B-29D3-45F5-BBA1-950AFF86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529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ACA981-1D44-431F-AF0C-4F61594D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09850"/>
            <a:ext cx="502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Double robustness in practice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17AFDC-4D89-449A-BD5B-5C5F8DA2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14650"/>
            <a:ext cx="502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Product structure: total error = O(||μ̂−μ||·||ê−e||)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If one nuisance converges at O(n^{−α}), the other at O(n^{−γ}):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bias = O(n^{−α−γ}) — diminishing even for slow estimators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8D4E1A-54AF-473D-8A15-F4A590AB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>
              <a:alpha val="13333"/>
            </a:srgbClr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34AF9D-34DE-45EB-8B00-65500BC9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72E7E-3EA5-4B01-B889-CDBA4D43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Bias structure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B276A1-CF1A-4D70-B8CC-1D68B450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385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Requirement for consistency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B738C7-6EC8-4DB8-A25F-A609AB17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10820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BFDA75-4393-48CF-9988-64BB5287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342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Plug-in (μ̂₁−μ̂₀ only)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F4C1A9-8C4A-402E-A3D3-04E43D71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1955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O(||μ̂₁−μ₁|| + ||μ̂₀−μ₀||)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71EA10-439C-4E4C-9A5E-92357D2B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19550"/>
            <a:ext cx="3238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Both outcome models correct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5BF4D3-ABE8-4441-B3AD-ABACAA31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820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15956F-66B7-4D69-8155-064D7F90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342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IPW-only (no outcome model)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9A2241-0C83-40F4-95B5-5AEED9F8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9580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O(||ê−e|| / e(1−e)²)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36645E-1285-4CF4-9461-0DA642A3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95800"/>
            <a:ext cx="3238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Propensity correct + strong overlap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D96E23-C3CE-4C0D-A66C-04AFBB66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0820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>
              <a:alpha val="13333"/>
            </a:srgbClr>
          </a:solidFill>
          <a:ln xmlns:a="http://schemas.openxmlformats.org/drawingml/2006/main" w="14288">
            <a:solidFill>
              <a:srgbClr val="7B8F7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849BD9-6D0B-436C-BC8B-A3DBDF5F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342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DR-Learner — Kennedy (2023)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5BC972-13EF-43A8-85C3-11DE8C85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7205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O(||μ̂−μ||·||ê−e||)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A7FB50-F893-4D07-B989-83030F152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72050"/>
            <a:ext cx="3238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B8F7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B8F70"/>
                </a:solidFill>
                <a:latin typeface="Aptos"/>
                <a:ea typeface="Aptos"/>
                <a:cs typeface="Aptos"/>
              </a:rPr>
              <a:t>Only ONE nuisance needs to be correct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6904C9-8A34-478E-A1BD-1C809293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2100"/>
            <a:ext cx="108204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FC70FD-0D3F-48D4-B16B-25438400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2100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6FBE19-24AC-4E02-B460-534365AD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67350"/>
            <a:ext cx="10553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RCT bonus: e(x) is KNOWN → ||ê−e||₂ = 0 → bias = 0 regardless of outcome model quality. In our paper, propensity is known by randomization, so the DR-Learner achieves the oracle CATE rate with only the outcome model estimated from data.</a:t>
            </a:r>
          </a:p>
        </p:txBody>
      </p:sp>
    </p:spTree>
    <p:extLst>
      <p:ext uri="{BB962C8B-B14F-4D97-AF65-F5344CB8AC3E}">
        <p14:creationId xmlns:p14="http://schemas.microsoft.com/office/powerpoint/2010/main" val="150480909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E812B2-D08F-4963-A4F3-CDAD83B1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Why it works: Neyman orthogonality and the influence function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D54C55-AA62-4329-9C66-E771A635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KENNEDY (2023) — Theory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E53AC-2C60-4E93-B039-7264A549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A03B5-7559-4114-B6E7-D72ADB9B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DR pseudo-outcome is the efficient influence function (EIF) of the CATE functional — this is what makes cross-fitting and ML nuisances compatible with √n inference on τ.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28EC0B-1747-4E39-BED2-A874B96F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529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54728-D2FC-4AEB-AA10-13066C6A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502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Efficient influence function (EIF)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7682F-E511-4322-B020-F15367C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5029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ψ(Z; τ, e, μ₀, μ₁) = [A/e(X) − (1−A)/(1−e(X))](Y−μ_A(X))  +  [μ₁(X) − μ₀(X) − τ(X)]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φ̂_i = empirical analog with plug-in (μ̂₀, μ̂₁, ê) for (μ₀, μ₁, 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2325D8-1368-402D-B217-25871851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593F8-05A6-440C-A7AC-EA77E02E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502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Neyman orthogonality condition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B1ED73-7020-4AE6-8D44-12D646FE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5029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∂/∂η  E[ψ(Z; τ, η)] |_{η=η₀} = 0     (η = (e, μ₀, μ₁))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First-order sensitivity to nuisance errors vanishes at truth η₀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639AB6-C137-48F5-B5C9-654C8924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53340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F8EA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EBD547-434D-4318-ADBB-FF41A4FD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7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30DE7-264F-4CA9-8172-EDD0D4C8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50673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orthogonality buys: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1. Nuisance errors enter only at SECOND ORDER — O(||Δμ||·||Δê||), not O(||Δμ||)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2. Allows ML nuisances at slow nonparametric rates while τ̂ achieves √n consistency on smooth CATE subproblems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3. Enables valid inference on τ without Donsker conditions on nuisance function classes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6ED4F8-E292-41BC-9C56-7B61A367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435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2E09D6-BFE3-4416-8CF2-A594F1F5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FAEDBB-D6D4-4758-985E-DD944564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29050"/>
            <a:ext cx="487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Without orthogonality (naive plug-in)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E8B5F8-DE97-433A-B685-4FD06883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33850"/>
            <a:ext cx="48768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τ̂_plugin(x) = μ̂₁(x) − μ̂₀(x)  directly: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Bias = E[μ̂₁−μ₁] − E[μ̂₀−μ₀]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This is O(||μ̂−μ||) — FIRST-ORDER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If ||μ̂−μ|| = n^{-1/4}, bias = n^{-1/4}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  &gt;&gt; n^{-1/2} threshold for √n-consistency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No √n rate without exact model spec.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80092A-9E3D-4F13-BCF8-BA21CE3E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95700"/>
            <a:ext cx="54864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EE6470-E8BD-441E-8FC1-F2F7383B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95700"/>
            <a:ext cx="548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1D1E62-5230-433E-A04C-1C78DB51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829050"/>
            <a:ext cx="5219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With orthogonality (DR pseudo-outcome)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2589A8-FEA5-453F-885A-ACABF5A5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33850"/>
            <a:ext cx="52197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Using φ̂_i with cross-fitting: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Bias = O(||μ̂−μ||·||ê−e||) — SECOND-ORDER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If ||μ̂−μ|| = ||ê−e|| = n^{-1/4}: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  bias = n^{-1/2} ✓ (√n-consistent)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RCT: ê = e known → bias = 0 exactly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Flexible ML for nuisances → valid inference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D35E98-581E-4917-B047-C969BE86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8A00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BC777-7CB0-4BA7-B16F-8D1CE43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B71F1C-E65B-4D20-A250-84E843C5E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53100"/>
            <a:ext cx="10553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Practical summary: the EIF construction converts nuisance estimation errors from additive (first-order, unavoidable) into multiplicative (second-order, negligible when either nuisance is accurate). Cross-fitting ensures independence so sample splitting does not lose efficiency.</a:t>
            </a:r>
          </a:p>
        </p:txBody>
      </p:sp>
    </p:spTree>
    <p:extLst>
      <p:ext uri="{BB962C8B-B14F-4D97-AF65-F5344CB8AC3E}">
        <p14:creationId xmlns:p14="http://schemas.microsoft.com/office/powerpoint/2010/main" val="69552740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4C85AE-1DD8-43F7-8A54-79C9F147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Kennedy (2023) in our estimator: the anchored DR learner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026A4B-0D84-4C23-A374-384E358C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KENNEDY (2023) — Connection to our paper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736479-CF97-4C53-B96E-530AFB26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08548F-FDB3-4A2C-A787-11954806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We apply Kennedy's DR learner on top of the Bastani/Tian&amp;Feng corrected baseline risk — replacing μ̂₀ with μ̂₀^anchor, the sparse-corrected estimate.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BEF31A-6D95-40C4-A5F7-09044860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98E77E-0A7A-4205-9DFD-2E4DCBAA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Full pipeline pseudo-outcome (our Eq. 5)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361EB-1F73-422C-A450-35C6AC65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10553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ψ_i = (μ̂₁(X_i) − μ̂₀^anchor(X_i))  +  A_i(Y_i − μ̂₁(X_i)) / e(X_i)  −  (1−A_i)(Y_i − μ̂₀^anchor(X_i)) / (1−e(X_i))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        [anchored direct term]               [treated residual IPW]                    [control residual — uses sparse-corrected μ̂₀^anchor]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6D55A4-2A89-4FF9-9382-946352B4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>
              <a:alpha val="13333"/>
            </a:srgbClr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CE5432-BF62-44E7-BAFD-EF938EB2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95600"/>
            <a:ext cx="485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Kennedy (2023) — generic DR learner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942307-751B-4E08-908C-A4AB3104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8956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Our estimator (Proposed / Proposed-CF)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32F2C-E5DC-408C-8DA1-01BC4BDA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0820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ACE638-38C9-4301-A63D-5E518B0C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57550"/>
            <a:ext cx="485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μ̂₀(x)  — any ML outcome model for control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F07A9C-DE0D-4DE9-BE0D-0187A1EC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2575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μ̂₀^anchor(x)  — Tian&amp;Feng corrected (K sources + target placebo)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BA5F1D-DAD2-4961-8FCB-D5B43E6E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820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DB6781-146E-43A0-832B-01C467A7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485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μ̂₁(x)  — any ML outcome model for treatment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30894B-9116-483B-B648-A7497BA2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957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μ̂₁(x)  — estimated from target treated arm only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716099-C847-408C-B0FB-79581B1C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0820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B9485E-413D-44DB-9A8E-B6F399F3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485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ê(x)  — estimated propensity 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EAEB0E-A681-4A82-93B0-F756CA5A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1338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e(x)  — KNOWN exactly (randomized, by design)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0A0253-3E89-4CE0-BF29-A8CF38E1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10820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C9980A-E6BA-4F7D-9D09-E0BC270D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485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Final: τ̂(x) = E[φ̂|X=x], any ML method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37E8F3-A168-418B-BC93-FFA199DB0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720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Final: τ̂(x) = random forest on ψ_i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130D4B-6A98-4661-BC49-02E702E6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0820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ED8D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21ACD3-AAB0-487C-8504-22EE2FD8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485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Proposed-CF: cross-fit φ̂_i across 3 folds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761CE0-2B02-4DE0-B5E2-2DBC3091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101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Cross-fitting improves calibration → ECE rank 1.3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C5934E-D189-48D4-85FF-2832084A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51435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BD5EE6-A97F-41D0-8337-B42FE0FB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47625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AB6980-03FF-4AE2-956D-D1EAA99A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86400"/>
            <a:ext cx="4876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Why anchoring μ̂₀^anchor matters: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Standard TargetOnly uses μ̂₀ from target data only — scarce, high variance. Our μ̂₀^anchor pools K source RCTs via sparse correction → lower variance → lower variance pseudo-outcomes ψ_i → more precise CATE τ̂(x). This is the key empirical improvement over Kennedy's generic DR learner.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B71B72-8F66-4AE4-B547-72D27549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391150"/>
            <a:ext cx="54864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8A002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83EAD8-0452-45D5-9C6A-2CA16AE9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391150"/>
            <a:ext cx="47625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F9DF50-F33C-474D-B610-A9F07CFE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86400"/>
            <a:ext cx="52197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Theorem 1 (connected target):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μ̂₀^anchor is identified. ψ_i is Neyman-orthogonal → τ̂ achieves the identified CATE rate. Theorem 2 (disconnected — target placebo only):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μ̂₀^anchor is working-model transport (A6). ψ_i remains well-calibrated for ranking and regret under the transport condition.</a:t>
            </a:r>
          </a:p>
        </p:txBody>
      </p:sp>
    </p:spTree>
    <p:extLst>
      <p:ext uri="{BB962C8B-B14F-4D97-AF65-F5344CB8AC3E}">
        <p14:creationId xmlns:p14="http://schemas.microsoft.com/office/powerpoint/2010/main" val="9674976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54DD02-2B9E-4A20-8B60-DF61B647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618F4-62DE-4165-AD12-F15E5AAB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6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Our Estimator: Rate Statements and Proof Sketches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39B12-8773-4B46-B50F-FEA50E6E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33700"/>
            <a:ext cx="1066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5A834"/>
                </a:solidFill>
                <a:latin typeface="Aptos"/>
                <a:ea typeface="Aptos"/>
                <a:cs typeface="Aptos"/>
              </a:rPr>
              <a:t>Theorems 1–2 from the companion appendix, with full intuition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6F42A1-C2DC-48FA-B08F-8ED2699C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05200"/>
            <a:ext cx="4095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>
              <a:alpha val="13333"/>
            </a:srgbClr>
          </a:solidFill>
          <a:ln xmlns:a="http://schemas.openxmlformats.org/drawingml/2006/main" w="14288">
            <a:solidFill>
              <a:srgbClr val="D5A8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D12B5-71ED-4F3B-A6B7-E57E04E8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00450"/>
            <a:ext cx="382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Theorem 1 (connected target)</a:t>
            </a:r>
          </a:p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√n₀(τ̂_DR(x) − τ₀(x)) ⇒ N(0, V(x))</a:t>
            </a:r>
          </a:p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Identified CATE with √n₀ rate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53ABB6-3195-42D1-96A6-CA3C0BE7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05200"/>
            <a:ext cx="4095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>
              <a:alpha val="13333"/>
            </a:srgbClr>
          </a:solidFill>
          <a:ln xmlns:a="http://schemas.openxmlformats.org/drawingml/2006/main" w="14288">
            <a:solidFill>
              <a:srgbClr val="6F8EA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4A895-52E9-4E1C-96C7-594A1ABA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0450"/>
            <a:ext cx="382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Theorem 2 (disconnected target)</a:t>
            </a:r>
          </a:p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‖τ̂_B − τ₀‖ ≤ est. error + ε_τ + O_p(η^{1/2})</a:t>
            </a:r>
          </a:p>
          <a:p xmlns:a="http://schemas.openxmlformats.org/drawingml/2006/main">
            <a:pPr algn="ctr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Transport error decomposition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BED725-04BA-41A4-BE92-580F4CE1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1066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FFFFF">
                    <a:alpha val="60000"/>
                  </a:srgbClr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>
                    <a:alpha val="60000"/>
                  </a:srgbClr>
                </a:solidFill>
                <a:latin typeface="Aptos"/>
                <a:ea typeface="Aptos"/>
                <a:cs typeface="Aptos"/>
              </a:rPr>
              <a:t>Full proofs in Appendix A of the companion repository</a:t>
            </a:r>
          </a:p>
        </p:txBody>
      </p:sp>
    </p:spTree>
    <p:extLst>
      <p:ext uri="{BB962C8B-B14F-4D97-AF65-F5344CB8AC3E}">
        <p14:creationId xmlns:p14="http://schemas.microsoft.com/office/powerpoint/2010/main" val="211046544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5282E2-4648-43A9-AFDA-2A2B6AFA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Stage 1 nuisance rates via glmtrans (Lemma 1)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4E7696-C045-4ABE-8944-5FDD3A47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OUR PAPER — Appendix A, Lemma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E1EEEC-FC05-4417-ABDA-B7DA743D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42605-175B-431D-B5F7-193CF84D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Before the DR theorem we need an L₂(P₀) prediction rate for the glmtrans outcome regressions — the bridge from Tian &amp; Feng to Stage 2.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C6E5B-8B01-4307-967E-6815225B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7239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7CA5A-5A89-4F12-9450-CFAACF17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05000"/>
            <a:ext cx="6972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L₂(P₀) norm (target-site covariate distribution)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E7D402-4E99-4571-85D1-AD5AFA06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697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‖f‖_{L₂(P₀)} := (E[f(X)² | S=0])^{1/2}     [root-mean-squared error over target covariates]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B16D83-2AEE-40B1-8B0D-06FBC1C8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7239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0F2A80-CDB8-4DD4-8ABC-55296633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6972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Lemma 1 — glmtrans prediction error rate (per arm a ∈ {0,1})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A5A51-56E3-4CD0-B78E-679AFB56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6972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‖μ̂_{a,0} − μ_{a,0}‖_{L₂(P₀)}  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  (s log p / (n_{a,0} + n_{a,Aₐ}))^{1/2}      +      (log p / n_{a,0})^{1/4} · h^{1/2}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       [transfer: variance reduction]                    [target debiasing term]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B4E29-6B23-477E-B4CD-59A8990D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72390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8A5447-A82E-46D4-A67E-F9BD69B6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6972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DML sufficient condition (used in Theorem 1)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ED7D6E-11DC-4599-93CC-2D55FCE4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6972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‖μ̂_{a,0} − μ_{a,0}‖_{L₂(P₀)} = o_p(n₀^{−1/4})     →    need both Lemma 1 terms = o(n₀^{−1/4})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879A6B-DDE6-4466-B110-FE3168A7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28800"/>
            <a:ext cx="33718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F8EA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2544F2-7789-4DD4-983F-4264CAFB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288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5DF115-1E39-4AF6-A701-CEC65013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24050"/>
            <a:ext cx="3105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Term 1 (transfer):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Replaces n_{a,0} by n_{a,0} + n_{a,Aₐ}.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More informative sources → smaller rate.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Ratio improvement ≈ √(n_{a,Aₐ}/n_{a,0}).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706236-7CEC-4EAF-AB3E-B1221386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800350"/>
            <a:ext cx="33718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D5A8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50ADE5-6F37-48C5-ACCD-708EB4BB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80035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07FB64-3C9D-4192-8EB4-4CBCF7EA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95600"/>
            <a:ext cx="3105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Term 2 (debiasing):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Target-only data estimates contrast.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Shrinks as h → 0 (sources closer to target).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Controls bias introduced by pooling sources.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5A7B0B-385C-4265-B708-96267827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771900"/>
            <a:ext cx="33718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2A7AE3-512F-456B-9220-91885A32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771900"/>
            <a:ext cx="476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D2797A-1B29-4AF8-A135-8D3FF55E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67150"/>
            <a:ext cx="3105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 detection: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Â_a = A_{a,h} with prob ≥ 1−δ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(Tian &amp; Feng Theorem 4).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901D60-B9D1-4E89-AFDB-361601E4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8204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6CA391-4ADF-40ED-A3EC-C200809B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820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FF020C-BC2E-41A5-A523-1E3CB69F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14850"/>
            <a:ext cx="10553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Sufficient condition for Theorem 1 (explicit in source and target sizes)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71A83B-4442-42AE-809A-3382C99E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10553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Transfer term = o(n₀^{−1/4}):   s log p / (n_{a,0} + n_{a,Aₐ}) = o(n₀^{−1/2})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Debiasing term = o(n₀^{−1/4}):   (log p / n_{a,0})^{1/4} · h^{1/2} = o(n₀^{−1/4})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Weaker condition for consistency only: both Lemma 1 terms = o(1). This is the condition stated in Theorem 1 — substantially weaker than the standard DML n^{−1/4} requirement.</a:t>
            </a:r>
          </a:p>
        </p:txBody>
      </p:sp>
    </p:spTree>
    <p:extLst>
      <p:ext uri="{BB962C8B-B14F-4D97-AF65-F5344CB8AC3E}">
        <p14:creationId xmlns:p14="http://schemas.microsoft.com/office/powerpoint/2010/main" val="2030491655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E1876E-1FCF-4098-AED7-9510D54A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Theorem 1: asymptotic linearity for connected target (Proposed-CF)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050234-0685-4D72-8189-321981D9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OUR PAPER — Theorem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3E6F2E-AA2A-4EDC-A704-E55D3605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2010A-36DD-42CB-AD0B-00055F24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F8C116-0F64-4078-971F-28679A62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Theorem 1 — Asymptotic linearity (full statement)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C9983-92BC-4727-ABF9-720A9C90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10553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Assume: (i) A1–A3; (ii) finite fourth moments of Y, bounded propensities ε ≤ e₀(x) ≤ 1−ε; (iii) cross-fitting of nuisances;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(iv) ‖μ̂_{a,0} − μ_{a,0}‖_{L₂(P₀)} = o_p(1) for a ∈ {0,1}; (v) stable Gram matrix G₀ = E[Z_i Z_iᵀ | S=0].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Then:    τ̂_DR(x) − τ₀(x)  =  (1/n₀) Σᵢ φ(Oᵢ; x)  +  o_p(n₀^{−1/2})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where φ(Oᵢ; x) = b(x)ᵀ G₀⁻¹ Zᵢ · (Aᵢ − e₀(Xᵢ)) / (e₀(Xᵢ){1−e₀(Xᵢ)}) · (Yᵢ − μ_{Aᵢ,0}(Xᵢ))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Consequently:     √n₀ (τ̂_DR(x) − τ₀(x))  ⇒  N(0, V(x)),     V(x) = Var(φ(O; x) | S=0)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86B780-61C7-4C2B-BC23-5E8774D9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5143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8CACA-02A0-4BB0-964B-4214668B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55AE5-6328-4AA0-A9DB-B5CAB739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0400"/>
            <a:ext cx="487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the theorem says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0431FA-3EDC-4FEF-BC97-03B612E6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48768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1. τ̂_DR(x) is √n₀-consistent and asymptotically normal at every fixed 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2. The influence function φ(O; x) involves only KNOWN propensity e₀(x) — no propensity estimation error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3. Nuisance errors (μ̂) enter only at second order → o_p(n₀^{−1/2}) remainder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8ED24C-D094-492D-83CB-A5F36C50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67050"/>
            <a:ext cx="5295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B62F6C-47EE-4BB8-8EB8-020DFCDA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67050"/>
            <a:ext cx="529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7C758C-F9C2-4DA1-B250-9A87B111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00400"/>
            <a:ext cx="502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Key conditions explained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EC97C2-0BA6-4526-89EB-BB335306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05200"/>
            <a:ext cx="5029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Condition (iv): only o_p(1) consistency needed — weaker than standard DML o_p(n₀^{−1/4})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Why? Propensity known by design → no cross-term ‖Δμ‖·‖Δê‖ error from propensity; only ‖Δμ‖/√n₀ →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Condition (v): identifies linear projection at x in finite samples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DA344-B23B-41C1-B37A-DC449992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514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D5A8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2641B7-4106-4FA3-A44B-88F102A5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19039D-C8FF-4B24-97AB-61F36844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4876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 data contribution: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Lemma 1 shows nuisance condition (iv) holds when n_{a,Aₐ} is large — more transferable source data makes Term 1 = (s log p / n_{a,Aₐ})^{1/2} smaller, pulling nuisances to zero faster and shrinking the second-order remainder.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77617A-D093-416F-909C-2B90EE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72050"/>
            <a:ext cx="5295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8A002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967049-3B3E-4EBC-9A25-EAC4C0D8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7205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E99B6E-C895-4FEE-A44E-A8BFD296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67300"/>
            <a:ext cx="5029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RCT bonus (propensity known):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influence function φ uses the EXACT e₀(x). In observational studies, ê(x) would add a cross-term error O(‖Δμ‖·‖Δê‖). Here that term is 0, giving exactly the semiparametric efficiency bound.</a:t>
            </a:r>
          </a:p>
        </p:txBody>
      </p:sp>
    </p:spTree>
    <p:extLst>
      <p:ext uri="{BB962C8B-B14F-4D97-AF65-F5344CB8AC3E}">
        <p14:creationId xmlns:p14="http://schemas.microsoft.com/office/powerpoint/2010/main" val="868558701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2504C0-019D-47C4-9D29-F1577F6C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Proof sketch: three-step asymptotic linearity argument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B522F-CCC5-4DDD-B3B0-844E8221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OUR PAPER — Proof of Theorem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D455A-B975-4CE1-AB46-5235528F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9DBB6-0BB3-4C1B-A479-40170015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6F8EA4">
              <a:alpha val="13333"/>
            </a:srgbClr>
          </a:solidFill>
          <a:ln xmlns:a="http://schemas.openxmlformats.org/drawingml/2006/main" w="14288">
            <a:solidFill>
              <a:srgbClr val="6F8EA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92D5B-6F16-4AA0-97E4-F4BE3A05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430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5D7853-6E47-4811-8761-B522B38F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43050"/>
            <a:ext cx="1019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Oracle pseudo-outcome: E[ψ⁰_i | X_i, S_i=0] = τ₀(X_i)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8E2D65-5868-41FF-A881-1C1C2771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66900"/>
            <a:ext cx="1059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Define ψ⁰_i = μ_{1,0}(Xᵢ) − μ_{0,0}(Xᵢ)  +  (Aᵢ − e₀(Xᵢ))/(e₀(Xᵢ){1−e₀(Xᵢ)}) · (Yᵢ − μ_{Aᵢ,0}(Xᵢ))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By randomization (A1–A2): E[Yᵢ − μ_{Aᵢ,0}(Xᵢ) | Xᵢ, Aᵢ, S=0] = 0 → centered residual → E[ψ⁰_i | Xᵢ] = τ₀(Xᵢ)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Therefore E[Zᵢ(ψ⁰_i − Zᵢᵀθ₀) | S=0] = 0 → oracle score is unbiased at true CATE parameter θ₀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E05A1A-DB56-49D6-AE2E-081D72E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108204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D5A834">
              <a:alpha val="13333"/>
            </a:srgbClr>
          </a:solidFill>
          <a:ln xmlns:a="http://schemas.openxmlformats.org/drawingml/2006/main" w="14288">
            <a:solidFill>
              <a:srgbClr val="D5A8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E7B925-CA35-44C5-A429-3E602B26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18F7A-C279-4B6B-8860-24F9C495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28950"/>
            <a:ext cx="1019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Decompose θ̂ − θ₀ = T₁ₙ (oracle) + T₂ₙ (nuisance remainder) → show T₂ₙ = o_p(n₀^{−1/2})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4DFD6C-66F6-406F-B024-F551F908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1059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θ̂ − θ₀ = Ĝ⁻¹[(1/n₀)Σ Zᵢ(ψ̂ᵢ − ψ⁰ᵢ)] + Ĝ⁻¹[(1/n₀)Σ Zᵢ(ψ⁰ᵢ − Zᵢᵀθ₀)]  =: T₂ₙ + T₁ₙ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For T₂ₙ: by CROSS-FITTING, Δ_a^{(−k)}(Xᵢ) ⊥ fold-k evaluation obs. → E[ψ̂ᵢ−ψ⁰ᵢ | Xᵢ, training] =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E‖(1/n₀)Σ Zᵢ(ψ̂ᵢ−ψ⁰ᵢ)‖² ≲ (‖Δμ₀‖² + ‖Δμ₁‖²)/n₀  →  ‖T₂ₙ‖ = O_p((Aₙ/√n₀)) = o_p(n₀^{−1/2})  since Aₙ = o_p(1)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2DEAFE-6856-483C-9C78-C25CF5D2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108204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7B8F70">
              <a:alpha val="13333"/>
            </a:srgbClr>
          </a:solidFill>
          <a:ln xmlns:a="http://schemas.openxmlformats.org/drawingml/2006/main" w="14288">
            <a:solidFill>
              <a:srgbClr val="7B8F7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FD669B-E300-44C3-86AA-BEE06807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B8F7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8F7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FD4F43-DBDD-4C66-A5B6-09B148F6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14850"/>
            <a:ext cx="1019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B8F7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7B8F70"/>
                </a:solidFill>
                <a:latin typeface="Aptos"/>
                <a:ea typeface="Aptos"/>
                <a:cs typeface="Aptos"/>
              </a:rPr>
              <a:t>CLT on oracle term T₁ₙ → asymptotic normality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96A23E-AC2C-4BD1-AF06-12101F1A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38700"/>
            <a:ext cx="1059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T₁ₙ = Ĝ⁻¹(1/n₀)Σ Zᵢ · (Aᵢ−e₀(Xᵢ))/(e₀(Xᵢ){1−e₀(Xᵢ)}) · (Yᵢ−μ_{Aᵢ,0}(Xᵢ))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Ĝ⁻¹ = G₀⁻¹ + o_p(1)  →  evaluating at fixed x:  b(x)ᵀ T₁ₙ = (1/n₀) Σ φ(Oᵢ;x) + o_p(n₀^{−1/2})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φ(O;x) has mean 0 and finite variance V(x) by A3 + bounded propensities → CLT gives √n₀ · (1/n₀)Σ φ(Oᵢ;x) ⇒ N(0,V(x))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9B2639-03D9-43AF-A6AE-BEA9CB65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8A00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C17F3B-3979-460C-B9EA-7D979F9A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47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09BFB8-001E-4CAF-A2C9-2D3A504A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00750"/>
            <a:ext cx="10553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Key move in Step 2: cross-fitting ensures the nuisance error Δ_a^{(−k)} is INDEPENDENT of the held-out pseudo-outcome (Oᵢ, i ∈ I_k). Without independence, E[Zᵢ(ψ̂ᵢ−ψ⁰ᵢ)] could be O(‖Δμ‖) — first-order, not o_p(n₀^{−1/2}).</a:t>
            </a:r>
          </a:p>
        </p:txBody>
      </p:sp>
    </p:spTree>
    <p:extLst>
      <p:ext uri="{BB962C8B-B14F-4D97-AF65-F5344CB8AC3E}">
        <p14:creationId xmlns:p14="http://schemas.microsoft.com/office/powerpoint/2010/main" val="183366638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85EBC4-9815-4CC3-822A-19B292FB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Theorem 2: transport error decomposition for disconnected target (Proposed-B)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49AA9-5620-466B-87E0-A353D220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OUR PAPER — Theorem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2F9EAC-078E-44B9-B3A5-C24C527C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C43492-4459-42A1-AC66-914050C1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08204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191588-047F-4015-8757-EEE35656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1055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Theorem 2 — Transport error decomposition (full statement)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D9EFEA-B59E-4A3C-88D6-B8D215BD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10553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Assume A1–A3 and A6. In the disconnected regime, τ₀ is not identified from target data alone. Compare τ̂_B to the oracle transported target τ*(x) := E[τ_S(x) | S ∈ C₀*].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‖τ̂_B − τ₀‖_{L₂(P₀)}  ≤  ‖τ̂_B − τ*‖_{L₂(P₀)}  +  ‖τ* − τ₀‖_{L₂(P₀)}  +  Δ_sel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                                [estimation error]          [structural transport bias ≤ ε_τ]       [screening error = O_p(η^{1/2})]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If P(Ĉ₀ ⊆ C₀*) ≥ 1−η and E‖τ̂_B − τ*‖² &lt; ∞, then Δ_sel = O_p(η^{1/2}).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DACADD-89A9-4551-A2BE-4B7E405D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1945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AD0531-E859-4128-BF4B-BB4DAB5B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19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7D1557-00FD-432A-B6A7-5AB34123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295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Term 1: estimation error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E9C18-EF22-4242-A8B3-0AF31E91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95275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‖τ̂_B − τ*‖_{L₂(P₀)}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How well the source-DR learner (trained on Ĉ₀) predicts the oracle-transported target CATE τ* on target covariates.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Controlled by: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Source sample sizes n_{a,c} for c ∈ Ĉ₀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Complexity of CATE learner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Transfer variance reduction from pooling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72458C-02AB-4E85-A156-2808C31E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86050"/>
            <a:ext cx="352425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BFDD6-AEF3-46EE-8537-09505BB0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86050"/>
            <a:ext cx="3524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EAFEF-BC22-43E6-ADB5-1656270B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19400"/>
            <a:ext cx="3257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Term 2: structural transport bias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B418DD-69F2-410D-B007-13AF201D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24200"/>
            <a:ext cx="325755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‖τ* − τ₀‖_{L₂(P₀)} ≤ ε_τ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Irreducible mismatch between oracle selected sources and true target CATE on target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This term is ZERO only if: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• Selected sources have τ_c(x) = τ₀(x) a.s.</a:t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Otherwise bounded by ε_τ from A6.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Not reducible by more data from sources — fundamental structural gap.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A5D5CA-3E73-4713-8182-59B6D9C6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6957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1C3968-86BD-4747-9C08-06C953ED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695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9F336E-C409-44F9-9532-7BFF885D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194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Term 3: screening error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ABAF72-497B-4F10-8AF1-6C9B7399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24200"/>
            <a:ext cx="3429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Δ_sel = ‖(τ̂_B−τ*)·1_{E^c}‖_{L₂(P₀)}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Active only when Ĉ₀ ⊄ C₀* (screening admits a bad source). Controlled by η = P(Ĉ₀ ⊄ C₀*).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Δ_sel = O_p(η^{1/2})  [via Cauchy-Schwarz]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η → 0 as placebo sample n_{0,0} → ∞ by Tian &amp; Feng detection consistency.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C9724B-5A71-488F-A67F-16478F30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108204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7B8F7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77E16C-A9F5-4362-A47A-06CD2BA7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77A0D8-F23D-4533-B7F4-4E106E99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10553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A6 provides: (a) the oracle good-source set C₀* exists with ‖τ_S − τ₀‖_{L₂(P₀)} ≤ ε_τ for S ∈ C₀*; (b) placebo screening achieves Ĉ₀ ⊆ C₀* with prob ≥ 1−η. The theorem says: if A6 holds and screening works, total error ≈ source estimation error + ε_τ.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0B6A23-8DDA-4AD9-A05B-393BDEF8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5605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75F1B5-29EA-4EA4-AE49-E5774EF1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47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60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5C3F39-EB64-4EB1-8E2B-20F2E448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381750"/>
            <a:ext cx="1055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Remark: when ε_τ is large (sources far from target), Term 2 dominates — adding source data cannot help. This is the fundamental limit of non-identified transport.</a:t>
            </a:r>
          </a:p>
        </p:txBody>
      </p:sp>
    </p:spTree>
    <p:extLst>
      <p:ext uri="{BB962C8B-B14F-4D97-AF65-F5344CB8AC3E}">
        <p14:creationId xmlns:p14="http://schemas.microsoft.com/office/powerpoint/2010/main" val="1326056738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3C4665-00BA-44F0-B3D4-F2455862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10820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Proof sketch: auxiliary predictor trick + cross-arm degradation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F4AF92-CEC4-4500-BA82-350BBA91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762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OUR PAPER — Proofs of Theorem 2 and Proposition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51AD0-2284-4875-A3C3-D4F44BDD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97E0D-C50B-4CBC-A4B3-AB2C6553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60960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6F8EA4">
              <a:alpha val="13333"/>
            </a:srgbClr>
          </a:solidFill>
          <a:ln xmlns:a="http://schemas.openxmlformats.org/drawingml/2006/main" w="14288">
            <a:solidFill>
              <a:srgbClr val="6F8EA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ADDD9-0300-4B44-BFB0-F421292E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430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6BD89-0AEF-4C1E-BE01-FF48822E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43050"/>
            <a:ext cx="546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F8EA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F8EA4"/>
                </a:solidFill>
                <a:latin typeface="Aptos"/>
                <a:ea typeface="Aptos"/>
                <a:cs typeface="Aptos"/>
              </a:rPr>
              <a:t>Auxiliary predictor + triangle inequality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B40FB-874A-4AF2-9ABD-8C390D9F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66900"/>
            <a:ext cx="58674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Define: τ̃_B = τ̂_B · 1_E + τ* · 1_{E^c}   (replace by oracle on screening failure event E^c)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Triangle inequality:  ‖τ̂_B − τ₀‖ ≤ ‖τ̂_B − τ̃_B‖ + ‖τ̃_B − τ*‖ + ‖τ* − τ₀‖</a:t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                                         =: Δ_sel              = ‖(τ̂_B−τ*)·1_E‖     ≤ ε_τ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1_E multiplication only reduces norm → identification of screening-only cost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F15F8-AF86-4B20-8DC0-1E225FFE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60960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D5A834">
              <a:alpha val="13333"/>
            </a:srgbClr>
          </a:solidFill>
          <a:ln xmlns:a="http://schemas.openxmlformats.org/drawingml/2006/main" w="14288">
            <a:solidFill>
              <a:srgbClr val="D5A8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F789EC-27FB-4E7B-B1A5-C0C7977F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48D6A4-61D2-4D99-A051-F8956B13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546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A83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5A834"/>
                </a:solidFill>
                <a:latin typeface="Aptos"/>
                <a:ea typeface="Aptos"/>
                <a:cs typeface="Aptos"/>
              </a:rPr>
              <a:t>Structural bias ≤ ε_τ via Jensen's inequality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9168AD-9C5A-472B-99BE-3F2036D8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5867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τ*(x) − τ₀(x) = E[τ_S(x) − τ₀(x) | S ∈ C₀*] = E[g_S(x) | S ∈ C₀*]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‖τ* − τ₀‖_{L₂(P₀)} = ‖E[g_S | S ∈ C₀*]‖ ≤ E[‖g_S‖_{L₂(P₀)} | S ∈ C₀*]   [Minkowski]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A6(b): ‖τ_S − τ₀‖_{L₂(P₀)} ≤ ε_τ for S ∈ C₀*  →  ‖τ* − τ₀‖_{L₂(P₀)} ≤ ε_τ  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2C66A0-299F-4B92-A82D-B88F9A3C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6096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7B8F70">
              <a:alpha val="13333"/>
            </a:srgbClr>
          </a:solidFill>
          <a:ln xmlns:a="http://schemas.openxmlformats.org/drawingml/2006/main" w="14288">
            <a:solidFill>
              <a:srgbClr val="7B8F7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5FC201-BA76-4383-B5AE-1372AE1B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B8F7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8F7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977EDF-871E-490A-9F67-8B2EA23C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29150"/>
            <a:ext cx="546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B8F7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7B8F70"/>
                </a:solidFill>
                <a:latin typeface="Aptos"/>
                <a:ea typeface="Aptos"/>
                <a:cs typeface="Aptos"/>
              </a:rPr>
              <a:t>Screening error = O_p(η^{1/2}) via Cauchy-Schwarz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390C9D-961C-45C5-B5B9-8B8FB2FA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5867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E[Δ_sel] = E[‖τ̂_B − τ*‖_{L₂(P₀)} · 1_{E^c}]  ≤  (E‖τ̂_B−τ*‖²)^{1/2} · P(E^c)^{1/2}  ≤  M₂^{1/2} · η^{1/2}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Markov → P(Δ_sel &gt; t·η^{1/2}) ≤ M₂^{1/2}/t   for any t &gt;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→  Δ_sel = O_p(η^{1/2}).  η → 0 as n_{0,0} → ∞ by Tian &amp; Feng Theorem 4.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F2C20-CE08-413C-AB3D-010FB761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447800"/>
            <a:ext cx="45720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4288">
            <a:solidFill>
              <a:srgbClr val="2C477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F8880E-E818-41D2-86B2-992B93DB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24000"/>
            <a:ext cx="430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47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C4770"/>
                </a:solidFill>
                <a:latin typeface="Aptos"/>
                <a:ea typeface="Aptos"/>
                <a:cs typeface="Aptos"/>
              </a:rPr>
              <a:t>Proposition 1 — Cross-arm degradation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6E8C69-5F8F-4DDB-97FC-EE6D69AC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33550"/>
            <a:ext cx="43053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Model: δ₁*(x) = ρ·δ₀*(x) + ζ*(x)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     (coupling placebo-to-treated correction)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Structural bias (ρ_alg = 1 heuristic):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‖τ* − τ₀‖_{L₂(P₀)} 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|1−ρ|·‖δ₀*‖_{L₂(P₀)} + ‖ζ*‖_{L₂(P₀)} + ‖r₁‖_{L₂(P₀)}</a:t>
            </a:r>
          </a:p>
          <a:p xmlns:a="http://schemas.openxmlformats.org/drawingml/2006/main">
            <a:pPr algn="l">
              <a:def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2B2B2B"/>
                </a:solidFill>
                <a:latin typeface="Courier New"/>
                <a:ea typeface="Courier New"/>
                <a:cs typeface="Courier New"/>
              </a:rPr>
              <a:t>    [coupling gap]       [unexplained]      [approx error]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128591-087F-46F9-A601-7C3D1ECE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29050"/>
            <a:ext cx="4572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6F8EA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7B4484-14CF-4E96-A8EE-CBE8E459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290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29C28E-473B-4E12-B55B-561125A7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24300"/>
            <a:ext cx="4305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Intuition: imperfect cross-arm transfer (ρ &lt; 1) enters the BIAS term — it shifts the centering of τ̂ around τ₀, not the √n₀ CLT fluctuation. More placebo data cannot reduce |1−ρ|·‖δ₀*‖; only stronger A6 (smaller ε_τ, closer sources) can.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11B4B8-B69B-4773-B75C-D37E9837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991100"/>
            <a:ext cx="4572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19050">
            <a:solidFill>
              <a:srgbClr val="8A00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4E7E64-C040-4187-B0A0-71675B61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9911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F6468E-552A-45FC-8A98-63C42773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86350"/>
            <a:ext cx="4305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Combined: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‖τ̂ − τ₀‖ ≤ ‖τ̂ − τ*‖ + ε_τ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First term: √N CLT + second-order nuisance.</a:t>
            </a:r>
          </a:p>
          <a:p xmlns:a="http://schemas.openxmlformats.org/drawingml/2006/main">
            <a:pPr algn="l">
              <a:defRPr sz="11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Second term: controlled by A6 + Prop. 1.</a:t>
            </a:r>
          </a:p>
        </p:txBody>
      </p:sp>
    </p:spTree>
    <p:extLst>
      <p:ext uri="{BB962C8B-B14F-4D97-AF65-F5344CB8AC3E}">
        <p14:creationId xmlns:p14="http://schemas.microsoft.com/office/powerpoint/2010/main" val="821441317"/>
      </p:ext>
    </p:extLst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2026-05-21T23:31:39.3060000Z</dcterms:created>
  <dcterms:modified xsi:type="dcterms:W3CDTF">2026-05-21T23:31:39.3060000Z</dcterms:modified>
</coreProperties>
</file>