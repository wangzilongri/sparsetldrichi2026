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8615255d944801" /><Relationship Type="http://schemas.openxmlformats.org/officeDocument/2006/relationships/extended-properties" Target="/docProps/app.xml" Id="R25fbadaed05c4dde" /><Relationship Type="http://schemas.openxmlformats.org/officeDocument/2006/relationships/officeDocument" Target="/ppt/presentation.xml" Id="R956239ab7cca4d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177259f8414ef1"/>
  </p:sldMasterIdLst>
  <p:notesMasterIdLst>
    <p:notesMasterId xmlns:r="http://schemas.openxmlformats.org/officeDocument/2006/relationships" r:id="R0f69b62858544b35"/>
  </p:notesMasterIdLst>
  <p:sldIdLst>
    <p:sldId xmlns:r="http://schemas.openxmlformats.org/officeDocument/2006/relationships" id="256" r:id="R67692284bc6a4572"/>
    <p:sldId xmlns:r="http://schemas.openxmlformats.org/officeDocument/2006/relationships" id="257" r:id="R3f2d12e1aeff467a"/>
    <p:sldId xmlns:r="http://schemas.openxmlformats.org/officeDocument/2006/relationships" id="258" r:id="R69b39439caf441fa"/>
    <p:sldId xmlns:r="http://schemas.openxmlformats.org/officeDocument/2006/relationships" id="259" r:id="Rf76ea7a60d644cf1"/>
    <p:sldId xmlns:r="http://schemas.openxmlformats.org/officeDocument/2006/relationships" id="260" r:id="R3d7099aeabbc4ab5"/>
    <p:sldId xmlns:r="http://schemas.openxmlformats.org/officeDocument/2006/relationships" id="261" r:id="R4da7fd5c95074b7c"/>
    <p:sldId xmlns:r="http://schemas.openxmlformats.org/officeDocument/2006/relationships" id="262" r:id="R72ab9f442cea44a6"/>
    <p:sldId xmlns:r="http://schemas.openxmlformats.org/officeDocument/2006/relationships" id="263" r:id="R919618652fe342cc"/>
    <p:sldId xmlns:r="http://schemas.openxmlformats.org/officeDocument/2006/relationships" id="264" r:id="R1027d411e7ee44ef"/>
    <p:sldId xmlns:r="http://schemas.openxmlformats.org/officeDocument/2006/relationships" id="265" r:id="Re2cb7df76e244e78"/>
    <p:sldId xmlns:r="http://schemas.openxmlformats.org/officeDocument/2006/relationships" id="266" r:id="R7d78d89724b3481c"/>
    <p:sldId xmlns:r="http://schemas.openxmlformats.org/officeDocument/2006/relationships" id="267" r:id="Rdee63a0263484db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77259f8414ef1" /><Relationship Type="http://schemas.openxmlformats.org/officeDocument/2006/relationships/theme" Target="/ppt/theme/theme1.xml" Id="R94e05db7c6134df0" /><Relationship Type="http://schemas.openxmlformats.org/officeDocument/2006/relationships/notesMaster" Target="/ppt/notesMasters/notesMaster1.xml" Id="R0f69b62858544b35" /><Relationship Type="http://schemas.openxmlformats.org/officeDocument/2006/relationships/presProps" Target="/ppt/presProps.xml" Id="Rb327efb03b0c4dad" /><Relationship Type="http://schemas.openxmlformats.org/officeDocument/2006/relationships/viewProps" Target="/ppt/viewProps.xml" Id="Rb90c02970a8a4716" /><Relationship Type="http://schemas.openxmlformats.org/officeDocument/2006/relationships/tableStyles" Target="/ppt/tableStyles.xml" Id="Rc5ad51b143d44c7b" /><Relationship Type="http://schemas.openxmlformats.org/officeDocument/2006/relationships/slide" Target="/ppt/slides/slide1.xml" Id="R67692284bc6a4572" /><Relationship Type="http://schemas.openxmlformats.org/officeDocument/2006/relationships/slide" Target="/ppt/slides/slide2.xml" Id="R3f2d12e1aeff467a" /><Relationship Type="http://schemas.openxmlformats.org/officeDocument/2006/relationships/slide" Target="/ppt/slides/slide3.xml" Id="R69b39439caf441fa" /><Relationship Type="http://schemas.openxmlformats.org/officeDocument/2006/relationships/slide" Target="/ppt/slides/slide4.xml" Id="Rf76ea7a60d644cf1" /><Relationship Type="http://schemas.openxmlformats.org/officeDocument/2006/relationships/slide" Target="/ppt/slides/slide5.xml" Id="R3d7099aeabbc4ab5" /><Relationship Type="http://schemas.openxmlformats.org/officeDocument/2006/relationships/slide" Target="/ppt/slides/slide6.xml" Id="R4da7fd5c95074b7c" /><Relationship Type="http://schemas.openxmlformats.org/officeDocument/2006/relationships/slide" Target="/ppt/slides/slide7.xml" Id="R72ab9f442cea44a6" /><Relationship Type="http://schemas.openxmlformats.org/officeDocument/2006/relationships/slide" Target="/ppt/slides/slide8.xml" Id="R919618652fe342cc" /><Relationship Type="http://schemas.openxmlformats.org/officeDocument/2006/relationships/slide" Target="/ppt/slides/slide9.xml" Id="R1027d411e7ee44ef" /><Relationship Type="http://schemas.openxmlformats.org/officeDocument/2006/relationships/slide" Target="/ppt/slides/slide10.xml" Id="Re2cb7df76e244e78" /><Relationship Type="http://schemas.openxmlformats.org/officeDocument/2006/relationships/slide" Target="/ppt/slides/slide11.xml" Id="R7d78d89724b3481c" /><Relationship Type="http://schemas.openxmlformats.org/officeDocument/2006/relationships/slide" Target="/ppt/slides/slide12.xml" Id="Rdee63a0263484d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db7eb88c30041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f1cb3ada414587" /><Relationship Type="http://schemas.openxmlformats.org/officeDocument/2006/relationships/notesMaster" Target="/ppt/notesMasters/notesMaster1.xml" Id="R0c35eddc432448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0382ddf622419d" /><Relationship Type="http://schemas.openxmlformats.org/officeDocument/2006/relationships/notesMaster" Target="/ppt/notesMasters/notesMaster1.xml" Id="R539e543a3a5441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b9b224428744fb" /><Relationship Type="http://schemas.openxmlformats.org/officeDocument/2006/relationships/notesMaster" Target="/ppt/notesMasters/notesMaster1.xml" Id="R274821c825724d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3fb0eb40e54bb0" /><Relationship Type="http://schemas.openxmlformats.org/officeDocument/2006/relationships/notesMaster" Target="/ppt/notesMasters/notesMaster1.xml" Id="R25673043163842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fe386cc33f48df" /><Relationship Type="http://schemas.openxmlformats.org/officeDocument/2006/relationships/notesMaster" Target="/ppt/notesMasters/notesMaster1.xml" Id="R7c743f51f0b247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f6f2374bae4ef0" /><Relationship Type="http://schemas.openxmlformats.org/officeDocument/2006/relationships/notesMaster" Target="/ppt/notesMasters/notesMaster1.xml" Id="Rd39db2e8aeec46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50ace12ab94f37" /><Relationship Type="http://schemas.openxmlformats.org/officeDocument/2006/relationships/notesMaster" Target="/ppt/notesMasters/notesMaster1.xml" Id="Rf2d11fabe4104c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549f70d8d34845" /><Relationship Type="http://schemas.openxmlformats.org/officeDocument/2006/relationships/notesMaster" Target="/ppt/notesMasters/notesMaster1.xml" Id="R4fd637ec89794b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6f6c71f5e045e9" /><Relationship Type="http://schemas.openxmlformats.org/officeDocument/2006/relationships/notesMaster" Target="/ppt/notesMasters/notesMaster1.xml" Id="R97286068914e48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04bbe4df0d4ec2" /><Relationship Type="http://schemas.openxmlformats.org/officeDocument/2006/relationships/notesMaster" Target="/ppt/notesMasters/notesMaster1.xml" Id="R32e7ce3fc4914f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f9641017f545ea" /><Relationship Type="http://schemas.openxmlformats.org/officeDocument/2006/relationships/notesMaster" Target="/ppt/notesMasters/notesMaster1.xml" Id="R36ef6834e32942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c68096bb6a4d03" /><Relationship Type="http://schemas.openxmlformats.org/officeDocument/2006/relationships/notesMaster" Target="/ppt/notesMasters/notesMaster1.xml" Id="R41d8bacf7fda40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cover slide. Keep the title concise and place track/session information in the lower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layout for pipelines, study design, or workflow overviews. Keep each step short.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layout for pipelines, study design, or workflow overviews. Keep each step short.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simple acknowledgment/disclosure slide works better than dense institutional logos.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layout for pipelines, study design, or workflow overviews. Keep each step short.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final Q&amp;A slide. Keep contact details short and readable from the back of the 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1a5301c0c4e2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C375C9C4-A553-40BE-9547-A301280E703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B43CAE6E-4C38-4D1E-8730-EFF1517FB48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5DC9AD-018D-40CA-A6D8-34E504BDE8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D502A0-457D-42A7-B3A7-99A4B0E106C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4C64DB-28BF-4CE3-AFC9-2D673C4834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5cccf00c8824799" /><Relationship Type="http://schemas.openxmlformats.org/officeDocument/2006/relationships/slideLayout" Target="/ppt/slideLayouts/slideLayout2.xml" Id="R199fc50eec504f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ADE5BD-3AAD-4483-AF95-2FC2200A13D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9fc50eec504f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e045581c894cb0" /><Relationship Type="http://schemas.openxmlformats.org/officeDocument/2006/relationships/image" Target="/ppt/media/image.png" Id="Rc46a6be65d8c44a3" /><Relationship Type="http://schemas.openxmlformats.org/officeDocument/2006/relationships/notesSlide" Target="/ppt/notesSlides/notesSlide1.xml" Id="Ra8474a50399141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53a76d462c4132" /><Relationship Type="http://schemas.openxmlformats.org/officeDocument/2006/relationships/image" Target="/ppt/media/image.png" Id="R632e15abc8574580" /><Relationship Type="http://schemas.openxmlformats.org/officeDocument/2006/relationships/image" Target="/ppt/media/image2.png" Id="R1d534b7fe9ec4ad6" /><Relationship Type="http://schemas.openxmlformats.org/officeDocument/2006/relationships/notesSlide" Target="/ppt/notesSlides/notesSlide2.xml" Id="R9b6609986cd344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2bc83cdc25437f" /><Relationship Type="http://schemas.openxmlformats.org/officeDocument/2006/relationships/image" Target="/ppt/media/image.png" Id="R3cb839a4f1ac4808" /><Relationship Type="http://schemas.openxmlformats.org/officeDocument/2006/relationships/notesSlide" Target="/ppt/notesSlides/notesSlide3.xml" Id="R647707496d9a4e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1fe5e0c0b04e60" /><Relationship Type="http://schemas.openxmlformats.org/officeDocument/2006/relationships/image" Target="/ppt/media/image.png" Id="Rf8700a3dff34494f" /><Relationship Type="http://schemas.openxmlformats.org/officeDocument/2006/relationships/notesSlide" Target="/ppt/notesSlides/notesSlide4.xml" Id="R0acdf670eea240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53c5cbaa354ded" /><Relationship Type="http://schemas.openxmlformats.org/officeDocument/2006/relationships/image" Target="/ppt/media/image.png" Id="R30a1dc4e80ec430f" /><Relationship Type="http://schemas.openxmlformats.org/officeDocument/2006/relationships/image" Target="/ppt/media/image3.png" Id="R7d06863586ec4c2c" /><Relationship Type="http://schemas.openxmlformats.org/officeDocument/2006/relationships/notesSlide" Target="/ppt/notesSlides/notesSlide5.xml" Id="R7f624abeed2f42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bb15376ee34a0c" /><Relationship Type="http://schemas.openxmlformats.org/officeDocument/2006/relationships/image" Target="/ppt/media/image.png" Id="R2f2f554d52da426b" /><Relationship Type="http://schemas.openxmlformats.org/officeDocument/2006/relationships/notesSlide" Target="/ppt/notesSlides/notesSlide6.xml" Id="R979b9d105e3e46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5ec6183d1c4c44" /><Relationship Type="http://schemas.openxmlformats.org/officeDocument/2006/relationships/image" Target="/ppt/media/image.png" Id="R3eaaa7eea6e840e0" /><Relationship Type="http://schemas.openxmlformats.org/officeDocument/2006/relationships/notesSlide" Target="/ppt/notesSlides/notesSlide7.xml" Id="Rc8eab424c6c942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3f3b57160e4bdf" /><Relationship Type="http://schemas.openxmlformats.org/officeDocument/2006/relationships/image" Target="/ppt/media/image.png" Id="Re701b9ea7d444e04" /><Relationship Type="http://schemas.openxmlformats.org/officeDocument/2006/relationships/notesSlide" Target="/ppt/notesSlides/notesSlide8.xml" Id="Ra910f7b809024c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67294db7b146e2" /><Relationship Type="http://schemas.openxmlformats.org/officeDocument/2006/relationships/image" Target="/ppt/media/image.png" Id="R9e86e94aad824f70" /><Relationship Type="http://schemas.openxmlformats.org/officeDocument/2006/relationships/notesSlide" Target="/ppt/notesSlides/notesSlide9.xml" Id="R34fb9096729943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d926a603064e86" /><Relationship Type="http://schemas.openxmlformats.org/officeDocument/2006/relationships/image" Target="/ppt/media/image.png" Id="R95b5546bf3b74e82" /><Relationship Type="http://schemas.openxmlformats.org/officeDocument/2006/relationships/notesSlide" Target="/ppt/notesSlides/notesSlide10.xml" Id="R3572bf3d0a8346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3d1e1c3f584426" /><Relationship Type="http://schemas.openxmlformats.org/officeDocument/2006/relationships/image" Target="/ppt/media/image.png" Id="R8ab64c40cbdc4165" /><Relationship Type="http://schemas.openxmlformats.org/officeDocument/2006/relationships/notesSlide" Target="/ppt/notesSlides/notesSlide11.xml" Id="R3505fa1bd40544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4b21db2a364eca" /><Relationship Type="http://schemas.openxmlformats.org/officeDocument/2006/relationships/image" Target="/ppt/media/image.jpeg" Id="Rbe30b70eaa954cf5" /><Relationship Type="http://schemas.openxmlformats.org/officeDocument/2006/relationships/image" Target="/ppt/media/image.png" Id="Ra1d17893ddff4612" /><Relationship Type="http://schemas.openxmlformats.org/officeDocument/2006/relationships/notesSlide" Target="/ppt/notesSlides/notesSlide12.xml" Id="R645971ecb75743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76166F-C808-4328-8187-F1F7F5CA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D54FDFE-C184-42F6-AC19-DF1F460F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a6be65d8c44a3"/>
          <a:stretch xmlns:a="http://schemas.openxmlformats.org/drawingml/2006/main"/>
        </p:blipFill>
        <p:spPr>
          <a:xfrm xmlns:a="http://schemas.openxmlformats.org/drawingml/2006/main">
            <a:off x="685800" y="279204"/>
            <a:ext cx="2855686" cy="1219200"/>
          </a:xfrm>
          <a:prstGeom xmlns:a="http://schemas.openxmlformats.org/drawingml/2006/main" prst="rect">
            <a:avLst/>
          </a:prstGeom>
        </p:spPr>
      </p:pic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BE89073-9A3C-4DD8-9B74-CFF2D792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973" y="659608"/>
            <a:ext cx="3143250" cy="529656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847468F-3A20-4BC7-9276-AC4AD9D9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973" y="635795"/>
            <a:ext cx="3143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772F60-4B70-457F-9292-C9888774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0473" y="830461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A0019"/>
                </a:solidFill>
              </a:defRPr>
            </a:pPr>
            <a:r>
              <a:rPr sz="1350" b="1">
                <a:solidFill>
                  <a:srgbClr val="8A0020"/>
                </a:solidFill>
              </a:rPr>
              <a:t>Research Paper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39EE356-11AA-4829-BBCF-B07F77E3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67450"/>
            <a:ext cx="276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AD200FF-8B8D-6E07-C5DC-971406A5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0719"/>
            <a:ext cx="10820400" cy="3219109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810A53-27E5-BCD9-7B12-3D43FBE5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0720"/>
            <a:ext cx="10820400" cy="147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A0F1714-C145-9BFE-18FA-24773D76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7470"/>
            <a:ext cx="600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Transfer Learning for Meta-analysis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Under Covariate Shift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4F8E6AA-74BC-BBA9-2F60-332FAB6D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947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7EDE7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Placebo-anchored proxy-gold learning for target-specific treatment effects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8524F25-E193-8A54-D54A-82EAB49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3820"/>
            <a:ext cx="5829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CC7579-E1BA-9A9D-E8E0-664017E5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527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Zilong Wang, Ali Abdeen, Turgay Ayer | Georgia Institute of Technology</a:t>
            </a:r>
          </a:p>
        </p:txBody>
      </p:sp>
      <p:sp>
        <p:nvSpPr>
          <p:cNvPr id="19" name="timing-pill">
            <a:extLst xmlns:a="http://schemas.openxmlformats.org/drawingml/2006/main">
              <a:ext uri="{FF2B5EF4-FFF2-40B4-BE49-F238E27FC236}">
                <a16:creationId xmlns:a16="http://schemas.microsoft.com/office/drawing/2014/main" id="{3DC4A6F5-2898-4CD3-AB9A-62F448E3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0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45E9F42D-8B37-4471-A407-2EFB7CDF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0:00-0:30</a:t>
            </a:r>
          </a:p>
        </p:txBody>
      </p:sp>
    </p:spTree>
    <p:extLst>
      <p:ext uri="{BB962C8B-B14F-4D97-AF65-F5344CB8AC3E}">
        <p14:creationId xmlns:p14="http://schemas.microsoft.com/office/powerpoint/2010/main" val="385119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CC2B63-4C3E-4680-A992-D125ECE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0F4451-5B25-4A4C-85E8-DB74382D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E032A8-31B5-483A-B8B8-AB5D7A7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Clinical trial evidence rarely lands in the target population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EADD4DC-0A49-4FAD-9192-E725716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C77E3E1-B4E8-4004-8690-BB8DF06C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3EAC61-E65A-4981-A5CD-715DC02A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e15abc8574580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15" name="timing-pill">
            <a:extLst xmlns:a="http://schemas.openxmlformats.org/drawingml/2006/main">
              <a:ext uri="{FF2B5EF4-FFF2-40B4-BE49-F238E27FC236}">
                <a16:creationId xmlns:a16="http://schemas.microsoft.com/office/drawing/2014/main" id="{09DD3BDE-C397-4715-94E2-4C439BD8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8823232A-3BF1-4D7C-9041-983D181A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0:30-1:45</a:t>
            </a:r>
          </a:p>
        </p:txBody>
      </p:sp>
      <p:sp>
        <p:nvSpPr>
          <p:cNvPr id="17" name="claim">
            <a:extLst xmlns:a="http://schemas.openxmlformats.org/drawingml/2006/main">
              <a:ext uri="{FF2B5EF4-FFF2-40B4-BE49-F238E27FC236}">
                <a16:creationId xmlns:a16="http://schemas.microsoft.com/office/drawing/2014/main" id="{FE93702A-BEC7-4D5A-8348-8FE59401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decision target is patient-level and local; the available evidence is multi-site and shifted.</a:t>
            </a:r>
          </a:p>
        </p:txBody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3B6BABA8-0B9C-47E1-B243-5D2F68FC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57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ED9982A-46AB-4222-8BBB-C2A0D59B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28FF5C29-9139-4EB9-8A8A-2668F5A2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49C8D4DB-3E07-4991-B1A7-6C0271A9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Different enrolled patients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D4AE1972-ED17-401C-8127-6AA4BF1C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RCT sites can differ by eligibility, geography, baseline risk, and case mix. Pooling can estimate the wrong population.</a:t>
            </a:r>
          </a:p>
        </p:txBody>
      </p:sp>
      <p:sp>
        <p:nvSpPr>
          <p:cNvPr id="23" name="card">
            <a:extLst xmlns:a="http://schemas.openxmlformats.org/drawingml/2006/main">
              <a:ext uri="{FF2B5EF4-FFF2-40B4-BE49-F238E27FC236}">
                <a16:creationId xmlns:a16="http://schemas.microsoft.com/office/drawing/2014/main" id="{DB3A432E-20A6-45E2-B9CD-B1FBBE29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62150"/>
            <a:ext cx="3257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7B965428-3D8A-45AF-8DBD-AA293058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621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78E26744-4029-40FB-AF3D-25CAD4E6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25C1571A-8941-4039-94AE-B4AF613E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955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Different baseline risk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1ED7D283-DDD1-4D17-BE5C-A129A94A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5750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 shared comparator is not automatically exchangeable once covariates and residual risk drift across studies.</a:t>
            </a:r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DFEB1408-C5B4-4DB3-879B-1CBFD6C1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62150"/>
            <a:ext cx="32575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8DDD55E-0F52-4F05-9BED-9E2110B7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62150"/>
            <a:ext cx="3257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1C18A354-0A52-4637-80C3-551D7800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1" name="card-title">
            <a:extLst xmlns:a="http://schemas.openxmlformats.org/drawingml/2006/main">
              <a:ext uri="{FF2B5EF4-FFF2-40B4-BE49-F238E27FC236}">
                <a16:creationId xmlns:a16="http://schemas.microsoft.com/office/drawing/2014/main" id="{F2CA8348-E835-467B-B24A-AB959CB7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955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Patient-level decisions</a:t>
            </a:r>
          </a:p>
        </p:txBody>
      </p:sp>
      <p:sp>
        <p:nvSpPr>
          <p:cNvPr id="32" name="card-body">
            <a:extLst xmlns:a="http://schemas.openxmlformats.org/drawingml/2006/main">
              <a:ext uri="{FF2B5EF4-FFF2-40B4-BE49-F238E27FC236}">
                <a16:creationId xmlns:a16="http://schemas.microsoft.com/office/drawing/2014/main" id="{5232B8E9-5A24-4464-A69F-1C0070A2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Decision makers need CATEs, targeting, regret, and calibration - not only a network-wide average effect.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34b7fe9ec4ad6"/>
          <a:stretch xmlns:a="http://schemas.openxmlformats.org/drawingml/2006/main"/>
        </p:blipFill>
        <p:spPr>
          <a:xfrm xmlns:a="http://schemas.openxmlformats.org/drawingml/2006/main">
            <a:off x="3535280" y="3981450"/>
            <a:ext cx="4073689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CC2B63-4C3E-4680-A992-D125ECE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0F4451-5B25-4A4C-85E8-DB74382D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E032A8-31B5-483A-B8B8-AB5D7A7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The gap: standard transport needs conditions the target lacks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EADD4DC-0A49-4FAD-9192-E725716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C77E3E1-B4E8-4004-8690-BB8DF06C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3EAC61-E65A-4981-A5CD-715DC02A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839a4f1ac4808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15" name="timing-pill">
            <a:extLst xmlns:a="http://schemas.openxmlformats.org/drawingml/2006/main">
              <a:ext uri="{FF2B5EF4-FFF2-40B4-BE49-F238E27FC236}">
                <a16:creationId xmlns:a16="http://schemas.microsoft.com/office/drawing/2014/main" id="{3DA08BC8-8F26-48E3-8F22-5B22C011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3425B640-7D3A-4E42-AA48-245BA90A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1:45-3:00</a:t>
            </a:r>
          </a:p>
        </p:txBody>
      </p:sp>
      <p:sp>
        <p:nvSpPr>
          <p:cNvPr id="17" name="claim">
            <a:extLst xmlns:a="http://schemas.openxmlformats.org/drawingml/2006/main">
              <a:ext uri="{FF2B5EF4-FFF2-40B4-BE49-F238E27FC236}">
                <a16:creationId xmlns:a16="http://schemas.microsoft.com/office/drawing/2014/main" id="{EFEFF3D0-426B-4E81-9C72-4205A6CF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hard case is weakly connected or disconnected target evidence under covariate shift.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FE5BE3-FFC9-4833-A22E-F37D8C33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F51F1-DBDD-4586-B3F9-AC64A42A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3CCDF-FBFC-4990-AE6E-3BD276B7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Common assumption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6F532-BF87-4706-8D86-D6F28807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764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Failure mode in this talk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3A3F8-0A9C-4F62-9787-2C32630D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Network connectivity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A41D4B-2ED2-441B-B850-5EAA37C0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trial connects through a shared comparator arm.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2E25A9-1169-45D7-BB8F-7A6B9441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71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Disconnected target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E8BBC-AFC5-4DF4-8E7C-353D5E5B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956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 may have placebo only for the treatment of interest.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544BB8-000B-4190-97D1-63CC5E0E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9080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5F54F4-6D6A-4175-B261-B8931A20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Comparator exchangeability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66C139-FD86-4D36-9D69-43C22C8D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Placebo arms are comparable after measured adjustment.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369AD0-A814-4154-8567-B7869C76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623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Residual baseline drift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D7AD40-DDD0-4414-91EC-542810F6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862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Measured shift plus site-specific risk makes direct transfer biased.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C03E26-7F15-4CC4-AFAC-DBB562C5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8140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EB404A-E45B-4744-B54A-EA582E27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Average effect is enough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387097-3064-4A68-8FBC-D79EF0E0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NMA or transport reports a marginal target estimand.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08F95A-8C8B-4C23-BFF7-4B58FE70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529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Individualized decisions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080756-D349-4767-B714-54F4C63F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768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The task is calibrated patient-level CATE and targeting.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308348-EDC2-482D-9888-5C983134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7200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3D7C4B-FC85-4E38-A9B9-7AA6EEB2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E94C10-56B5-40F2-A6D5-A98DAC74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00a3dff34494f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BAA01F-50BC-48E8-AD04-6C581812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Core idea: target placebo is the gold calibration signal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56D09CC-0746-455B-AB3D-E18655AE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FC07648-E8B7-455B-9D4F-5250ADAD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C713485-F834-4B16-80AE-204C3F20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6127FA9-3303-4B98-A8D9-F2FF3886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590800" cy="2667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E6CCA0C-29B1-47D9-AFEE-190ABCCE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590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7B21C87-CAC4-4164-8C5C-6F7C3B65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01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D196A9-B415-46E3-9361-F8B69849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1F20"/>
                </a:solidFill>
              </a:defRPr>
            </a:pPr>
            <a:r>
              <a:rPr sz="1800" b="1">
                <a:solidFill>
                  <a:srgbClr val="231F20"/>
                </a:solidFill>
              </a:rPr>
              <a:t>Proxy signal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6539635-A17C-45AA-BA83-E3A89439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133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5E5A56"/>
                </a:solidFill>
              </a:rPr>
              <a:t>Source-trial IPD gives abundant but miscalibrated outcome models.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4A757F2E-DE43-4AD0-B514-A25D2815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D4A413D-8FE5-40F9-A86A-EB9C5828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590800" cy="2667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E422E56-223C-4574-905D-41A3A788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590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F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605098D-18A7-4AAA-AD1E-F7A3DC5A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02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FF75E07-E430-4EA6-9D33-781F5701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1F20"/>
                </a:solidFill>
              </a:defRPr>
            </a:pPr>
            <a:r>
              <a:rPr sz="1800" b="1">
                <a:solidFill>
                  <a:srgbClr val="231F20"/>
                </a:solidFill>
              </a:rPr>
              <a:t>Gold anchor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470A79E-9A4F-4BB2-9D59-35D29E01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0400"/>
            <a:ext cx="2133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5E5A56"/>
                </a:solidFill>
              </a:rPr>
              <a:t>Target placebo outcomes directly reveal local baseline risk.</a:t>
            </a:r>
          </a:p>
        </p:txBody>
      </p:sp>
      <p:sp>
        <p:nvSpPr>
          <p:cNvPr id="21" name="Right Arrow 20">
            <a:extLst xmlns:a="http://schemas.openxmlformats.org/drawingml/2006/main">
              <a:ext uri="{FF2B5EF4-FFF2-40B4-BE49-F238E27FC236}">
                <a16:creationId xmlns:a16="http://schemas.microsoft.com/office/drawing/2014/main" id="{C0A0FEF9-0B0E-4ABD-BDB3-4D551D9A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820D8B46-5790-4952-AAD4-31DEBEA5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590800" cy="2667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D2AA4B5C-1DB7-4987-B47B-BEE70CE7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590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A2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9532A85-6EC4-43BF-A133-30647930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03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8C8BEEB-80C0-4D60-8AF1-B9D70A6D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1F20"/>
                </a:solidFill>
              </a:defRPr>
            </a:pPr>
            <a:r>
              <a:rPr sz="1800" b="1">
                <a:solidFill>
                  <a:srgbClr val="231F20"/>
                </a:solidFill>
              </a:rPr>
              <a:t>Sparse correction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F859E99-E762-4417-9F81-4D148CB0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0400"/>
            <a:ext cx="2133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5E5A56"/>
                </a:solidFill>
              </a:rPr>
              <a:t>A low-complexity adjustment calibrates proxy models to the target.</a:t>
            </a:r>
          </a:p>
        </p:txBody>
      </p:sp>
      <p:sp>
        <p:nvSpPr>
          <p:cNvPr id="27" name="Right Arrow 26">
            <a:extLst xmlns:a="http://schemas.openxmlformats.org/drawingml/2006/main">
              <a:ext uri="{FF2B5EF4-FFF2-40B4-BE49-F238E27FC236}">
                <a16:creationId xmlns:a16="http://schemas.microsoft.com/office/drawing/2014/main" id="{547E1AC7-8448-4E62-984D-B043DFB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CC1845AB-F754-4205-964A-F13570CA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590800" cy="2667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F55949CC-D334-4E4A-A505-C1064068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590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F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D8AC435-DCB9-4AA7-86AA-9DE31760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3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04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57347287-1C79-4654-AB74-9220487C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1F20"/>
                </a:solidFill>
              </a:defRPr>
            </a:pPr>
            <a:r>
              <a:rPr sz="1800" b="1">
                <a:solidFill>
                  <a:srgbClr val="231F20"/>
                </a:solidFill>
              </a:rPr>
              <a:t>DR learner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877CA81-FD6B-4632-8B44-83095EFF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0400"/>
            <a:ext cx="2133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5E5A56"/>
                </a:solidFill>
              </a:rPr>
              <a:t>Cross-fitted pseudo-outcomes stabilize CATE estimation and policy use.</a:t>
            </a:r>
          </a:p>
        </p:txBody>
      </p:sp>
      <p:sp>
        <p:nvSpPr>
          <p:cNvPr id="34" name="timing-pill">
            <a:extLst xmlns:a="http://schemas.openxmlformats.org/drawingml/2006/main">
              <a:ext uri="{FF2B5EF4-FFF2-40B4-BE49-F238E27FC236}">
                <a16:creationId xmlns:a16="http://schemas.microsoft.com/office/drawing/2014/main" id="{54F945DD-73F3-4012-8206-44056DDE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5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C3001171-7F5D-4054-916C-E806F554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3:00-4:15</a:t>
            </a:r>
          </a:p>
        </p:txBody>
      </p:sp>
    </p:spTree>
    <p:extLst>
      <p:ext uri="{BB962C8B-B14F-4D97-AF65-F5344CB8AC3E}">
        <p14:creationId xmlns:p14="http://schemas.microsoft.com/office/powerpoint/2010/main" val="1242503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3D7C4B-FC85-4E38-A9B9-7AA6EEB2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E94C10-56B5-40F2-A6D5-A98DAC74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1dc4e80ec430f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BAA01F-50BC-48E8-AD04-6C581812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Estimator pipeline: anchor first, orthogonalize second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56D09CC-0746-455B-AB3D-E18655AE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FC07648-E8B7-455B-9D4F-5250ADAD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C713485-F834-4B16-80AE-204C3F20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6127FA9-3303-4B98-A8D9-F2FF3886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590800" cy="2667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E6CCA0C-29B1-47D9-AFEE-190ABCCE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590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7B21C87-CAC4-4164-8C5C-6F7C3B65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A0019"/>
                </a:solidFill>
              </a:defRPr>
            </a:pPr>
            <a:r>
              <a:rPr sz="1800" b="1">
                <a:solidFill>
                  <a:srgbClr val="7A0019"/>
                </a:solidFill>
              </a:rPr>
              <a:t>01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D196A9-B415-46E3-9361-F8B69849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1F20"/>
                </a:solidFill>
              </a:defRPr>
            </a:pPr>
            <a:r>
              <a:rPr sz="1800" b="1">
                <a:solidFill>
                  <a:srgbClr val="231F20"/>
                </a:solidFill>
              </a:rPr>
              <a:t>Fit source models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6539635-A17C-45AA-BA83-E3A89439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133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5E5A56"/>
                </a:solidFill>
              </a:rPr>
              <a:t>Learn mu0 and mu1 from source IPD; randomized propensities are known.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4A757F2E-DE43-4AD0-B514-A25D2815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D4A413D-8FE5-40F9-A86A-EB9C5828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590800" cy="2667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E422E56-223C-4574-905D-41A3A788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590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F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605098D-18A7-4AAA-AD1E-F7A3DC5A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A0019"/>
                </a:solidFill>
              </a:defRPr>
            </a:pPr>
            <a:r>
              <a:rPr sz="1800" b="1">
                <a:solidFill>
                  <a:srgbClr val="7A0019"/>
                </a:solidFill>
              </a:rPr>
              <a:t>02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FF75E07-E430-4EA6-9D33-781F5701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1F20"/>
                </a:solidFill>
              </a:defRPr>
            </a:pPr>
            <a:r>
              <a:rPr sz="1800" b="1">
                <a:solidFill>
                  <a:srgbClr val="231F20"/>
                </a:solidFill>
              </a:rPr>
              <a:t>Anchor baseline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470A79E-9A4F-4BB2-9D59-35D29E01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0400"/>
            <a:ext cx="2133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5E5A56"/>
                </a:solidFill>
              </a:rPr>
              <a:t>Use target placebo gold labels to correct target baseline risk.</a:t>
            </a:r>
          </a:p>
        </p:txBody>
      </p:sp>
      <p:sp>
        <p:nvSpPr>
          <p:cNvPr id="21" name="Right Arrow 20">
            <a:extLst xmlns:a="http://schemas.openxmlformats.org/drawingml/2006/main">
              <a:ext uri="{FF2B5EF4-FFF2-40B4-BE49-F238E27FC236}">
                <a16:creationId xmlns:a16="http://schemas.microsoft.com/office/drawing/2014/main" id="{C0A0FEF9-0B0E-4ABD-BDB3-4D551D9A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820D8B46-5790-4952-AAD4-31DEBEA5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590800" cy="2667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D2AA4B5C-1DB7-4987-B47B-BEE70CE7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590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A2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9532A85-6EC4-43BF-A133-30647930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A0019"/>
                </a:solidFill>
              </a:defRPr>
            </a:pPr>
            <a:r>
              <a:rPr sz="1800" b="1">
                <a:solidFill>
                  <a:srgbClr val="7A0019"/>
                </a:solidFill>
              </a:rPr>
              <a:t>03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8C8BEEB-80C0-4D60-8AF1-B9D70A6D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1F20"/>
                </a:solidFill>
              </a:defRPr>
            </a:pPr>
            <a:r>
              <a:rPr sz="1425" b="1">
                <a:solidFill>
                  <a:srgbClr val="231F20"/>
                </a:solidFill>
              </a:rPr>
              <a:t>Build pseudo-outcomes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F859E99-E762-4417-9F81-4D148CB0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0400"/>
            <a:ext cx="2133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5E5A56"/>
                </a:solidFill>
              </a:rPr>
              <a:t>Form DR pseudo-outcomes with cross-fitting when target treated data exist.</a:t>
            </a:r>
          </a:p>
        </p:txBody>
      </p:sp>
      <p:sp>
        <p:nvSpPr>
          <p:cNvPr id="27" name="Right Arrow 26">
            <a:extLst xmlns:a="http://schemas.openxmlformats.org/drawingml/2006/main">
              <a:ext uri="{FF2B5EF4-FFF2-40B4-BE49-F238E27FC236}">
                <a16:creationId xmlns:a16="http://schemas.microsoft.com/office/drawing/2014/main" id="{547E1AC7-8448-4E62-984D-B043DFB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CC1845AB-F754-4205-964A-F13570CA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590800" cy="2667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F55949CC-D334-4E4A-A505-C1064068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590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F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D8AC435-DCB9-4AA7-86AA-9DE31760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3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A0019"/>
                </a:solidFill>
              </a:defRPr>
            </a:pPr>
            <a:r>
              <a:rPr sz="1800" b="1">
                <a:solidFill>
                  <a:srgbClr val="7A0019"/>
                </a:solidFill>
              </a:rPr>
              <a:t>04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57347287-1C79-4654-AB74-9220487C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1F20"/>
                </a:solidFill>
              </a:defRPr>
            </a:pPr>
            <a:r>
              <a:rPr sz="1800" b="1">
                <a:solidFill>
                  <a:srgbClr val="231F20"/>
                </a:solidFill>
              </a:rPr>
              <a:t>Estimate CATE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877CA81-FD6B-4632-8B44-83095EFF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0400"/>
            <a:ext cx="2133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5E5A56"/>
                </a:solidFill>
              </a:rPr>
              <a:t>Predict tau(x), evaluate ranking, calibration, and treatment policy regret.</a:t>
            </a:r>
          </a:p>
        </p:txBody>
      </p:sp>
      <p:sp>
        <p:nvSpPr>
          <p:cNvPr id="34" name="timing-pill">
            <a:extLst xmlns:a="http://schemas.openxmlformats.org/drawingml/2006/main">
              <a:ext uri="{FF2B5EF4-FFF2-40B4-BE49-F238E27FC236}">
                <a16:creationId xmlns:a16="http://schemas.microsoft.com/office/drawing/2014/main" id="{2C660F85-E2C7-4BBF-99DA-CE2D0ABB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5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CB152D15-3F2B-409B-A8FB-3E823A50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4:15-6:00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6863586ec4c2c"/>
          <a:stretch xmlns:a="http://schemas.openxmlformats.org/drawingml/2006/main"/>
        </p:blipFill>
        <p:spPr>
          <a:xfrm xmlns:a="http://schemas.openxmlformats.org/drawingml/2006/main">
            <a:off x="685800" y="1927819"/>
            <a:ext cx="10820400" cy="35738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03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C3666D-B399-484F-8135-C352311A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55FE13-F112-448E-A0CB-8884909C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f554d52da426b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82FA3AB-8B01-404F-8DE1-FEB6FCBC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99" y="438150"/>
            <a:ext cx="899277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85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Two target regimes, two interpretations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0562148-2D2A-4781-86FB-92725A9C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88E6346-D434-49F4-AAED-27E72584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6B9F958-4EBA-412D-A5C4-1CA27CE2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DFF93E5-C50D-4A9F-B407-10851898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1CA12CE-1AEC-4A19-B420-C6E03A63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390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1840215-0C0B-4BC6-AE8B-C6447E00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Connected target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F9CECB2-746E-41FB-923C-37C2B725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65605C"/>
                </a:solidFill>
              </a:rPr>
              <a:t>Target has treated and placebo outcomes. The estimator targets an identified target-site CATE and admits a Neyman-orthogonal expansion.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7EF08BB-A78B-406C-96E5-7E91DA84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FDC568A-3BDF-4547-A26A-B4646E32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A8651AD-6AE5-4709-A347-520394E5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478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Disconnected target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D0669C6-E539-496E-9092-EC93CD04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65605C"/>
                </a:solidFill>
              </a:rPr>
              <a:t>Target has placebo only. The output is a screen-then-transport working-model estimate under explicit A6 transport assumptions.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D538E8F-653A-4F8B-AFBD-C5E139C7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23A5D08-D01B-4197-AA0F-85388C72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90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30E99DC-E46C-4E32-9C3C-7F47B7A1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</a:defRPr>
            </a:pPr>
            <a:r>
              <a:rPr sz="1425" b="1">
                <a:solidFill>
                  <a:srgbClr val="8A0020"/>
                </a:solidFill>
              </a:rPr>
              <a:t>What to say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5207555-A7AE-43B5-A69E-1226E0A3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30099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65605C"/>
                </a:solidFill>
              </a:rPr>
              <a:t>The talk should separate what is identified from what is transported; that distinction is the methodological honesty.</a:t>
            </a:r>
          </a:p>
        </p:txBody>
      </p:sp>
      <p:sp>
        <p:nvSpPr>
          <p:cNvPr id="23" name="timing-pill">
            <a:extLst xmlns:a="http://schemas.openxmlformats.org/drawingml/2006/main">
              <a:ext uri="{FF2B5EF4-FFF2-40B4-BE49-F238E27FC236}">
                <a16:creationId xmlns:a16="http://schemas.microsoft.com/office/drawing/2014/main" id="{64E1654E-6E70-4016-BBCD-56C03493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4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AC87C412-0E2B-4529-9E90-518B27AC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6:00-7:15</a:t>
            </a:r>
          </a:p>
        </p:txBody>
      </p:sp>
    </p:spTree>
    <p:extLst>
      <p:ext uri="{BB962C8B-B14F-4D97-AF65-F5344CB8AC3E}">
        <p14:creationId xmlns:p14="http://schemas.microsoft.com/office/powerpoint/2010/main" val="1099991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3D7C4B-FC85-4E38-A9B9-7AA6EEB2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E94C10-56B5-40F2-A6D5-A98DAC74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aa7eea6e840e0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BAA01F-50BC-48E8-AD04-6C581812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Evaluation: accuracy, targeting, regret, and calibration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56D09CC-0746-455B-AB3D-E18655AE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FC07648-E8B7-455B-9D4F-5250ADAD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C713485-F834-4B16-80AE-204C3F20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6127FA9-3303-4B98-A8D9-F2FF3886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590800" cy="2667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E6CCA0C-29B1-47D9-AFEE-190ABCCE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590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7B21C87-CAC4-4164-8C5C-6F7C3B65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A0019"/>
                </a:solidFill>
              </a:defRPr>
            </a:pPr>
            <a:r>
              <a:rPr sz="1800" b="1">
                <a:solidFill>
                  <a:srgbClr val="7A0019"/>
                </a:solidFill>
              </a:rPr>
              <a:t>01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D196A9-B415-46E3-9361-F8B69849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1F20"/>
                </a:solidFill>
              </a:defRPr>
            </a:pPr>
            <a:r>
              <a:rPr sz="1800" b="1">
                <a:solidFill>
                  <a:srgbClr val="231F20"/>
                </a:solidFill>
              </a:rPr>
              <a:t>Synthetic RCTs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6539635-A17C-45AA-BA83-E3A89439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133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5E5A56"/>
                </a:solidFill>
              </a:rPr>
              <a:t>Controlled covariate shift, known potential outcomes, 100 Monte Carlo replicates.</a:t>
            </a:r>
          </a:p>
        </p:txBody>
      </p:sp>
      <p:sp>
        <p:nvSpPr>
          <p:cNvPr id="15" name="Right Arrow 14">
            <a:extLst xmlns:a="http://schemas.openxmlformats.org/drawingml/2006/main">
              <a:ext uri="{FF2B5EF4-FFF2-40B4-BE49-F238E27FC236}">
                <a16:creationId xmlns:a16="http://schemas.microsoft.com/office/drawing/2014/main" id="{4A757F2E-DE43-4AD0-B514-A25D2815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D4A413D-8FE5-40F9-A86A-EB9C5828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590800" cy="2667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E422E56-223C-4574-905D-41A3A788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590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F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605098D-18A7-4AAA-AD1E-F7A3DC5A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A0019"/>
                </a:solidFill>
              </a:defRPr>
            </a:pPr>
            <a:r>
              <a:rPr sz="1800" b="1">
                <a:solidFill>
                  <a:srgbClr val="7A0019"/>
                </a:solidFill>
              </a:rPr>
              <a:t>02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FF75E07-E430-4EA6-9D33-781F5701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1F20"/>
                </a:solidFill>
              </a:defRPr>
            </a:pPr>
            <a:r>
              <a:rPr sz="1800" b="1">
                <a:solidFill>
                  <a:srgbClr val="231F20"/>
                </a:solidFill>
              </a:rPr>
              <a:t>Ablations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470A79E-9A4F-4BB2-9D59-35D29E01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0400"/>
            <a:ext cx="2133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5E5A56"/>
                </a:solidFill>
              </a:rPr>
              <a:t>Compare TargetOnly, ProxyOnly, AnchorOnly, transport baselines, Proposed variants.</a:t>
            </a:r>
          </a:p>
        </p:txBody>
      </p:sp>
      <p:sp>
        <p:nvSpPr>
          <p:cNvPr id="21" name="Right Arrow 20">
            <a:extLst xmlns:a="http://schemas.openxmlformats.org/drawingml/2006/main">
              <a:ext uri="{FF2B5EF4-FFF2-40B4-BE49-F238E27FC236}">
                <a16:creationId xmlns:a16="http://schemas.microsoft.com/office/drawing/2014/main" id="{C0A0FEF9-0B0E-4ABD-BDB3-4D551D9A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820D8B46-5790-4952-AAD4-31DEBEA5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590800" cy="2667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D2AA4B5C-1DB7-4987-B47B-BEE70CE7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590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A2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9532A85-6EC4-43BF-A133-30647930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A0019"/>
                </a:solidFill>
              </a:defRPr>
            </a:pPr>
            <a:r>
              <a:rPr sz="1800" b="1">
                <a:solidFill>
                  <a:srgbClr val="7A0019"/>
                </a:solidFill>
              </a:rPr>
              <a:t>03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8C8BEEB-80C0-4D60-8AF1-B9D70A6D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1F20"/>
                </a:solidFill>
              </a:defRPr>
            </a:pPr>
            <a:r>
              <a:rPr sz="1800" b="1">
                <a:solidFill>
                  <a:srgbClr val="231F20"/>
                </a:solidFill>
              </a:rPr>
              <a:t>Stress tests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F859E99-E762-4417-9F81-4D148CB0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0400"/>
            <a:ext cx="2133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5E5A56"/>
                </a:solidFill>
              </a:rPr>
              <a:t>Sweep target budget, dimension, number of sources, sparsity, and nonlinearity.</a:t>
            </a:r>
          </a:p>
        </p:txBody>
      </p:sp>
      <p:sp>
        <p:nvSpPr>
          <p:cNvPr id="27" name="Right Arrow 26">
            <a:extLst xmlns:a="http://schemas.openxmlformats.org/drawingml/2006/main">
              <a:ext uri="{FF2B5EF4-FFF2-40B4-BE49-F238E27FC236}">
                <a16:creationId xmlns:a16="http://schemas.microsoft.com/office/drawing/2014/main" id="{547E1AC7-8448-4E62-984D-B043DFB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152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D8AE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CC1845AB-F754-4205-964A-F13570CA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590800" cy="26670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F55949CC-D334-4E4A-A505-C1064068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590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FA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D8AC435-DCB9-4AA7-86AA-9DE31760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31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A0019"/>
                </a:solidFill>
              </a:defRPr>
            </a:pPr>
            <a:r>
              <a:rPr sz="1800" b="1">
                <a:solidFill>
                  <a:srgbClr val="7A0019"/>
                </a:solidFill>
              </a:rPr>
              <a:t>04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57347287-1C79-4654-AB74-9220487C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1F20"/>
                </a:solidFill>
              </a:defRPr>
            </a:pPr>
            <a:r>
              <a:rPr sz="1800" b="1">
                <a:solidFill>
                  <a:srgbClr val="231F20"/>
                </a:solidFill>
              </a:rPr>
              <a:t>IHDP benchmark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877CA81-FD6B-4632-8B44-83095EFF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0400"/>
            <a:ext cx="2133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A56"/>
                </a:solidFill>
              </a:defRPr>
            </a:pPr>
            <a:r>
              <a:rPr sz="1350" b="0">
                <a:solidFill>
                  <a:srgbClr val="5E5A56"/>
                </a:solidFill>
              </a:rPr>
              <a:t>Real covariate distributions with semi-synthetic outcomes over 50 realizations.</a:t>
            </a:r>
          </a:p>
        </p:txBody>
      </p:sp>
      <p:sp>
        <p:nvSpPr>
          <p:cNvPr id="34" name="timing-pill">
            <a:extLst xmlns:a="http://schemas.openxmlformats.org/drawingml/2006/main">
              <a:ext uri="{FF2B5EF4-FFF2-40B4-BE49-F238E27FC236}">
                <a16:creationId xmlns:a16="http://schemas.microsoft.com/office/drawing/2014/main" id="{0A3B7606-99DD-4687-89FD-D6A8E49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5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F20C3FFE-67A5-4C52-8231-36350582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7:15-8:30</a:t>
            </a:r>
          </a:p>
        </p:txBody>
      </p:sp>
    </p:spTree>
    <p:extLst>
      <p:ext uri="{BB962C8B-B14F-4D97-AF65-F5344CB8AC3E}">
        <p14:creationId xmlns:p14="http://schemas.microsoft.com/office/powerpoint/2010/main" val="1242503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CC2B63-4C3E-4680-A992-D125ECE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0F4451-5B25-4A4C-85E8-DB74382D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E032A8-31B5-483A-B8B8-AB5D7A7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0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Synthetic summary: proposed methods dominate the ranking table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EADD4DC-0A49-4FAD-9192-E725716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C77E3E1-B4E8-4004-8690-BB8DF06C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3EAC61-E65A-4981-A5CD-715DC02A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1b9ea7d444e04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15" name="timing-pill">
            <a:extLst xmlns:a="http://schemas.openxmlformats.org/drawingml/2006/main">
              <a:ext uri="{FF2B5EF4-FFF2-40B4-BE49-F238E27FC236}">
                <a16:creationId xmlns:a16="http://schemas.microsoft.com/office/drawing/2014/main" id="{347933E5-04B8-495A-A28D-44EF101F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E8DEBB6A-2800-4AFE-9105-212E557F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8:30-10:00</a:t>
            </a:r>
          </a:p>
        </p:txBody>
      </p:sp>
      <p:sp>
        <p:nvSpPr>
          <p:cNvPr id="17" name="claim">
            <a:extLst xmlns:a="http://schemas.openxmlformats.org/drawingml/2006/main">
              <a:ext uri="{FF2B5EF4-FFF2-40B4-BE49-F238E27FC236}">
                <a16:creationId xmlns:a16="http://schemas.microsoft.com/office/drawing/2014/main" id="{018A5271-9039-48AB-B8B4-9F9D84F4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Across synthetic sweeps, Proposed is rank 1 on PEHE, ATE, Spearman, and regret; Proposed-CF leads calibration.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CEC58-9940-4D11-9D1E-42CE5058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288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Average rank across performance metrics (lower is better)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2118E-8573-4FC4-B404-90E76F16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241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17BBE-44A5-4AAE-BFBC-9DA2F7D6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43150"/>
            <a:ext cx="495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F27C4-D286-4EDB-B153-DA9FDE23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43150"/>
            <a:ext cx="715433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60CB91-26C9-4A38-9353-9F204FA8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145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1.3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F5C37-2D57-49B8-9F9B-61C6D588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Proposed-CF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20464A-D98C-49A7-91EC-B940F39F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62250"/>
            <a:ext cx="495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B18780-18F6-4FA0-8133-220C03F5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62250"/>
            <a:ext cx="9906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B28D7-70E9-4A73-930F-A10E52FC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336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1.8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056BDB-6B44-413C-8D85-BC3203FD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Proposed-B†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9DB135-DB2F-463A-8DD1-0110AC97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81350"/>
            <a:ext cx="495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9BED8A-22C4-42F8-AE44-982608CB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81350"/>
            <a:ext cx="18161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5A8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B5F2DD-E267-4821-93BF-38BAF2B9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527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3.3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405164-3110-4194-B1DC-BE964C84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OM-Transport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84F1B3-6435-4F6E-81B9-77AEEF81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00450"/>
            <a:ext cx="495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A02BB9-5EB0-4D24-9EEF-3600FDA8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00450"/>
            <a:ext cx="23114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9A9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782043-8D05-4F06-81AF-05DAFA23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718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4.2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9B1271-2E8E-4278-8E02-0DE09103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IPW-Transport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A0F13F-788D-42DF-9842-B174BD62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19550"/>
            <a:ext cx="495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8EEB6C-F7B6-4F64-A317-59226888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19550"/>
            <a:ext cx="2751667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AE930E-A17A-402C-BA79-4033808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909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5.0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26F152-375D-4278-8878-52B80E6E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96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TargetOnly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D0CA49-8033-4934-9320-7B2B878E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38650"/>
            <a:ext cx="495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34B57D-0F7A-43CD-A94C-30F8CA8E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38650"/>
            <a:ext cx="3302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886CB8-3B5E-42BF-842E-D77C33B3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100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6.0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E6E4C2-A340-4D6F-BF79-0B3E4E73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ProxyOnly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6C6D0E-EA2A-4313-8146-D339BBBD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57750"/>
            <a:ext cx="495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E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80AE7C-7262-4771-BCDF-AA3915FC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57750"/>
            <a:ext cx="4677833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2E6F0C-B2A4-4E85-B336-3FEEBC2D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29175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8.5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2865BE-1AD1-4F7E-B785-B6C0A127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5267C5-4ABC-45FD-A95E-69D5D717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384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Proposed avg rank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7CCF21-B98B-400C-A807-BACEC161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7B8F70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7B8F70"/>
                </a:solidFill>
                <a:latin typeface="Aptos Display"/>
                <a:ea typeface="Aptos Display"/>
                <a:cs typeface="Aptos Display"/>
              </a:rPr>
              <a:t>1.3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49647D-8173-4C83-85F9-70796116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PEHE/ATE/rank/regret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5FFB70-C80D-42D4-BE97-F739B1F1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52850"/>
            <a:ext cx="1809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059743-A0F4-48BE-8565-09825224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24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Proposed-CF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ED541D-8EAD-42AC-8DAD-E9C8FDFA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6F8EA4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6F8EA4"/>
                </a:solidFill>
                <a:latin typeface="Aptos Display"/>
                <a:ea typeface="Aptos Display"/>
                <a:cs typeface="Aptos Display"/>
              </a:rPr>
              <a:t>1.3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23692A-615F-4037-9C06-6E2FAB06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482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ECE rank (calibration)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B0E4DA-D5E7-4275-80CC-6F6E1025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† AnchorOnly (avg rank ≈6.5, ablation) and EntropyBal (≈5.5) omitted for space — full 9-method comparison in Table I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CC2B63-4C3E-4680-A992-D125ECE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0F4451-5B25-4A4C-85E8-DB74382D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E032A8-31B5-483A-B8B8-AB5D7A7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Small target samples are where transfer pays off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EADD4DC-0A49-4FAD-9192-E725716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C77E3E1-B4E8-4004-8690-BB8DF06C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3EAC61-E65A-4981-A5CD-715DC02A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6e94aad824f70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15" name="timing-pill">
            <a:extLst xmlns:a="http://schemas.openxmlformats.org/drawingml/2006/main">
              <a:ext uri="{FF2B5EF4-FFF2-40B4-BE49-F238E27FC236}">
                <a16:creationId xmlns:a16="http://schemas.microsoft.com/office/drawing/2014/main" id="{F96490E8-C130-4659-B9EB-6BE8FEED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BC1FE7DE-0BC9-48AD-A680-E757342B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10:00-11:15</a:t>
            </a:r>
          </a:p>
        </p:txBody>
      </p:sp>
      <p:sp>
        <p:nvSpPr>
          <p:cNvPr id="17" name="claim">
            <a:extLst xmlns:a="http://schemas.openxmlformats.org/drawingml/2006/main">
              <a:ext uri="{FF2B5EF4-FFF2-40B4-BE49-F238E27FC236}">
                <a16:creationId xmlns:a16="http://schemas.microsoft.com/office/drawing/2014/main" id="{1F4E9C40-CF56-4A12-9F2F-F1E45CC7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When p is large and target labels are scarce, target-only learning deteriorates while anchored transfer stays usable.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D9367-8C81-4FDB-BFAD-BBD1C633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952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D5B29-AF6E-4725-A575-5442987E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p=100, target 150/100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9A27AF-1945-4D59-8A21-390992AC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7B8F70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7B8F70"/>
                </a:solidFill>
                <a:latin typeface="Aptos Display"/>
                <a:ea typeface="Aptos Display"/>
                <a:cs typeface="Aptos Display"/>
              </a:rPr>
              <a:t>7.57 -&gt; 1.71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B572E-B677-4942-A3C5-A5D7FC6B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TargetOnly PEHE to Proposed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A1DA9-5DAA-41C6-AE4A-1B796D3F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2952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2196BC-6BF2-4A8A-B68A-2C08A06A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p=50, target 150/100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B87D4F-DDCA-48DE-BF12-77B1E76D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336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7B8F70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7B8F70"/>
                </a:solidFill>
                <a:latin typeface="Aptos Display"/>
                <a:ea typeface="Aptos Display"/>
                <a:cs typeface="Aptos Display"/>
              </a:rPr>
              <a:t>4.75 -&gt; 0.73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6B265F-B8DC-4961-B7F0-E07E6643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718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TargetOnly PEHE to Proposed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1C0E0B-63AE-4CF6-B762-B2EE8056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76450"/>
            <a:ext cx="2952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EB448E-2D7B-4183-9F3D-1CFD6251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5605C"/>
                </a:solidFill>
                <a:latin typeface="Aptos"/>
                <a:ea typeface="Aptos"/>
                <a:cs typeface="Aptos"/>
              </a:rPr>
              <a:t>p=20, target 150/100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8000D-633A-4C1D-BF5A-35F25F0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336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6F8EA4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6F8EA4"/>
                </a:solidFill>
                <a:latin typeface="Aptos Display"/>
                <a:ea typeface="Aptos Display"/>
                <a:cs typeface="Aptos Display"/>
              </a:rPr>
              <a:t>2.60 -&gt; 0.50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94CEC-AE15-4608-8619-4CC7E44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718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TargetOnly PEHE to Proposed-CF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8E54B1-6A93-42FF-916F-EF519476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9582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10CF5B-F0C1-4CCB-9F29-F7D0F486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901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Talk move: show this slide as the finite-sample reason for the method. The estimator is not just theoretically neat; it is strongest where target IPD is most expensive.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CC2B63-4C3E-4680-A992-D125ECE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0F4451-5B25-4A4C-85E8-DB74382D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E032A8-31B5-483A-B8B8-AB5D7A7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75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Disconnected targets: useful, but label the assumption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EADD4DC-0A49-4FAD-9192-E725716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C77E3E1-B4E8-4004-8690-BB8DF06C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3EAC61-E65A-4981-A5CD-715DC02A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5546bf3b74e82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15" name="timing-pill">
            <a:extLst xmlns:a="http://schemas.openxmlformats.org/drawingml/2006/main">
              <a:ext uri="{FF2B5EF4-FFF2-40B4-BE49-F238E27FC236}">
                <a16:creationId xmlns:a16="http://schemas.microsoft.com/office/drawing/2014/main" id="{DFAB10A7-AC26-49BD-8394-042C2296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85FBA3C5-B4EA-4535-9758-B8DD72E4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11:15-12:30</a:t>
            </a:r>
          </a:p>
        </p:txBody>
      </p:sp>
      <p:sp>
        <p:nvSpPr>
          <p:cNvPr id="17" name="claim">
            <a:extLst xmlns:a="http://schemas.openxmlformats.org/drawingml/2006/main">
              <a:ext uri="{FF2B5EF4-FFF2-40B4-BE49-F238E27FC236}">
                <a16:creationId xmlns:a16="http://schemas.microsoft.com/office/drawing/2014/main" id="{1CFB0C9A-5043-4D4C-AEC2-8D9B8BC3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With m1=0, Proposed-B is best or near-best on PEHE, but the estimand is transported rather than identified.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A4FEA-1A07-434C-A6FA-5CCF42E0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7056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77958-44A9-414E-B52C-FD8473D5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636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Disconnected PEHE, target placebo only (m0=50)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375C3-4E23-4BD7-8DA1-67F0644D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1987"/>
            <a:ext cx="304800" cy="635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CDD7D8-716B-4E96-B361-27D57DCA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24738"/>
            <a:ext cx="304800" cy="4425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C10CE-DCD2-41CF-A3EF-96ADD55F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p=10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0CEB0E-ECB1-46B7-B8BF-6B0780F0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52363"/>
            <a:ext cx="304800" cy="9148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88A0A-B9B9-410F-BC66-B77F95F7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37864"/>
            <a:ext cx="304800" cy="5293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F5F3C-FC7F-44DC-9333-14177BDE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625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p=20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E3EC56-5D64-44B5-B4A6-8CB9B49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98096"/>
            <a:ext cx="304800" cy="15691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1819E-C371-40C5-B6A1-32012E2A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84940"/>
            <a:ext cx="304800" cy="882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ED5B4D-8E9E-4593-B84E-A74DEF20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625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p=50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219DF5-AA8B-4863-B938-E1D6DDAC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38400"/>
            <a:ext cx="3048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52673D-12CE-4438-907E-D1284B7F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7756"/>
            <a:ext cx="304800" cy="10994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CAC9BF-C0C6-4A4F-A57E-55CC251A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625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p=100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FC2EC4-7E40-4835-9932-898D8109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81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38BB72-E016-460D-BF86-FCB1783A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336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ProxyOnly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7E36E1-0EE3-4D40-8907-26D501FD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28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088814-DA13-42AD-9301-BCF5D0FD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812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Proposed-B</a:t>
            </a:r>
          </a:p>
        </p:txBody>
      </p:sp>
      <p:sp>
        <p:nvSpPr>
          <p:cNvPr id="36" name="card">
            <a:extLst xmlns:a="http://schemas.openxmlformats.org/drawingml/2006/main">
              <a:ext uri="{FF2B5EF4-FFF2-40B4-BE49-F238E27FC236}">
                <a16:creationId xmlns:a16="http://schemas.microsoft.com/office/drawing/2014/main" id="{8F344615-584B-42E9-B7B8-F0E0D24E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32385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5F2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37" name="card-accent">
            <a:extLst xmlns:a="http://schemas.openxmlformats.org/drawingml/2006/main">
              <a:ext uri="{FF2B5EF4-FFF2-40B4-BE49-F238E27FC236}">
                <a16:creationId xmlns:a16="http://schemas.microsoft.com/office/drawing/2014/main" id="{0FDBDEA5-F056-4027-B47E-F8928EA7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323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A821DB54-EDBC-4C3A-8C5A-9274C561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A6</a:t>
            </a:r>
          </a:p>
        </p:txBody>
      </p:sp>
      <p:sp>
        <p:nvSpPr>
          <p:cNvPr id="39" name="card-title">
            <a:extLst xmlns:a="http://schemas.openxmlformats.org/drawingml/2006/main">
              <a:ext uri="{FF2B5EF4-FFF2-40B4-BE49-F238E27FC236}">
                <a16:creationId xmlns:a16="http://schemas.microsoft.com/office/drawing/2014/main" id="{2FFAF354-DCEE-417C-BF54-6D59D84B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Screen-then-transport</a:t>
            </a:r>
          </a:p>
        </p:txBody>
      </p:sp>
      <p:sp>
        <p:nvSpPr>
          <p:cNvPr id="40" name="card-body">
            <a:extLst xmlns:a="http://schemas.openxmlformats.org/drawingml/2006/main">
              <a:ext uri="{FF2B5EF4-FFF2-40B4-BE49-F238E27FC236}">
                <a16:creationId xmlns:a16="http://schemas.microsoft.com/office/drawing/2014/main" id="{75754495-B76E-45C8-843F-718CBC00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2857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Use target placebo to detect compatible sources, then transport source CATEs. This supports scenario analysis, not nonparametric identification.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CC2B63-4C3E-4680-A992-D125ECE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0F4451-5B25-4A4C-85E8-DB74382D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E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E032A8-31B5-483A-B8B8-AB5D7A78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7A0019"/>
                </a:solidFill>
              </a:defRPr>
            </a:pPr>
            <a:r>
              <a:rPr sz="2700" b="1">
                <a:solidFill>
                  <a:srgbClr val="8A0020"/>
                </a:solidFill>
                <a:latin typeface="Aptos Display"/>
                <a:ea typeface="Aptos Display"/>
                <a:cs typeface="Aptos Display"/>
              </a:rPr>
              <a:t>IHDP benchmark: real covariate shift tells the same story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EADD4DC-0A49-4FAD-9192-E725716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C77E3E1-B4E8-4004-8690-BB8DF06C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3EAC61-E65A-4981-A5CD-715DC02A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0"/>
            <a:ext cx="350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64c40cbdc4165"/>
          <a:stretch xmlns:a="http://schemas.openxmlformats.org/drawingml/2006/main"/>
        </p:blipFill>
        <p:spPr>
          <a:xfrm xmlns:a="http://schemas.openxmlformats.org/drawingml/2006/main">
            <a:off x="10007713" y="323850"/>
            <a:ext cx="1606323" cy="685800"/>
          </a:xfrm>
          <a:prstGeom xmlns:a="http://schemas.openxmlformats.org/drawingml/2006/main" prst="rect">
            <a:avLst/>
          </a:prstGeom>
        </p:spPr>
      </p:pic>
      <p:sp>
        <p:nvSpPr>
          <p:cNvPr id="15" name="timing-pill">
            <a:extLst xmlns:a="http://schemas.openxmlformats.org/drawingml/2006/main">
              <a:ext uri="{FF2B5EF4-FFF2-40B4-BE49-F238E27FC236}">
                <a16:creationId xmlns:a16="http://schemas.microsoft.com/office/drawing/2014/main" id="{2385BCC7-8244-4AAE-9536-7125D0E3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6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89D87271-C3D1-4AC4-8B15-93F3BAD5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12:30-13:45</a:t>
            </a:r>
          </a:p>
        </p:txBody>
      </p:sp>
      <p:sp>
        <p:nvSpPr>
          <p:cNvPr id="17" name="claim">
            <a:extLst xmlns:a="http://schemas.openxmlformats.org/drawingml/2006/main">
              <a:ext uri="{FF2B5EF4-FFF2-40B4-BE49-F238E27FC236}">
                <a16:creationId xmlns:a16="http://schemas.microsoft.com/office/drawing/2014/main" id="{A58A3D63-06AE-431D-8EFA-CB9A96CC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On real IHDP covariates with known counterfactuals, the method remains best or competitive across connected and disconnected regimes.</a:t>
            </a:r>
          </a:p>
        </p:txBody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883D6099-7C08-4887-94C0-95968A63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7625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6FC0097-3FD8-44F4-A9D6-5DAD6C62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172E5DDA-7FD2-4659-B3AF-591ABBDC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Connected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C534D0DF-DDFF-41E5-8D5C-DAE1B11C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Proposed is best in 9/9 PEHE cells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072D506D-E32A-4A52-8CBB-F6ADBB18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4381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Example: at m0=25, m1=100, PEHE is 1.57 for Proposed vs 2.05 for OM-Transport and 3.09 for TargetOnly.</a:t>
            </a:r>
          </a:p>
        </p:txBody>
      </p:sp>
      <p:sp>
        <p:nvSpPr>
          <p:cNvPr id="23" name="card">
            <a:extLst xmlns:a="http://schemas.openxmlformats.org/drawingml/2006/main">
              <a:ext uri="{FF2B5EF4-FFF2-40B4-BE49-F238E27FC236}">
                <a16:creationId xmlns:a16="http://schemas.microsoft.com/office/drawing/2014/main" id="{BD8CC71B-BEE6-48C3-A437-260A71E2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47625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BA24223-CB02-4887-B020-40B50718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E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card-eyebrow">
            <a:extLst xmlns:a="http://schemas.openxmlformats.org/drawingml/2006/main">
              <a:ext uri="{FF2B5EF4-FFF2-40B4-BE49-F238E27FC236}">
                <a16:creationId xmlns:a16="http://schemas.microsoft.com/office/drawing/2014/main" id="{E2649F5E-CD76-485D-96F4-534BBCA2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0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0020"/>
                </a:solidFill>
                <a:latin typeface="Aptos"/>
                <a:ea typeface="Aptos"/>
                <a:cs typeface="Aptos"/>
              </a:rPr>
              <a:t>Disconnected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B094DEDC-584A-4FE6-9312-E89CEA6B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2B2B"/>
                </a:solidFill>
                <a:latin typeface="Aptos"/>
                <a:ea typeface="Aptos"/>
                <a:cs typeface="Aptos"/>
              </a:rPr>
              <a:t>Lowest PEHE at all placebo budgets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044D2B50-6FE0-4B50-9F6F-0171CE77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4381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At m0=25, PEHE is 2.11 for Proposed-B vs 2.28-2.82 for transport/proxy baselines. Interpret under the working transport condition.</a:t>
            </a:r>
          </a:p>
        </p:txBody>
      </p:sp>
    </p:spTree>
    <p:extLst>
      <p:ext uri="{BB962C8B-B14F-4D97-AF65-F5344CB8AC3E}">
        <p14:creationId xmlns:p14="http://schemas.microsoft.com/office/powerpoint/2010/main" val="17782789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9B09E7-A7F9-48CC-A2C4-F5CDE1AF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84F1E2E-61AE-848F-B769-1C895802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96216"/>
            <a:ext cx="4762500" cy="16617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0b70eaa954cf5"/>
          <a:srcRect xmlns:a="http://schemas.openxmlformats.org/drawingml/2006/main" l="0" t="15385" r="0" b="153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ound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32AB4C2-CFF7-4B1F-877E-EC57607B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304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Takeaways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E08AE43-49B7-4C7B-8452-26438B98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CC33"/>
                </a:solidFill>
              </a:defRPr>
            </a:pPr>
            <a:r>
              <a:rPr sz="2550" b="1">
                <a:solidFill>
                  <a:srgbClr val="D5A834"/>
                </a:solidFill>
                <a:latin typeface="Aptos Display"/>
                <a:ea typeface="Aptos Display"/>
                <a:cs typeface="Aptos Display"/>
              </a:rPr>
              <a:t>Questions?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48928A7-E87B-4984-95FA-3C49F13C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DB97851-68AE-4809-8F6B-325B8D84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2E9E4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Zilong Wang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2E9E4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Georgia Institute of Technology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2E9E4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zwang937@gatech.edu</a:t>
            </a:r>
          </a:p>
        </p:txBody>
      </p:sp>
      <p:pic>
        <p:nvPicPr>
          <p:cNvPr id="1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17893ddff4612"/>
          <a:stretch xmlns:a="http://schemas.openxmlformats.org/drawingml/2006/main"/>
        </p:blipFill>
        <p:spPr>
          <a:xfrm xmlns:a="http://schemas.openxmlformats.org/drawingml/2006/main">
            <a:off x="42673" y="5359791"/>
            <a:ext cx="2163045" cy="92348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27F77-64DC-43E9-B821-772CB2AA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572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Anchor to the target placebo arm.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Separate identified from transported claims.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Evaluate decisions, not only error.</a:t>
            </a:r>
          </a:p>
        </p:txBody>
      </p:sp>
      <p:sp>
        <p:nvSpPr>
          <p:cNvPr id="12" name="timing-pill">
            <a:extLst xmlns:a="http://schemas.openxmlformats.org/drawingml/2006/main">
              <a:ext uri="{FF2B5EF4-FFF2-40B4-BE49-F238E27FC236}">
                <a16:creationId xmlns:a16="http://schemas.microsoft.com/office/drawing/2014/main" id="{75BDE806-3D5B-4DB4-996F-B5E0BD85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9626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1"/>
            </a:solidFill>
            <a:prstDash val="solid"/>
          </a:ln>
        </p:spPr>
      </p:sp>
      <p:sp>
        <p:nvSpPr>
          <p:cNvPr id="13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2B885175-717E-417B-99B4-0DA2F82A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102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605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5605C"/>
                </a:solidFill>
                <a:latin typeface="Aptos"/>
                <a:ea typeface="Aptos"/>
                <a:cs typeface="Aptos"/>
              </a:rPr>
              <a:t>13:45-15:00</a:t>
            </a:r>
          </a:p>
        </p:txBody>
      </p:sp>
    </p:spTree>
    <p:extLst>
      <p:ext uri="{BB962C8B-B14F-4D97-AF65-F5344CB8AC3E}">
        <p14:creationId xmlns:p14="http://schemas.microsoft.com/office/powerpoint/2010/main" val="1854527753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2026-05-21T22:31:53.8800000Z</dcterms:created>
  <dcterms:modified xsi:type="dcterms:W3CDTF">2026-05-21T22:31:53.8800000Z</dcterms:modified>
</coreProperties>
</file>