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9c8a8a7ca014828" /><Relationship Type="http://schemas.openxmlformats.org/officeDocument/2006/relationships/extended-properties" Target="/docProps/app.xml" Id="Rdf4c503ed95b4a58" /><Relationship Type="http://schemas.openxmlformats.org/officeDocument/2006/relationships/officeDocument" Target="/ppt/presentation.xml" Id="R90a1d964dc6b4ee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edf7b3b4b694130"/>
  </p:sldMasterIdLst>
  <p:notesMasterIdLst>
    <p:notesMasterId xmlns:r="http://schemas.openxmlformats.org/officeDocument/2006/relationships" r:id="Rbd28eb2ab07a470d"/>
  </p:notesMasterIdLst>
  <p:sldIdLst>
    <p:sldId xmlns:r="http://schemas.openxmlformats.org/officeDocument/2006/relationships" id="256" r:id="Rc7399a77d5f54c9e"/>
    <p:sldId xmlns:r="http://schemas.openxmlformats.org/officeDocument/2006/relationships" id="257" r:id="R6cfd87034dd340a1"/>
    <p:sldId xmlns:r="http://schemas.openxmlformats.org/officeDocument/2006/relationships" id="258" r:id="R0171fcffd7f84ad8"/>
    <p:sldId xmlns:r="http://schemas.openxmlformats.org/officeDocument/2006/relationships" id="259" r:id="R9a19508e7ed547b1"/>
    <p:sldId xmlns:r="http://schemas.openxmlformats.org/officeDocument/2006/relationships" id="260" r:id="R21c92d2e1c864e41"/>
    <p:sldId xmlns:r="http://schemas.openxmlformats.org/officeDocument/2006/relationships" id="261" r:id="R46862657e26c4135"/>
    <p:sldId xmlns:r="http://schemas.openxmlformats.org/officeDocument/2006/relationships" id="262" r:id="Refd1007ec28f46bd"/>
    <p:sldId xmlns:r="http://schemas.openxmlformats.org/officeDocument/2006/relationships" id="263" r:id="R6e5d4814e61e46b2"/>
    <p:sldId xmlns:r="http://schemas.openxmlformats.org/officeDocument/2006/relationships" id="264" r:id="R907e88d81a6f479d"/>
    <p:sldId xmlns:r="http://schemas.openxmlformats.org/officeDocument/2006/relationships" id="265" r:id="Rb4a91797cc154c5f"/>
    <p:sldId xmlns:r="http://schemas.openxmlformats.org/officeDocument/2006/relationships" id="266" r:id="Rce93b71c51124156"/>
    <p:sldId xmlns:r="http://schemas.openxmlformats.org/officeDocument/2006/relationships" id="267" r:id="Rb471bf84972e403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df7b3b4b694130" /><Relationship Type="http://schemas.openxmlformats.org/officeDocument/2006/relationships/theme" Target="/ppt/theme/theme1.xml" Id="R56cace8b4e4c42f3" /><Relationship Type="http://schemas.openxmlformats.org/officeDocument/2006/relationships/notesMaster" Target="/ppt/notesMasters/notesMaster1.xml" Id="Rbd28eb2ab07a470d" /><Relationship Type="http://schemas.openxmlformats.org/officeDocument/2006/relationships/presProps" Target="/ppt/presProps.xml" Id="R66498e16b4f9497b" /><Relationship Type="http://schemas.openxmlformats.org/officeDocument/2006/relationships/viewProps" Target="/ppt/viewProps.xml" Id="R4bf682662cb3457a" /><Relationship Type="http://schemas.openxmlformats.org/officeDocument/2006/relationships/tableStyles" Target="/ppt/tableStyles.xml" Id="Ra72e58b3e2ee459c" /><Relationship Type="http://schemas.openxmlformats.org/officeDocument/2006/relationships/slide" Target="/ppt/slides/slide1.xml" Id="Rc7399a77d5f54c9e" /><Relationship Type="http://schemas.openxmlformats.org/officeDocument/2006/relationships/slide" Target="/ppt/slides/slide2.xml" Id="R6cfd87034dd340a1" /><Relationship Type="http://schemas.openxmlformats.org/officeDocument/2006/relationships/slide" Target="/ppt/slides/slide3.xml" Id="R0171fcffd7f84ad8" /><Relationship Type="http://schemas.openxmlformats.org/officeDocument/2006/relationships/slide" Target="/ppt/slides/slide4.xml" Id="R9a19508e7ed547b1" /><Relationship Type="http://schemas.openxmlformats.org/officeDocument/2006/relationships/slide" Target="/ppt/slides/slide5.xml" Id="R21c92d2e1c864e41" /><Relationship Type="http://schemas.openxmlformats.org/officeDocument/2006/relationships/slide" Target="/ppt/slides/slide6.xml" Id="R46862657e26c4135" /><Relationship Type="http://schemas.openxmlformats.org/officeDocument/2006/relationships/slide" Target="/ppt/slides/slide7.xml" Id="Refd1007ec28f46bd" /><Relationship Type="http://schemas.openxmlformats.org/officeDocument/2006/relationships/slide" Target="/ppt/slides/slide8.xml" Id="R6e5d4814e61e46b2" /><Relationship Type="http://schemas.openxmlformats.org/officeDocument/2006/relationships/slide" Target="/ppt/slides/slide9.xml" Id="R907e88d81a6f479d" /><Relationship Type="http://schemas.openxmlformats.org/officeDocument/2006/relationships/slide" Target="/ppt/slides/slide10.xml" Id="Rb4a91797cc154c5f" /><Relationship Type="http://schemas.openxmlformats.org/officeDocument/2006/relationships/slide" Target="/ppt/slides/slide11.xml" Id="Rce93b71c51124156" /><Relationship Type="http://schemas.openxmlformats.org/officeDocument/2006/relationships/slide" Target="/ppt/slides/slide12.xml" Id="Rb471bf84972e403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d59b6b788bbd4c5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7859686c5104df7" /><Relationship Type="http://schemas.openxmlformats.org/officeDocument/2006/relationships/notesMaster" Target="/ppt/notesMasters/notesMaster1.xml" Id="R99ca3d34aa934c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4b130d1700774479" /><Relationship Type="http://schemas.openxmlformats.org/officeDocument/2006/relationships/notesMaster" Target="/ppt/notesMasters/notesMaster1.xml" Id="R9076ea748f0b4e5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a5a3b30b53c4ae6" /><Relationship Type="http://schemas.openxmlformats.org/officeDocument/2006/relationships/notesMaster" Target="/ppt/notesMasters/notesMaster1.xml" Id="R7a3b14322a11455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6a7dd4e6ad14f5c" /><Relationship Type="http://schemas.openxmlformats.org/officeDocument/2006/relationships/notesMaster" Target="/ppt/notesMasters/notesMaster1.xml" Id="Rd0c849e90a8341b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1fb3f7b4ae14843" /><Relationship Type="http://schemas.openxmlformats.org/officeDocument/2006/relationships/notesMaster" Target="/ppt/notesMasters/notesMaster1.xml" Id="Raaac5d1ad40d4bf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b29d9019bbe4457" /><Relationship Type="http://schemas.openxmlformats.org/officeDocument/2006/relationships/notesMaster" Target="/ppt/notesMasters/notesMaster1.xml" Id="Rf5febd4fb67c493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2171eb543174ca6" /><Relationship Type="http://schemas.openxmlformats.org/officeDocument/2006/relationships/notesMaster" Target="/ppt/notesMasters/notesMaster1.xml" Id="Rd56300a8f46f417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b8b5f1e1b744d8" /><Relationship Type="http://schemas.openxmlformats.org/officeDocument/2006/relationships/notesMaster" Target="/ppt/notesMasters/notesMaster1.xml" Id="R07e8c62055324aa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0703481d9424ebe" /><Relationship Type="http://schemas.openxmlformats.org/officeDocument/2006/relationships/notesMaster" Target="/ppt/notesMasters/notesMaster1.xml" Id="R30609101a059477e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ae9253714e24db2" /><Relationship Type="http://schemas.openxmlformats.org/officeDocument/2006/relationships/notesMaster" Target="/ppt/notesMasters/notesMaster1.xml" Id="R788f28d7af5742c7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594f9f93c3d42c5" /><Relationship Type="http://schemas.openxmlformats.org/officeDocument/2006/relationships/notesMaster" Target="/ppt/notesMasters/notesMaster1.xml" Id="R57750ec812fd4ac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56f6258444b431c" /><Relationship Type="http://schemas.openxmlformats.org/officeDocument/2006/relationships/notesMaster" Target="/ppt/notesMasters/notesMaster1.xml" Id="R7d109818ae404f4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f29b9735614273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itle 1">
            <a:extLst xmlns:a="http://schemas.openxmlformats.org/drawingml/2006/main">
              <a:ext uri="{FF2B5EF4-FFF2-40B4-BE49-F238E27FC236}">
                <a16:creationId xmlns:a16="http://schemas.microsoft.com/office/drawing/2014/main" id="{C375C9C4-A553-40BE-9547-A301280E7032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B43CAE6E-4C38-4D1E-8730-EFF1517FB48A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D85DC9AD-018D-40CA-A6D8-34E504BDE8FA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CD502A0-457D-42A7-B3A7-99A4B0E106C1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44C64DB-28BF-4CE3-AFC9-2D673C483414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2ad9bb398e84b69" /><Relationship Type="http://schemas.openxmlformats.org/officeDocument/2006/relationships/slideLayout" Target="/ppt/slideLayouts/slideLayout2.xml" Id="R74e643db15a144c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BADE5BD-3AAD-4483-AF95-2FC2200A13DD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74e643db15a144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1d7c9f080e84f16" /><Relationship Type="http://schemas.openxmlformats.org/officeDocument/2006/relationships/image" Target="/ppt/media/image.png" Id="Ra367b23515194a78" /><Relationship Type="http://schemas.openxmlformats.org/officeDocument/2006/relationships/notesSlide" Target="/ppt/notesSlides/notesSlide1.xml" Id="R70a74d5c6e7c433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e578d8a1e894a24" /><Relationship Type="http://schemas.openxmlformats.org/officeDocument/2006/relationships/image" Target="/ppt/media/image.png" Id="R033eefa2d84443bb" /><Relationship Type="http://schemas.openxmlformats.org/officeDocument/2006/relationships/image" Target="/ppt/media/image2.png" Id="Re74dbe2ca322488a" /><Relationship Type="http://schemas.openxmlformats.org/officeDocument/2006/relationships/notesSlide" Target="/ppt/notesSlides/notesSlide2.xml" Id="R60e919f70f1447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2df2e72d626422a" /><Relationship Type="http://schemas.openxmlformats.org/officeDocument/2006/relationships/image" Target="/ppt/media/image.png" Id="Ra4fed309921445e8" /><Relationship Type="http://schemas.openxmlformats.org/officeDocument/2006/relationships/notesSlide" Target="/ppt/notesSlides/notesSlide3.xml" Id="Ree3e2b15993e4d4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09898c7333c419f" /><Relationship Type="http://schemas.openxmlformats.org/officeDocument/2006/relationships/image" Target="/ppt/media/image.png" Id="R98f08662a2e64235" /><Relationship Type="http://schemas.openxmlformats.org/officeDocument/2006/relationships/image" Target="/ppt/media/image3.png" Id="R9621bd709c424ff9" /><Relationship Type="http://schemas.openxmlformats.org/officeDocument/2006/relationships/notesSlide" Target="/ppt/notesSlides/notesSlide4.xml" Id="R0c5ceaa342d74e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d091c217707417f" /><Relationship Type="http://schemas.openxmlformats.org/officeDocument/2006/relationships/image" Target="/ppt/media/image.png" Id="Rbbc2e66b0e2e4964" /><Relationship Type="http://schemas.openxmlformats.org/officeDocument/2006/relationships/notesSlide" Target="/ppt/notesSlides/notesSlide5.xml" Id="Rd54e2d78ef4a47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759de9e4ebe4029" /><Relationship Type="http://schemas.openxmlformats.org/officeDocument/2006/relationships/image" Target="/ppt/media/image.png" Id="Ra1456efcf52d41b5" /><Relationship Type="http://schemas.openxmlformats.org/officeDocument/2006/relationships/notesSlide" Target="/ppt/notesSlides/notesSlide6.xml" Id="R28aa16f59cb9420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dba691edd264c67" /><Relationship Type="http://schemas.openxmlformats.org/officeDocument/2006/relationships/image" Target="/ppt/media/image.png" Id="R638b423bd1b54584" /><Relationship Type="http://schemas.openxmlformats.org/officeDocument/2006/relationships/notesSlide" Target="/ppt/notesSlides/notesSlide7.xml" Id="R120a34f268144ac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2b7805ea08444df" /><Relationship Type="http://schemas.openxmlformats.org/officeDocument/2006/relationships/image" Target="/ppt/media/image.png" Id="Rf5abe12c6aa94332" /><Relationship Type="http://schemas.openxmlformats.org/officeDocument/2006/relationships/notesSlide" Target="/ppt/notesSlides/notesSlide8.xml" Id="R66794dfe8b4e4fa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54250beab72c4b29" /><Relationship Type="http://schemas.openxmlformats.org/officeDocument/2006/relationships/image" Target="/ppt/media/image.png" Id="R04ebb73565d24a60" /><Relationship Type="http://schemas.openxmlformats.org/officeDocument/2006/relationships/notesSlide" Target="/ppt/notesSlides/notesSlide9.xml" Id="Ra7f45cb30444494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bbd7e94a7bf4c32" /><Relationship Type="http://schemas.openxmlformats.org/officeDocument/2006/relationships/image" Target="/ppt/media/image.png" Id="Rf3b430010ec241b8" /><Relationship Type="http://schemas.openxmlformats.org/officeDocument/2006/relationships/notesSlide" Target="/ppt/notesSlides/notesSlide10.xml" Id="R43f5c00c373641d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8c112d429c4e38" /><Relationship Type="http://schemas.openxmlformats.org/officeDocument/2006/relationships/image" Target="/ppt/media/image.png" Id="R2f1a7ce635184a8e" /><Relationship Type="http://schemas.openxmlformats.org/officeDocument/2006/relationships/notesSlide" Target="/ppt/notesSlides/notesSlide11.xml" Id="R109194a77ef34c3a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c761e46c6b44329" /><Relationship Type="http://schemas.openxmlformats.org/officeDocument/2006/relationships/image" Target="/ppt/media/image.jpeg" Id="R5cb09d560c1b4f7e" /><Relationship Type="http://schemas.openxmlformats.org/officeDocument/2006/relationships/image" Target="/ppt/media/image.png" Id="R7ad97b7b3a4043de" /><Relationship Type="http://schemas.openxmlformats.org/officeDocument/2006/relationships/notesSlide" Target="/ppt/notesSlides/notesSlide12.xml" Id="R7d554de9953e468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D76166F-C808-4328-8187-F1F7F5CA8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90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D54FDFE-C184-42F6-AC19-DF1F460FA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0"/>
            <a:ext cx="381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67b23515194a78"/>
          <a:stretch xmlns:a="http://schemas.openxmlformats.org/drawingml/2006/main"/>
        </p:blipFill>
        <p:spPr>
          <a:xfrm xmlns:a="http://schemas.openxmlformats.org/drawingml/2006/main">
            <a:off x="685800" y="279204"/>
            <a:ext cx="2855686" cy="1219200"/>
          </a:xfrm>
          <a:prstGeom xmlns:a="http://schemas.openxmlformats.org/drawingml/2006/main" prst="rect">
            <a:avLst/>
          </a:prstGeom>
        </p:spPr>
      </p:pic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3BE89073-9A3C-4DD8-9B74-CFF2D7921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973" y="659608"/>
            <a:ext cx="3143250" cy="529656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847468F-3A20-4BC7-9276-AC4AD9D9F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59973" y="635795"/>
            <a:ext cx="314325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C0772F60-4B70-457F-9292-C98887745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0473" y="830461"/>
            <a:ext cx="2762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A0019"/>
                </a:solidFill>
              </a:defRPr>
            </a:pPr>
            <a:r>
              <a:rPr sz="1350" b="1">
                <a:solidFill>
                  <a:srgbClr val="8A0020"/>
                </a:solidFill>
              </a:rPr>
              <a:t>Research Paper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839EE356-11AA-4829-BBCF-B07F77E39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6267450"/>
            <a:ext cx="2762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CAD200FF-8B8D-6E07-C5DC-971406A54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0719"/>
            <a:ext cx="10820400" cy="3219109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4810A53-27E5-BCD9-7B12-3D43FBE58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40720"/>
            <a:ext cx="10820400" cy="14763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C33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A0F1714-C145-9BFE-18FA-24773D76E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07470"/>
            <a:ext cx="6000750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Transfer Learning for Meta-analysis</a:t>
            </a:r>
          </a:p>
          <a:p xmlns:a="http://schemas.openxmlformats.org/drawingml/2006/main">
            <a:pPr algn="l">
              <a:buNone/>
              <a:defRPr sz="3000" b="1">
                <a:solidFill>
                  <a:srgbClr val="FFFFFF"/>
                </a:solidFill>
              </a:defRPr>
            </a:pPr>
            <a:r>
              <a:rPr sz="2775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Under Covariate Shift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24F8E6AA-74BC-BBA9-2F60-332FAB6D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369470"/>
            <a:ext cx="5905500" cy="304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7EDE7"/>
                </a:solidFill>
              </a:defRPr>
            </a:pPr>
            <a:r>
              <a:rPr sz="1425" b="0">
                <a:solidFill>
                  <a:srgbClr val="FFFFFF"/>
                </a:solidFill>
              </a:rPr>
              <a:t>Placebo-anchored proxy-gold learning for target-specific treatment effects</a:t>
            </a:r>
          </a:p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E8524F25-E193-8A54-D54A-82EAB49C1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83820"/>
            <a:ext cx="58293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FCC7579-E1BA-9A9D-E8E0-664017E56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55270"/>
            <a:ext cx="4762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FFFFFF"/>
                </a:solidFill>
              </a:defRPr>
            </a:pPr>
            <a:r>
              <a:rPr sz="1350" b="0">
                <a:solidFill>
                  <a:srgbClr val="FFFFFF"/>
                </a:solidFill>
              </a:rPr>
              <a:t>Zilong Wang, Ali Abdeen, Turgay Ayer | Georgia Institute of Technology</a:t>
            </a:r>
          </a:p>
        </p:txBody>
      </p:sp>
      <p:sp>
        <p:nvSpPr>
          <p:cNvPr id="19" name="timing-pill">
            <a:extLst xmlns:a="http://schemas.openxmlformats.org/drawingml/2006/main">
              <a:ext uri="{FF2B5EF4-FFF2-40B4-BE49-F238E27FC236}">
                <a16:creationId xmlns:a16="http://schemas.microsoft.com/office/drawing/2014/main" id="{F163A1E7-086F-4ED5-839B-149423E9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0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67791CBC-C2F5-4BBF-A864-0FD56B81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0:00-0:30</a:t>
            </a:r>
          </a:p>
        </p:txBody>
      </p:sp>
    </p:spTree>
    <p:extLst>
      <p:ext uri="{BB962C8B-B14F-4D97-AF65-F5344CB8AC3E}">
        <p14:creationId xmlns:p14="http://schemas.microsoft.com/office/powerpoint/2010/main" val="3851193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FCC2B63-4C3E-4680-A992-D125ECE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70F4451-5B25-4A4C-85E8-DB74382D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E032A8-31B5-483A-B8B8-AB5D7A78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Clinical trial evidence rarely lands in the target population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EADD4DC-0A49-4FAD-9192-E7257168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C77E3E1-B4E8-4004-8690-BB8DF06C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3EAC61-E65A-4981-A5CD-715DC02A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3eefa2d84443bb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15" name="timing-pill">
            <a:extLst xmlns:a="http://schemas.openxmlformats.org/drawingml/2006/main">
              <a:ext uri="{FF2B5EF4-FFF2-40B4-BE49-F238E27FC236}">
                <a16:creationId xmlns:a16="http://schemas.microsoft.com/office/drawing/2014/main" id="{D9FBEB2F-9AE5-415E-A8C9-0D26C37FF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86A163CE-A80F-4149-997D-5FCA57C85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0:31-1:45</a:t>
            </a:r>
          </a:p>
        </p:txBody>
      </p:sp>
      <p:sp>
        <p:nvSpPr>
          <p:cNvPr id="17" name="claim">
            <a:extLst xmlns:a="http://schemas.openxmlformats.org/drawingml/2006/main">
              <a:ext uri="{FF2B5EF4-FFF2-40B4-BE49-F238E27FC236}">
                <a16:creationId xmlns:a16="http://schemas.microsoft.com/office/drawing/2014/main" id="{DB817318-3A12-451B-BB45-31E329E7C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decision target is patient-level and local; the available evidence is multi-site and shifted.</a:t>
            </a:r>
          </a:p>
        </p:txBody>
      </p:sp>
      <p:sp>
        <p:nvSpPr>
          <p:cNvPr id="18" name="card">
            <a:extLst xmlns:a="http://schemas.openxmlformats.org/drawingml/2006/main">
              <a:ext uri="{FF2B5EF4-FFF2-40B4-BE49-F238E27FC236}">
                <a16:creationId xmlns:a16="http://schemas.microsoft.com/office/drawing/2014/main" id="{780E4133-2483-4AFD-B059-C0AF23700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575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9" name="card-accent">
            <a:extLst xmlns:a="http://schemas.openxmlformats.org/drawingml/2006/main">
              <a:ext uri="{FF2B5EF4-FFF2-40B4-BE49-F238E27FC236}">
                <a16:creationId xmlns:a16="http://schemas.microsoft.com/office/drawing/2014/main" id="{85D5C83B-A84E-48C8-84BE-302AF9969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2575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card-eyebrow">
            <a:extLst xmlns:a="http://schemas.openxmlformats.org/drawingml/2006/main">
              <a:ext uri="{FF2B5EF4-FFF2-40B4-BE49-F238E27FC236}">
                <a16:creationId xmlns:a16="http://schemas.microsoft.com/office/drawing/2014/main" id="{63FCB38A-390A-41B9-AD40-1F0022013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190750"/>
            <a:ext cx="2876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1" name="card-title">
            <a:extLst xmlns:a="http://schemas.openxmlformats.org/drawingml/2006/main">
              <a:ext uri="{FF2B5EF4-FFF2-40B4-BE49-F238E27FC236}">
                <a16:creationId xmlns:a16="http://schemas.microsoft.com/office/drawing/2014/main" id="{2BBA0F21-FA59-49B2-A6A4-093E76B08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95550"/>
            <a:ext cx="2876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Different enrolled patients</a:t>
            </a:r>
          </a:p>
        </p:txBody>
      </p:sp>
      <p:sp>
        <p:nvSpPr>
          <p:cNvPr id="22" name="card-body">
            <a:extLst xmlns:a="http://schemas.openxmlformats.org/drawingml/2006/main">
              <a:ext uri="{FF2B5EF4-FFF2-40B4-BE49-F238E27FC236}">
                <a16:creationId xmlns:a16="http://schemas.microsoft.com/office/drawing/2014/main" id="{066F41D4-A5BA-4B73-82A3-B588B8993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57500"/>
            <a:ext cx="28765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RCT sites can differ by eligibility, geography, baseline risk, and case mix. Pooling can estimate the wrong population.</a:t>
            </a:r>
          </a:p>
        </p:txBody>
      </p:sp>
      <p:sp>
        <p:nvSpPr>
          <p:cNvPr id="23" name="card">
            <a:extLst xmlns:a="http://schemas.openxmlformats.org/drawingml/2006/main">
              <a:ext uri="{FF2B5EF4-FFF2-40B4-BE49-F238E27FC236}">
                <a16:creationId xmlns:a16="http://schemas.microsoft.com/office/drawing/2014/main" id="{D4BA8905-86B3-4F64-B3E8-EBF837C2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962150"/>
            <a:ext cx="32575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4" name="card-accent">
            <a:extLst xmlns:a="http://schemas.openxmlformats.org/drawingml/2006/main">
              <a:ext uri="{FF2B5EF4-FFF2-40B4-BE49-F238E27FC236}">
                <a16:creationId xmlns:a16="http://schemas.microsoft.com/office/drawing/2014/main" id="{C8D0E65D-71C7-496B-9CD9-2C969A8C13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67225" y="1962150"/>
            <a:ext cx="32575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card-eyebrow">
            <a:extLst xmlns:a="http://schemas.openxmlformats.org/drawingml/2006/main">
              <a:ext uri="{FF2B5EF4-FFF2-40B4-BE49-F238E27FC236}">
                <a16:creationId xmlns:a16="http://schemas.microsoft.com/office/drawing/2014/main" id="{75BF4393-69D2-410B-B458-78D1410BA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190750"/>
            <a:ext cx="2876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6" name="card-title">
            <a:extLst xmlns:a="http://schemas.openxmlformats.org/drawingml/2006/main">
              <a:ext uri="{FF2B5EF4-FFF2-40B4-BE49-F238E27FC236}">
                <a16:creationId xmlns:a16="http://schemas.microsoft.com/office/drawing/2014/main" id="{7BB9FBE3-273D-451C-99DC-D553DBE4B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495550"/>
            <a:ext cx="2876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Different baseline risk</a:t>
            </a:r>
          </a:p>
        </p:txBody>
      </p:sp>
      <p:sp>
        <p:nvSpPr>
          <p:cNvPr id="27" name="card-body">
            <a:extLst xmlns:a="http://schemas.openxmlformats.org/drawingml/2006/main">
              <a:ext uri="{FF2B5EF4-FFF2-40B4-BE49-F238E27FC236}">
                <a16:creationId xmlns:a16="http://schemas.microsoft.com/office/drawing/2014/main" id="{66FF416E-DC7B-4C42-B9D1-8D98CD0DD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7725" y="2857500"/>
            <a:ext cx="28765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A shared comparator is not automatically exchangeable once covariates and residual risk drift across studies.</a:t>
            </a:r>
          </a:p>
        </p:txBody>
      </p:sp>
      <p:sp>
        <p:nvSpPr>
          <p:cNvPr id="28" name="card">
            <a:extLst xmlns:a="http://schemas.openxmlformats.org/drawingml/2006/main">
              <a:ext uri="{FF2B5EF4-FFF2-40B4-BE49-F238E27FC236}">
                <a16:creationId xmlns:a16="http://schemas.microsoft.com/office/drawing/2014/main" id="{91B6F3C4-DCB5-445A-B51A-27086BC2D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62150"/>
            <a:ext cx="3257550" cy="1905000"/>
          </a:xfrm>
          <a:prstGeom xmlns:a="http://schemas.openxmlformats.org/drawingml/2006/main" prst="roundRect">
            <a:avLst>
              <a:gd name="adj" fmla="val 4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9" name="card-accent">
            <a:extLst xmlns:a="http://schemas.openxmlformats.org/drawingml/2006/main">
              <a:ext uri="{FF2B5EF4-FFF2-40B4-BE49-F238E27FC236}">
                <a16:creationId xmlns:a16="http://schemas.microsoft.com/office/drawing/2014/main" id="{B105DCDA-C31B-4BC8-B439-5AC84F9E8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1962150"/>
            <a:ext cx="32575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card-eyebrow">
            <a:extLst xmlns:a="http://schemas.openxmlformats.org/drawingml/2006/main">
              <a:ext uri="{FF2B5EF4-FFF2-40B4-BE49-F238E27FC236}">
                <a16:creationId xmlns:a16="http://schemas.microsoft.com/office/drawing/2014/main" id="{9642BD45-6F2C-423C-8306-365765EC4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90750"/>
            <a:ext cx="28765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31" name="card-title">
            <a:extLst xmlns:a="http://schemas.openxmlformats.org/drawingml/2006/main">
              <a:ext uri="{FF2B5EF4-FFF2-40B4-BE49-F238E27FC236}">
                <a16:creationId xmlns:a16="http://schemas.microsoft.com/office/drawing/2014/main" id="{10FC973A-7706-4A7C-826B-9A814720A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495550"/>
            <a:ext cx="28765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Patient-level decisions</a:t>
            </a:r>
          </a:p>
        </p:txBody>
      </p:sp>
      <p:sp>
        <p:nvSpPr>
          <p:cNvPr id="32" name="card-body">
            <a:extLst xmlns:a="http://schemas.openxmlformats.org/drawingml/2006/main">
              <a:ext uri="{FF2B5EF4-FFF2-40B4-BE49-F238E27FC236}">
                <a16:creationId xmlns:a16="http://schemas.microsoft.com/office/drawing/2014/main" id="{52A2A16F-240E-4C77-A140-AA9FD826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287655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Decision makers need CATEs, targeting, regret, and calibration - not only a network-wide average effect.</a:t>
            </a:r>
          </a:p>
        </p:txBody>
      </p:sp>
      <p:pic>
        <p:nvPicPr>
          <p:cNvPr id="3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4dbe2ca322488a"/>
          <a:stretch xmlns:a="http://schemas.openxmlformats.org/drawingml/2006/main"/>
        </p:blipFill>
        <p:spPr>
          <a:xfrm xmlns:a="http://schemas.openxmlformats.org/drawingml/2006/main">
            <a:off x="3535280" y="3981450"/>
            <a:ext cx="4073689" cy="18288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8278946"/>
      </p:ext>
    </p:extLst>
  </p:cSld>
  <p:transition dur="700">
    <p:fade/>
  </p:transition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FCC2B63-4C3E-4680-A992-D125ECE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70F4451-5B25-4A4C-85E8-DB74382D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E032A8-31B5-483A-B8B8-AB5D7A78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The gap: standard transport needs conditions the target lacks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EADD4DC-0A49-4FAD-9192-E7257168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C77E3E1-B4E8-4004-8690-BB8DF06C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3EAC61-E65A-4981-A5CD-715DC02A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4fed309921445e8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15" name="timing-pill">
            <a:extLst xmlns:a="http://schemas.openxmlformats.org/drawingml/2006/main">
              <a:ext uri="{FF2B5EF4-FFF2-40B4-BE49-F238E27FC236}">
                <a16:creationId xmlns:a16="http://schemas.microsoft.com/office/drawing/2014/main" id="{4867DF08-1FC9-4D27-9169-CD0F3159C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6D3592BE-BD84-4B1D-8E5E-1786F15C2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1:45-3:00</a:t>
            </a:r>
          </a:p>
        </p:txBody>
      </p:sp>
      <p:sp>
        <p:nvSpPr>
          <p:cNvPr id="17" name="claim">
            <a:extLst xmlns:a="http://schemas.openxmlformats.org/drawingml/2006/main">
              <a:ext uri="{FF2B5EF4-FFF2-40B4-BE49-F238E27FC236}">
                <a16:creationId xmlns:a16="http://schemas.microsoft.com/office/drawing/2014/main" id="{85D98165-14DD-49D3-B1B2-CB19B5E8A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The hard case is weakly connected or disconnected target evidence under covariate shift.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73F70D-A942-4B9A-9B6C-9240B31BB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3867150"/>
          </a:xfrm>
          <a:prstGeom xmlns:a="http://schemas.openxmlformats.org/drawingml/2006/main" prst="roundRect">
            <a:avLst>
              <a:gd name="adj" fmla="val 19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44BC67F-AD43-4FDE-B73B-9D8C46FBC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108204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99F4151-18CA-459C-AE48-E0EC1EBA7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3429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Common assumption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C95FF10-48E6-4174-AC54-1DA7373E3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076450"/>
            <a:ext cx="4000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Failure mode in this talk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1B6794-110D-4407-AD7F-66C804EE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717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Network connectivity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72CE9B-4140-464B-864A-7156850EA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895600"/>
            <a:ext cx="3810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Target trial connects through a shared comparator arm.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B60B597-6A12-425C-AA39-8AFCC36C5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5717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Disconnected target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6473824-19F1-433F-AF15-44796D631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2895600"/>
            <a:ext cx="4476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Target may have placebo only for the treatment of interest.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C5CBFEC-2D98-496E-A77B-7FDB3E6F5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90800"/>
            <a:ext cx="19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50FD50E-047B-437D-BBAF-BAA500F0F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623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Comparator exchangeability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FB74848-028F-4238-B30F-3F1097E2B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886200"/>
            <a:ext cx="3810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Placebo arms are comparable after measured adjustment.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0032E64-9F3B-4C1B-9703-B6A6A6767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5623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Residual baseline drift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31CEE87-7E5E-4DDF-90DF-43A404854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3886200"/>
            <a:ext cx="4476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Measured shift plus site-specific risk makes direct transfer biased.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EC08BF8-53B0-4156-A14A-1C9397998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581400"/>
            <a:ext cx="19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B7AFDF2-230B-4A4F-A2CC-7A18608C9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5529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Average effect is enough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D964F32-C487-4301-ADE7-22267DF94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876800"/>
            <a:ext cx="38100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NMA or transport reports a marginal target estimand.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501ADEF-5194-421A-B6AC-C1A69489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552950"/>
            <a:ext cx="295275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Individualized decisions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15DA886-2005-4A3B-B9FD-A2EEC187C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34050" y="4876800"/>
            <a:ext cx="4476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The task is calibrated patient-level CATE and targeting.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9C3B191-DC40-4C67-87E7-91FCE463B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572000"/>
            <a:ext cx="190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D8D1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77827894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93D7C4B-FC85-4E38-A9B9-7AA6EEB2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BE94C10-56B5-40F2-A6D5-A98DAC74D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8f08662a2e64235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BAA01F-50BC-48E8-AD04-6C581812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Core idea: target placebo is the gold calibration signal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56D09CC-0746-455B-AB3D-E18655AE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FC07648-E8B7-455B-9D4F-5250ADAD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C713485-F834-4B16-80AE-204C3F20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6127FA9-3303-4B98-A8D9-F2FF3886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E6CCA0C-29B1-47D9-AFEE-190ABCCE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4A757F2E-DE43-4AD0-B514-A25D2815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D4A413D-8FE5-40F9-A86A-EB9C5828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E422E56-223C-4574-905D-41A3A788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FA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1" name="Right Arrow 20">
            <a:extLst xmlns:a="http://schemas.openxmlformats.org/drawingml/2006/main">
              <a:ext uri="{FF2B5EF4-FFF2-40B4-BE49-F238E27FC236}">
                <a16:creationId xmlns:a16="http://schemas.microsoft.com/office/drawing/2014/main" id="{C0A0FEF9-0B0E-4ABD-BDB3-4D551D9A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820D8B46-5790-4952-AAD4-31DEBEA5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D2AA4B5C-1DB7-4987-B47B-BEE70CE7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A2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7" name="Right Arrow 26">
            <a:extLst xmlns:a="http://schemas.openxmlformats.org/drawingml/2006/main">
              <a:ext uri="{FF2B5EF4-FFF2-40B4-BE49-F238E27FC236}">
                <a16:creationId xmlns:a16="http://schemas.microsoft.com/office/drawing/2014/main" id="{547E1AC7-8448-4E62-984D-B043DFBC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CC1845AB-F754-4205-964A-F13570CA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F55949CC-D334-4E4A-A505-C1064068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FA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4" name="timing-pill">
            <a:extLst xmlns:a="http://schemas.openxmlformats.org/drawingml/2006/main">
              <a:ext uri="{FF2B5EF4-FFF2-40B4-BE49-F238E27FC236}">
                <a16:creationId xmlns:a16="http://schemas.microsoft.com/office/drawing/2014/main" id="{A0F396DF-24E2-44E8-BDF0-12C29B8D3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35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696887D4-CEE3-49F9-BC8F-A05E03AAD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3:00-4:15</a:t>
            </a:r>
          </a:p>
        </p:txBody>
      </p:sp>
      <p:sp>
        <p:nvSpPr>
          <p:cNvPr id="36" name="claim">
            <a:extLst xmlns:a="http://schemas.openxmlformats.org/drawingml/2006/main">
              <a:ext uri="{FF2B5EF4-FFF2-40B4-BE49-F238E27FC236}">
                <a16:creationId xmlns:a16="http://schemas.microsoft.com/office/drawing/2014/main" id="{85488BF4-EB39-4F99-8046-8463BF9F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Source data is abundant but miscalibrated for the target; target placebo is scarce but perfectly calibrated — sparse correction bridges the two.</a:t>
            </a:r>
          </a:p>
        </p:txBody>
      </p:sp>
      <p:pic>
        <p:nvPicPr>
          <p:cNvPr id="3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621bd709c424ff9"/>
          <a:stretch xmlns:a="http://schemas.openxmlformats.org/drawingml/2006/main"/>
        </p:blipFill>
        <p:spPr>
          <a:xfrm xmlns:a="http://schemas.openxmlformats.org/drawingml/2006/main">
            <a:off x="685800" y="2265353"/>
            <a:ext cx="10820400" cy="3660794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2503466"/>
      </p:ext>
    </p:extLst>
  </p:cSld>
  <p:transition dur="500">
    <p:cover dir="r"/>
  </p:transition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93D7C4B-FC85-4E38-A9B9-7AA6EEB2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BE94C10-56B5-40F2-A6D5-A98DAC74D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2e66b0e2e4964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BAA01F-50BC-48E8-AD04-6C581812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Estimator pipeline: anchor first, orthogonalize second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56D09CC-0746-455B-AB3D-E18655AE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FC07648-E8B7-455B-9D4F-5250ADAD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C713485-F834-4B16-80AE-204C3F20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6127FA9-3303-4B98-A8D9-F2FF3886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E6CCA0C-29B1-47D9-AFEE-190ABCCE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7B21C87-CAC4-4164-8C5C-6F7C3B65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01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0D196A9-B415-46E3-9361-F8B69849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Fit source models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6539635-A17C-45AA-BA83-E3A89439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Learn mu0 and mu1 from source IPD; randomized propensities are known.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4A757F2E-DE43-4AD0-B514-A25D2815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D4A413D-8FE5-40F9-A86A-EB9C5828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E422E56-223C-4574-905D-41A3A788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FA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2605098D-18A7-4AAA-AD1E-F7A3DC5A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02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FF75E07-E430-4EA6-9D33-781F5701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Anchor baseline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470A79E-9A4F-4BB2-9D59-35D29E01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Use target placebo gold labels to correct target baseline risk.</a:t>
            </a:r>
          </a:p>
        </p:txBody>
      </p:sp>
      <p:sp>
        <p:nvSpPr>
          <p:cNvPr id="21" name="Right Arrow 20">
            <a:extLst xmlns:a="http://schemas.openxmlformats.org/drawingml/2006/main">
              <a:ext uri="{FF2B5EF4-FFF2-40B4-BE49-F238E27FC236}">
                <a16:creationId xmlns:a16="http://schemas.microsoft.com/office/drawing/2014/main" id="{C0A0FEF9-0B0E-4ABD-BDB3-4D551D9A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820D8B46-5790-4952-AAD4-31DEBEA5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D2AA4B5C-1DB7-4987-B47B-BEE70CE7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A2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9532A85-6EC4-43BF-A133-30647930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03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8C8BEEB-80C0-4D60-8AF1-B9D70A6D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425" b="1">
                <a:solidFill>
                  <a:srgbClr val="231F20"/>
                </a:solidFill>
              </a:rPr>
              <a:t>Build pseudo-outcomes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CF859E99-E762-4417-9F81-4D148CB0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Form DR pseudo-outcomes with cross-fitting when target treated data exist.</a:t>
            </a:r>
          </a:p>
        </p:txBody>
      </p:sp>
      <p:sp>
        <p:nvSpPr>
          <p:cNvPr id="27" name="Right Arrow 26">
            <a:extLst xmlns:a="http://schemas.openxmlformats.org/drawingml/2006/main">
              <a:ext uri="{FF2B5EF4-FFF2-40B4-BE49-F238E27FC236}">
                <a16:creationId xmlns:a16="http://schemas.microsoft.com/office/drawing/2014/main" id="{547E1AC7-8448-4E62-984D-B043DFBC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CC1845AB-F754-4205-964A-F13570CA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F55949CC-D334-4E4A-A505-C1064068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FA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FD8AC435-DCB9-4AA7-86AA-9DE31760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04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57347287-1C79-4654-AB74-9220487C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Estimate CATE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7877CA81-FD6B-4632-8B44-83095EFF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Predict tau(x), evaluate ranking, calibration, and treatment policy regret.</a:t>
            </a:r>
          </a:p>
        </p:txBody>
      </p:sp>
      <p:sp>
        <p:nvSpPr>
          <p:cNvPr id="34" name="timing-pill">
            <a:extLst xmlns:a="http://schemas.openxmlformats.org/drawingml/2006/main">
              <a:ext uri="{FF2B5EF4-FFF2-40B4-BE49-F238E27FC236}">
                <a16:creationId xmlns:a16="http://schemas.microsoft.com/office/drawing/2014/main" id="{30FEA41B-5D78-4B60-A51C-21E99C00F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35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960CFA21-ECE5-4245-A4BA-6762D5346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4:15-6:00</a:t>
            </a:r>
          </a:p>
        </p:txBody>
      </p:sp>
    </p:spTree>
    <p:extLst>
      <p:ext uri="{BB962C8B-B14F-4D97-AF65-F5344CB8AC3E}">
        <p14:creationId xmlns:p14="http://schemas.microsoft.com/office/powerpoint/2010/main" val="12425034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59C3666D-B399-484F-8135-C352311A3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E55FE13-F112-448E-A0CB-8884909CAE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1456efcf52d41b5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82FA3AB-8B01-404F-8DE1-FEB6FCBCC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799" y="438150"/>
            <a:ext cx="8992773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85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Two target regimes, two interpretations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70562148-2D2A-4781-86FB-92725A9C6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888E6346-D434-49F4-AAED-27E72584D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46B9F958-4EBA-412D-A5C4-1CA27CE25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DFF93E5-C50D-4A9F-B407-108518987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3909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1CA12CE-1AEC-4A19-B420-C6E03A63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76400"/>
            <a:ext cx="33909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D1840215-0C0B-4BC6-AE8B-C6447E00F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47850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A0019"/>
                </a:solidFill>
              </a:defRPr>
            </a:pPr>
            <a:r>
              <a:rPr sz="1425" b="1">
                <a:solidFill>
                  <a:srgbClr val="8A0020"/>
                </a:solidFill>
              </a:rPr>
              <a:t>Connected target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8F9CECB2-746E-41FB-923C-37C2B7251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28850"/>
            <a:ext cx="30099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65605C"/>
                </a:solidFill>
              </a:rPr>
              <a:t>Target has treated and placebo outcomes. The estimator targets an identified target-site CATE and admits a Neyman-orthogonal expansion.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7EF08BB-A78B-406C-96E5-7E91DA84A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76400"/>
            <a:ext cx="33909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AFDC568A-3BDF-4547-A26A-B4646E32A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76400"/>
            <a:ext cx="33909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Rectangle 15">
            <a:extLst xmlns:a="http://schemas.openxmlformats.org/drawingml/2006/main">
              <a:ext uri="{FF2B5EF4-FFF2-40B4-BE49-F238E27FC236}">
                <a16:creationId xmlns:a16="http://schemas.microsoft.com/office/drawing/2014/main" id="{7A8651AD-6AE5-4709-A347-520394E57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47850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A0019"/>
                </a:solidFill>
              </a:defRPr>
            </a:pPr>
            <a:r>
              <a:rPr sz="1425" b="1">
                <a:solidFill>
                  <a:srgbClr val="8A0020"/>
                </a:solidFill>
              </a:rPr>
              <a:t>Disconnected target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8D0669C6-E539-496E-9092-EC93CD040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28850"/>
            <a:ext cx="30099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65605C"/>
                </a:solidFill>
              </a:rPr>
              <a:t>Target has placebo only. The output is a screen-then-transport working-model estimate under explicit A6 transport assumptions.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7D538E8F-653A-4F8B-AFBD-C5E139C79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76400"/>
            <a:ext cx="3390900" cy="2762250"/>
          </a:xfrm>
          <a:prstGeom xmlns:a="http://schemas.openxmlformats.org/drawingml/2006/main" prst="roundRect">
            <a:avLst>
              <a:gd name="adj" fmla="val 27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623A5D08-D01B-4197-AA0F-85388C72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76400"/>
            <a:ext cx="3390900" cy="476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C30E99DC-E46C-4E32-9C3C-7F47B7A1E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47850"/>
            <a:ext cx="300990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7A0019"/>
                </a:solidFill>
              </a:defRPr>
            </a:pPr>
            <a:r>
              <a:rPr sz="1425" b="1">
                <a:solidFill>
                  <a:srgbClr val="8A0020"/>
                </a:solidFill>
              </a:rPr>
              <a:t>Key distinction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55207555-A7AE-43B5-A69E-1226E0A30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228850"/>
            <a:ext cx="3009900" cy="2038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65605C"/>
                </a:solidFill>
              </a:rPr>
              <a:t>Theorem 1 gives √n₀ guarantees on an identified estimand. Theorem 2 decomposes error into estimation + structural transport bias ε_τ. These are not interchangeable — label them separately.</a:t>
            </a:r>
          </a:p>
        </p:txBody>
      </p:sp>
      <p:sp>
        <p:nvSpPr>
          <p:cNvPr id="23" name="timing-pill">
            <a:extLst xmlns:a="http://schemas.openxmlformats.org/drawingml/2006/main">
              <a:ext uri="{FF2B5EF4-FFF2-40B4-BE49-F238E27FC236}">
                <a16:creationId xmlns:a16="http://schemas.microsoft.com/office/drawing/2014/main" id="{A8845C68-F1A8-43B9-AFEC-06C3C8E42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4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51FA1AEB-ABA9-48A6-9F5E-12A1F4AA8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6:01-7:15</a:t>
            </a:r>
          </a:p>
        </p:txBody>
      </p:sp>
    </p:spTree>
    <p:extLst>
      <p:ext uri="{BB962C8B-B14F-4D97-AF65-F5344CB8AC3E}">
        <p14:creationId xmlns:p14="http://schemas.microsoft.com/office/powerpoint/2010/main" val="1099991563"/>
      </p:ext>
    </p:extLst>
  </p:cSld>
  <p:transition dur="700">
    <p:fade/>
  </p:transition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93D7C4B-FC85-4E38-A9B9-7AA6EEB2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BE94C10-56B5-40F2-A6D5-A98DAC74D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pic>
        <p:nvPicPr>
          <p:cNvPr id="4" name="Pictur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8b423bd1b54584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EBAA01F-50BC-48E8-AD04-6C5818125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Evaluation: accuracy, targeting, regret, and calibration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456D09CC-0746-455B-AB3D-E18655AE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BFC07648-E8B7-455B-9D4F-5250ADAD6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7C713485-F834-4B16-80AE-204C3F20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6127FA9-3303-4B98-A8D9-F2FF38860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E6CCA0C-29B1-47D9-AFEE-190ABCCE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77B21C87-CAC4-4164-8C5C-6F7C3B65E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01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A0D196A9-B415-46E3-9361-F8B698493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Synthetic RCTs</a:t>
            </a:r>
          </a:p>
        </p:txBody>
      </p:sp>
      <p:sp>
        <p:nvSpPr>
          <p:cNvPr id="14" name="Rectangle 13">
            <a:extLst xmlns:a="http://schemas.openxmlformats.org/drawingml/2006/main">
              <a:ext uri="{FF2B5EF4-FFF2-40B4-BE49-F238E27FC236}">
                <a16:creationId xmlns:a16="http://schemas.microsoft.com/office/drawing/2014/main" id="{96539635-A17C-45AA-BA83-E3A89439B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Controlled covariate shift, known potential outcomes, 100 Monte Carlo replicates.</a:t>
            </a:r>
          </a:p>
        </p:txBody>
      </p:sp>
      <p:sp>
        <p:nvSpPr>
          <p:cNvPr id="1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4A757F2E-DE43-4AD0-B514-A25D2815F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8D4A413D-8FE5-40F9-A86A-EB9C58286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E422E56-223C-4574-905D-41A3A7885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FA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18" name="Rectangle 17">
            <a:extLst xmlns:a="http://schemas.openxmlformats.org/drawingml/2006/main">
              <a:ext uri="{FF2B5EF4-FFF2-40B4-BE49-F238E27FC236}">
                <a16:creationId xmlns:a16="http://schemas.microsoft.com/office/drawing/2014/main" id="{2605098D-18A7-4AAA-AD1E-F7A3DC5AC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02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7FF75E07-E430-4EA6-9D33-781F57013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Ablations</a:t>
            </a:r>
          </a:p>
        </p:txBody>
      </p:sp>
      <p:sp>
        <p:nvSpPr>
          <p:cNvPr id="20" name="Rectangle 19">
            <a:extLst xmlns:a="http://schemas.openxmlformats.org/drawingml/2006/main">
              <a:ext uri="{FF2B5EF4-FFF2-40B4-BE49-F238E27FC236}">
                <a16:creationId xmlns:a16="http://schemas.microsoft.com/office/drawing/2014/main" id="{4470A79E-9A4F-4BB2-9D59-35D29E011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Compare TargetOnly, ProxyOnly, AnchorOnly, transport baselines, Proposed variants.</a:t>
            </a:r>
          </a:p>
        </p:txBody>
      </p:sp>
      <p:sp>
        <p:nvSpPr>
          <p:cNvPr id="21" name="Right Arrow 20">
            <a:extLst xmlns:a="http://schemas.openxmlformats.org/drawingml/2006/main">
              <a:ext uri="{FF2B5EF4-FFF2-40B4-BE49-F238E27FC236}">
                <a16:creationId xmlns:a16="http://schemas.microsoft.com/office/drawing/2014/main" id="{C0A0FEF9-0B0E-4ABD-BDB3-4D551D9A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820D8B46-5790-4952-AAD4-31DEBEA53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3" name="Rounded Rectangle 22">
            <a:extLst xmlns:a="http://schemas.openxmlformats.org/drawingml/2006/main">
              <a:ext uri="{FF2B5EF4-FFF2-40B4-BE49-F238E27FC236}">
                <a16:creationId xmlns:a16="http://schemas.microsoft.com/office/drawing/2014/main" id="{D2AA4B5C-1DB7-4987-B47B-BEE70CE77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DA27D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4" name="Rectangle 23">
            <a:extLst xmlns:a="http://schemas.openxmlformats.org/drawingml/2006/main">
              <a:ext uri="{FF2B5EF4-FFF2-40B4-BE49-F238E27FC236}">
                <a16:creationId xmlns:a16="http://schemas.microsoft.com/office/drawing/2014/main" id="{79532A85-6EC4-43BF-A133-306479302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03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18C8BEEB-80C0-4D60-8AF1-B9D70A6D8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Stress tests</a:t>
            </a:r>
          </a:p>
        </p:txBody>
      </p:sp>
      <p:sp>
        <p:nvSpPr>
          <p:cNvPr id="26" name="Rectangle 25">
            <a:extLst xmlns:a="http://schemas.openxmlformats.org/drawingml/2006/main">
              <a:ext uri="{FF2B5EF4-FFF2-40B4-BE49-F238E27FC236}">
                <a16:creationId xmlns:a16="http://schemas.microsoft.com/office/drawing/2014/main" id="{CF859E99-E762-4417-9F81-4D148CB04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Sweep target budget, dimension, number of sources, sparsity, and nonlinearity.</a:t>
            </a:r>
          </a:p>
        </p:txBody>
      </p:sp>
      <p:sp>
        <p:nvSpPr>
          <p:cNvPr id="27" name="Right Arrow 26">
            <a:extLst xmlns:a="http://schemas.openxmlformats.org/drawingml/2006/main">
              <a:ext uri="{FF2B5EF4-FFF2-40B4-BE49-F238E27FC236}">
                <a16:creationId xmlns:a16="http://schemas.microsoft.com/office/drawing/2014/main" id="{547E1AC7-8448-4E62-984D-B043DFBC0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19450"/>
            <a:ext cx="15240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D8AE4B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8" name="Rounded Rectangle 27">
            <a:extLst xmlns:a="http://schemas.openxmlformats.org/drawingml/2006/main">
              <a:ext uri="{FF2B5EF4-FFF2-40B4-BE49-F238E27FC236}">
                <a16:creationId xmlns:a16="http://schemas.microsoft.com/office/drawing/2014/main" id="{CC1845AB-F754-4205-964A-F13570CA9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590800" cy="26670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DBD2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29" name="Rounded Rectangle 28">
            <a:extLst xmlns:a="http://schemas.openxmlformats.org/drawingml/2006/main">
              <a:ext uri="{FF2B5EF4-FFF2-40B4-BE49-F238E27FC236}">
                <a16:creationId xmlns:a16="http://schemas.microsoft.com/office/drawing/2014/main" id="{F55949CC-D334-4E4A-A505-C1064068A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095500"/>
            <a:ext cx="2590800" cy="571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F8FA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0" name="Rectangle 29">
            <a:extLst xmlns:a="http://schemas.openxmlformats.org/drawingml/2006/main">
              <a:ext uri="{FF2B5EF4-FFF2-40B4-BE49-F238E27FC236}">
                <a16:creationId xmlns:a16="http://schemas.microsoft.com/office/drawing/2014/main" id="{FD8AC435-DCB9-4AA7-86AA-9DE317601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343150"/>
            <a:ext cx="4572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7A0019"/>
                </a:solidFill>
              </a:defRPr>
            </a:pPr>
            <a:r>
              <a:rPr sz="1800" b="1">
                <a:solidFill>
                  <a:srgbClr val="7A0019"/>
                </a:solidFill>
              </a:rPr>
              <a:t>04</a:t>
            </a:r>
          </a:p>
        </p:txBody>
      </p:sp>
      <p:sp>
        <p:nvSpPr>
          <p:cNvPr id="31" name="Rectangle 30">
            <a:extLst xmlns:a="http://schemas.openxmlformats.org/drawingml/2006/main">
              <a:ext uri="{FF2B5EF4-FFF2-40B4-BE49-F238E27FC236}">
                <a16:creationId xmlns:a16="http://schemas.microsoft.com/office/drawing/2014/main" id="{57347287-1C79-4654-AB74-9220487C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24150"/>
            <a:ext cx="21336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231F20"/>
                </a:solidFill>
              </a:defRPr>
            </a:pPr>
            <a:r>
              <a:rPr sz="1800" b="1">
                <a:solidFill>
                  <a:srgbClr val="231F20"/>
                </a:solidFill>
              </a:rPr>
              <a:t>IHDP benchmark</a:t>
            </a:r>
          </a:p>
        </p:txBody>
      </p:sp>
      <p:sp>
        <p:nvSpPr>
          <p:cNvPr id="32" name="Rectangle 31">
            <a:extLst xmlns:a="http://schemas.openxmlformats.org/drawingml/2006/main">
              <a:ext uri="{FF2B5EF4-FFF2-40B4-BE49-F238E27FC236}">
                <a16:creationId xmlns:a16="http://schemas.microsoft.com/office/drawing/2014/main" id="{7877CA81-FD6B-4632-8B44-83095EFF9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0400"/>
            <a:ext cx="2133600" cy="1162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5E5A56"/>
                </a:solidFill>
              </a:defRPr>
            </a:pPr>
            <a:r>
              <a:rPr sz="1350" b="0">
                <a:solidFill>
                  <a:srgbClr val="5E5A56"/>
                </a:solidFill>
              </a:rPr>
              <a:t>Real covariate distributions with semi-synthetic outcomes over 50 realizations.</a:t>
            </a:r>
          </a:p>
        </p:txBody>
      </p:sp>
      <p:sp>
        <p:nvSpPr>
          <p:cNvPr id="34" name="timing-pill">
            <a:extLst xmlns:a="http://schemas.openxmlformats.org/drawingml/2006/main">
              <a:ext uri="{FF2B5EF4-FFF2-40B4-BE49-F238E27FC236}">
                <a16:creationId xmlns:a16="http://schemas.microsoft.com/office/drawing/2014/main" id="{C6418001-78AB-4E19-BDE2-A6B6291B4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35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96EC154C-AFB7-4412-A9F5-8B17C2C97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7:15-8:30</a:t>
            </a:r>
          </a:p>
        </p:txBody>
      </p:sp>
    </p:spTree>
    <p:extLst>
      <p:ext uri="{BB962C8B-B14F-4D97-AF65-F5344CB8AC3E}">
        <p14:creationId xmlns:p14="http://schemas.microsoft.com/office/powerpoint/2010/main" val="1242503466"/>
      </p:ext>
    </p:extLst>
  </p:cSld>
  <p:transition dur="500">
    <p:push dir="r"/>
  </p:transition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FCC2B63-4C3E-4680-A992-D125ECE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70F4451-5B25-4A4C-85E8-DB74382D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E032A8-31B5-483A-B8B8-AB5D7A78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0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Synthetic summary: proposed methods dominate the ranking table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EADD4DC-0A49-4FAD-9192-E7257168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C77E3E1-B4E8-4004-8690-BB8DF06C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3EAC61-E65A-4981-A5CD-715DC02A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abe12c6aa94332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15" name="timing-pill">
            <a:extLst xmlns:a="http://schemas.openxmlformats.org/drawingml/2006/main">
              <a:ext uri="{FF2B5EF4-FFF2-40B4-BE49-F238E27FC236}">
                <a16:creationId xmlns:a16="http://schemas.microsoft.com/office/drawing/2014/main" id="{771CED07-0A7F-451D-A0C4-D5992D70B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75298BDA-20CD-49D2-A228-C4B3119B9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8:30-10:00</a:t>
            </a:r>
          </a:p>
        </p:txBody>
      </p:sp>
      <p:sp>
        <p:nvSpPr>
          <p:cNvPr id="17" name="claim">
            <a:extLst xmlns:a="http://schemas.openxmlformats.org/drawingml/2006/main">
              <a:ext uri="{FF2B5EF4-FFF2-40B4-BE49-F238E27FC236}">
                <a16:creationId xmlns:a16="http://schemas.microsoft.com/office/drawing/2014/main" id="{9CAA462B-68A3-4FCF-92A6-ED38B7813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Across synthetic sweeps, Proposed is rank 1 on PEHE, ATE, Spearman, and regret; Proposed-CF leads calibration.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BD7BCD-0888-47C9-B766-DFD53138B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28800"/>
            <a:ext cx="4762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Average rank across performance metrics (lower is better)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7D2B5EB-F7C0-4242-8E9B-E2F897BAF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3241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Proposed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E16CEA-06F5-434F-8DC7-ED0569308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431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D970D1-5A22-49FE-9CDA-E72B4610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343150"/>
            <a:ext cx="715433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E9D2D0B-6C56-49DB-B8A8-7EC037593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3145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1.3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3DD636A-9296-455A-9FDF-CB04C4D15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7432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Proposed-CF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3104CE-4CA4-4804-AF1D-D2CB0B1E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622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2BA284-5EA8-41F7-A717-223605FBC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762250"/>
            <a:ext cx="9906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0F8470F-EDC7-485D-96D1-9C03F1848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7336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1.8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ED66FD8-C3E2-40A6-990E-0E2B6E490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1623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Proposed-B†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6300248-D0BF-46C7-8B25-C6D1651B3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1813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5A61886-98B5-4F15-A736-E86C4EB4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181350"/>
            <a:ext cx="18161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D5A83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DC4FA71-5BBD-4791-A48E-E14A25C44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1527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3.3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DD3BCB9-0B6B-4D8A-8F0E-254495496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814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OM-Transport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98E314-BE26-4D36-A687-0CC835165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6004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76C2F7A-C2A9-418F-864B-7F5128383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3600450"/>
            <a:ext cx="23114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A9A9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5D8957C-689C-4A51-9F26-709BE8A9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5718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4.2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DF72C76-E341-4F1F-8E21-B8E414DE8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IPW-Transport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61FC43-E23E-4E65-8F8F-30F5D105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195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09049C0-9428-416D-9A7C-5C93E5777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019550"/>
            <a:ext cx="2751667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B9B9B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C13D723-E9CA-4B78-AF14-A600DF2C9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9909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5.0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FACCC1-4F62-4310-99D0-9AC0CFC34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196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TargetOnly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78F618-A843-4DCF-AC05-BA8C56C2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4386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16A47E5-1D10-4AA3-BEB9-1D1CFBFDA2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438650"/>
            <a:ext cx="3302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D0D0D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5D806A6-F305-438E-A42F-92205A552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4100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6.0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633ED4C-8E74-4635-8FDC-FE2046707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838700"/>
            <a:ext cx="1905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ProxyOnly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5620DCF-860F-4295-807B-DA4D7E50C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857750"/>
            <a:ext cx="4953000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EEEAE5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3BFDFDA-5D65-4152-B1EE-2FAFB06F0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857750"/>
            <a:ext cx="4677833" cy="19050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8A8EBD7-BD75-4A2A-9144-52400A146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4829175"/>
            <a:ext cx="647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2B2B2B"/>
                </a:solidFill>
                <a:latin typeface="Aptos"/>
                <a:ea typeface="Aptos"/>
                <a:cs typeface="Aptos"/>
              </a:rPr>
              <a:t>8.5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FDBC9D0-758E-4FDE-89AD-8A018F303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66950"/>
            <a:ext cx="1809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FF13B9B-A041-430E-BC42-78FCD367D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4384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605C"/>
                </a:solidFill>
                <a:latin typeface="Aptos"/>
                <a:ea typeface="Aptos"/>
                <a:cs typeface="Aptos"/>
              </a:rPr>
              <a:t>Proposed avg rank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8EDA81B-9D05-4C9E-804F-1803DF75B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724150"/>
            <a:ext cx="142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7B8F70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7B8F70"/>
                </a:solidFill>
                <a:latin typeface="Aptos Display"/>
                <a:ea typeface="Aptos Display"/>
                <a:cs typeface="Aptos Display"/>
              </a:rPr>
              <a:t>1.3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0D871E6-DFF5-477F-91BC-12E3F0818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1623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PEHE/ATE/rank/regret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7026350-0C3A-43EF-8100-45A30A08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752850"/>
            <a:ext cx="1809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0EF9FDC-B064-4424-A858-475CED055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605C"/>
                </a:solidFill>
                <a:latin typeface="Aptos"/>
                <a:ea typeface="Aptos"/>
                <a:cs typeface="Aptos"/>
              </a:rPr>
              <a:t>Proposed-CF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2D55EA1A-A755-4221-B008-65F2170E1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210050"/>
            <a:ext cx="1428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6F8EA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6F8EA4"/>
                </a:solidFill>
                <a:latin typeface="Aptos Display"/>
                <a:ea typeface="Aptos Display"/>
                <a:cs typeface="Aptos Display"/>
              </a:rPr>
              <a:t>1.3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19FC09F-3C85-42F3-9473-525B6718A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4648200"/>
            <a:ext cx="1428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ECE rank (calibration)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AA9B807-D2A2-49CF-88C7-F57D1D528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19700"/>
            <a:ext cx="81915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0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† AnchorOnly (avg rank ≈6.5, ablation) and EntropyBal (≈5.5) omitted for space — full 9-method comparison in Table I</a:t>
            </a:r>
          </a:p>
        </p:txBody>
      </p:sp>
    </p:spTree>
    <p:extLst>
      <p:ext uri="{BB962C8B-B14F-4D97-AF65-F5344CB8AC3E}">
        <p14:creationId xmlns:p14="http://schemas.microsoft.com/office/powerpoint/2010/main" val="17782789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FCC2B63-4C3E-4680-A992-D125ECE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70F4451-5B25-4A4C-85E8-DB74382D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E032A8-31B5-483A-B8B8-AB5D7A78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Small target samples are where transfer pays off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EADD4DC-0A49-4FAD-9192-E7257168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C77E3E1-B4E8-4004-8690-BB8DF06C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3EAC61-E65A-4981-A5CD-715DC02A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ebb73565d24a60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15" name="timing-pill">
            <a:extLst xmlns:a="http://schemas.openxmlformats.org/drawingml/2006/main">
              <a:ext uri="{FF2B5EF4-FFF2-40B4-BE49-F238E27FC236}">
                <a16:creationId xmlns:a16="http://schemas.microsoft.com/office/drawing/2014/main" id="{AB151CA8-8B9A-4153-AD55-9CAAE44A6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EA2EEF6F-BBAD-4443-B8E5-8DDB3E8E2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10:00-11:15</a:t>
            </a:r>
          </a:p>
        </p:txBody>
      </p:sp>
      <p:sp>
        <p:nvSpPr>
          <p:cNvPr id="17" name="claim">
            <a:extLst xmlns:a="http://schemas.openxmlformats.org/drawingml/2006/main">
              <a:ext uri="{FF2B5EF4-FFF2-40B4-BE49-F238E27FC236}">
                <a16:creationId xmlns:a16="http://schemas.microsoft.com/office/drawing/2014/main" id="{B006D244-0F9D-4CC4-B63C-954E8FD89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When p is large and target labels are scarce, target-only learning deteriorates while anchored transfer stays usable.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7B6344E-30EB-4730-B286-FC30F82C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76450"/>
            <a:ext cx="2952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A5C2C5-6635-48C9-9FE6-AB7C984EB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479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605C"/>
                </a:solidFill>
                <a:latin typeface="Aptos"/>
                <a:ea typeface="Aptos"/>
                <a:cs typeface="Aptos"/>
              </a:rPr>
              <a:t>p=100, target 150/100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BCE1CD-BA56-4B8C-91EC-ADB3637DC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33650"/>
            <a:ext cx="257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7B8F70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7B8F70"/>
                </a:solidFill>
                <a:latin typeface="Aptos Display"/>
                <a:ea typeface="Aptos Display"/>
                <a:cs typeface="Aptos Display"/>
              </a:rPr>
              <a:t>7.57 -&gt; 1.71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46C5E9-1F68-4678-9579-61F9D2835C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718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TargetOnly PEHE to Proposed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5A1A704-6971-4017-97B9-4B113558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76450"/>
            <a:ext cx="2952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7FDF85-E192-4281-A281-8594E8CE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2479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605C"/>
                </a:solidFill>
                <a:latin typeface="Aptos"/>
                <a:ea typeface="Aptos"/>
                <a:cs typeface="Aptos"/>
              </a:rPr>
              <a:t>p=50, target 150/100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BB1AC31-0209-4B22-BE38-2B4D84AED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533650"/>
            <a:ext cx="257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7B8F70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7B8F70"/>
                </a:solidFill>
                <a:latin typeface="Aptos Display"/>
                <a:ea typeface="Aptos Display"/>
                <a:cs typeface="Aptos Display"/>
              </a:rPr>
              <a:t>4.75 -&gt; 0.73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CCD9989-DB8E-4816-A2D6-A8BA4B5F7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9718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TargetOnly PEHE to Proposed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D8E7DAD-28C9-4B42-AA95-C5E7D1C4C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076450"/>
            <a:ext cx="29527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AE095C-462A-4821-BF0E-C27AFE79A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2479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5605C"/>
                </a:solidFill>
                <a:latin typeface="Aptos"/>
                <a:ea typeface="Aptos"/>
                <a:cs typeface="Aptos"/>
              </a:rPr>
              <a:t>p=20, target 150/100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07AC5CB-1995-44B9-8AF5-9BE1E9EE8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533650"/>
            <a:ext cx="2571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625" b="1">
                <a:solidFill>
                  <a:srgbClr val="6F8EA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6F8EA4"/>
                </a:solidFill>
                <a:latin typeface="Aptos Display"/>
                <a:ea typeface="Aptos Display"/>
                <a:cs typeface="Aptos Display"/>
              </a:rPr>
              <a:t>2.60 -&gt; 0.50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F9FB1CB-02DC-4C2F-A514-79ED6AEE1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971800"/>
            <a:ext cx="25717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TargetOnly PEHE to Proposed-CF</a:t>
            </a:r>
          </a:p>
        </p:txBody>
      </p:sp>
    </p:spTree>
    <p:extLst>
      <p:ext uri="{BB962C8B-B14F-4D97-AF65-F5344CB8AC3E}">
        <p14:creationId xmlns:p14="http://schemas.microsoft.com/office/powerpoint/2010/main" val="177827894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FCC2B63-4C3E-4680-A992-D125ECE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70F4451-5B25-4A4C-85E8-DB74382D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E032A8-31B5-483A-B8B8-AB5D7A78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75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Disconnected targets: useful, but label the assumption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EADD4DC-0A49-4FAD-9192-E7257168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C77E3E1-B4E8-4004-8690-BB8DF06C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3EAC61-E65A-4981-A5CD-715DC02A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b430010ec241b8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15" name="timing-pill">
            <a:extLst xmlns:a="http://schemas.openxmlformats.org/drawingml/2006/main">
              <a:ext uri="{FF2B5EF4-FFF2-40B4-BE49-F238E27FC236}">
                <a16:creationId xmlns:a16="http://schemas.microsoft.com/office/drawing/2014/main" id="{96FA885B-BBA2-451F-A020-7F4A5E1DE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D18F5293-BC36-4471-AE1E-E93BE4B1E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11:15-12:30</a:t>
            </a:r>
          </a:p>
        </p:txBody>
      </p:sp>
      <p:sp>
        <p:nvSpPr>
          <p:cNvPr id="17" name="claim">
            <a:extLst xmlns:a="http://schemas.openxmlformats.org/drawingml/2006/main">
              <a:ext uri="{FF2B5EF4-FFF2-40B4-BE49-F238E27FC236}">
                <a16:creationId xmlns:a16="http://schemas.microsoft.com/office/drawing/2014/main" id="{5BF476DD-8FFB-4F15-8210-1B118E282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With m1=0, Proposed-B is best or near-best on PEHE, but the estimand is transported rather than identified.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E0189B-C4AC-46AE-9676-E93B89A7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85950"/>
            <a:ext cx="6705600" cy="3295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1DC934-3175-4D00-A989-922A94C40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38350"/>
            <a:ext cx="63627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Disconnected PEHE, target placebo only (m0=50)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BA1E6A5-A766-48A7-839E-8123E7809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031987"/>
            <a:ext cx="304800" cy="635263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025DEB-3017-4761-873C-0FC28559C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224738"/>
            <a:ext cx="304800" cy="44251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3BBEE20-37D9-4DC8-BB4D-E655AD939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62500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p=10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FD3FB7-9866-4564-A325-7EE6AD473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3752363"/>
            <a:ext cx="304800" cy="91488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D8FD636-4F2C-459E-A6FB-DAE89296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137864"/>
            <a:ext cx="304800" cy="52938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72DBF9-E73A-49EE-9802-105386EC1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0800" y="4762500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p=20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A97BFA-B053-4071-AD6A-71744BFE65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098096"/>
            <a:ext cx="304800" cy="156915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815E1D9-723E-4CE9-86E8-CEEF3A18A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784940"/>
            <a:ext cx="304800" cy="88231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C2F5B64-D7AC-4DAE-A3DB-9919CCDD3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762500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p=50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B17E2E5-8259-4CFA-9037-D13B023D3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438400"/>
            <a:ext cx="304800" cy="2228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A030468-F38A-448B-971B-56FE30DB3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567756"/>
            <a:ext cx="304800" cy="109949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DB7DBE5-4605-47B9-A64B-45E7FFF4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4762500"/>
            <a:ext cx="89535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p=100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2A312DB-E5EA-4184-A66F-BE38F6369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38125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3414A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4EB2D5-AA30-4FE1-8274-83CDF5D41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333625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ProxyOnly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65B6389-4D92-49F1-86D4-E16170AF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628900"/>
            <a:ext cx="114300" cy="114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F89E220-60E4-4200-B5B6-AD515972D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2581275"/>
            <a:ext cx="1524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Proposed-B</a:t>
            </a:r>
          </a:p>
        </p:txBody>
      </p:sp>
      <p:sp>
        <p:nvSpPr>
          <p:cNvPr id="36" name="card">
            <a:extLst xmlns:a="http://schemas.openxmlformats.org/drawingml/2006/main">
              <a:ext uri="{FF2B5EF4-FFF2-40B4-BE49-F238E27FC236}">
                <a16:creationId xmlns:a16="http://schemas.microsoft.com/office/drawing/2014/main" id="{26F4F2CA-1A55-4392-8077-F6DD66E7B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38500" cy="2590800"/>
          </a:xfrm>
          <a:prstGeom xmlns:a="http://schemas.openxmlformats.org/drawingml/2006/main" prst="roundRect">
            <a:avLst>
              <a:gd name="adj" fmla="val 2941"/>
            </a:avLst>
          </a:prstGeom>
          <a:solidFill xmlns:a="http://schemas.openxmlformats.org/drawingml/2006/main">
            <a:srgbClr val="F7F5F2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37" name="card-accent">
            <a:extLst xmlns:a="http://schemas.openxmlformats.org/drawingml/2006/main">
              <a:ext uri="{FF2B5EF4-FFF2-40B4-BE49-F238E27FC236}">
                <a16:creationId xmlns:a16="http://schemas.microsoft.com/office/drawing/2014/main" id="{EF06988D-A2CA-47DE-B146-22CBACEFF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2114550"/>
            <a:ext cx="3238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A002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8" name="card-eyebrow">
            <a:extLst xmlns:a="http://schemas.openxmlformats.org/drawingml/2006/main">
              <a:ext uri="{FF2B5EF4-FFF2-40B4-BE49-F238E27FC236}">
                <a16:creationId xmlns:a16="http://schemas.microsoft.com/office/drawing/2014/main" id="{71AF8D06-060A-4E84-9C71-F9FB12941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43150"/>
            <a:ext cx="2857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A6</a:t>
            </a:r>
          </a:p>
        </p:txBody>
      </p:sp>
      <p:sp>
        <p:nvSpPr>
          <p:cNvPr id="39" name="card-title">
            <a:extLst xmlns:a="http://schemas.openxmlformats.org/drawingml/2006/main">
              <a:ext uri="{FF2B5EF4-FFF2-40B4-BE49-F238E27FC236}">
                <a16:creationId xmlns:a16="http://schemas.microsoft.com/office/drawing/2014/main" id="{CCC69C6D-CFCA-4B7C-8A45-DFD69E62D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647950"/>
            <a:ext cx="2857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Screen-then-transport</a:t>
            </a:r>
          </a:p>
        </p:txBody>
      </p:sp>
      <p:sp>
        <p:nvSpPr>
          <p:cNvPr id="40" name="card-body">
            <a:extLst xmlns:a="http://schemas.openxmlformats.org/drawingml/2006/main">
              <a:ext uri="{FF2B5EF4-FFF2-40B4-BE49-F238E27FC236}">
                <a16:creationId xmlns:a16="http://schemas.microsoft.com/office/drawing/2014/main" id="{D416943A-04BF-48DD-A687-2967BFE3A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009900"/>
            <a:ext cx="2857500" cy="1543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Use target placebo to detect compatible sources, then transport source CATEs. This supports scenario analysis, not nonparametric identification.</a:t>
            </a:r>
          </a:p>
        </p:txBody>
      </p:sp>
    </p:spTree>
    <p:extLst>
      <p:ext uri="{BB962C8B-B14F-4D97-AF65-F5344CB8AC3E}">
        <p14:creationId xmlns:p14="http://schemas.microsoft.com/office/powerpoint/2010/main" val="1778278946"/>
      </p:ext>
    </p:extLst>
  </p:cSld>
  <p:transition dur="500">
    <p:fade/>
  </p:transition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FCC2B63-4C3E-4680-A992-D125ECE7B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70F4451-5B25-4A4C-85E8-DB74382DB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52400"/>
            <a:ext cx="12192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AE4B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E032A8-31B5-483A-B8B8-AB5D7A787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78105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325" b="1">
                <a:solidFill>
                  <a:srgbClr val="7A0019"/>
                </a:solidFill>
              </a:defRPr>
            </a:pPr>
            <a:r>
              <a:rPr sz="2700" b="1">
                <a:solidFill>
                  <a:srgbClr val="8A0020"/>
                </a:solidFill>
                <a:latin typeface="Aptos Display"/>
                <a:ea typeface="Aptos Display"/>
                <a:cs typeface="Aptos Display"/>
              </a:rPr>
              <a:t>IHDP benchmark: real covariate shift tells the same story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FEADD4DC-0A49-4FAD-9192-E7257168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81750"/>
            <a:ext cx="10820400" cy="1333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DBD2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2C77E3E1-B4E8-4004-8690-BB8DF06C1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810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IEEE ICHI 2026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6C3EAC61-E65A-4981-A5CD-715DC02A3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477000"/>
            <a:ext cx="35052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867C74"/>
                </a:solidFill>
              </a:defRPr>
            </a:pPr>
            <a:r>
              <a:rPr sz="900" b="0">
                <a:solidFill>
                  <a:srgbClr val="867C74"/>
                </a:solidFill>
              </a:rPr>
              <a:t>Minneapolis, MN • June 1–3, 2026</a:t>
            </a:r>
          </a:p>
        </p:txBody>
      </p:sp>
      <p:pic>
        <p:nvPicPr>
          <p:cNvPr id="10" name="Picture 5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1a7ce635184a8e"/>
          <a:stretch xmlns:a="http://schemas.openxmlformats.org/drawingml/2006/main"/>
        </p:blipFill>
        <p:spPr>
          <a:xfrm xmlns:a="http://schemas.openxmlformats.org/drawingml/2006/main">
            <a:off x="10007713" y="323850"/>
            <a:ext cx="1606323" cy="685800"/>
          </a:xfrm>
          <a:prstGeom xmlns:a="http://schemas.openxmlformats.org/drawingml/2006/main" prst="rect">
            <a:avLst/>
          </a:prstGeom>
        </p:spPr>
      </p:pic>
      <p:sp>
        <p:nvSpPr>
          <p:cNvPr id="15" name="timing-pill">
            <a:extLst xmlns:a="http://schemas.openxmlformats.org/drawingml/2006/main">
              <a:ext uri="{FF2B5EF4-FFF2-40B4-BE49-F238E27FC236}">
                <a16:creationId xmlns:a16="http://schemas.microsoft.com/office/drawing/2014/main" id="{72239E22-9519-4E66-AD54-579C58BE8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774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6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56405CF6-3618-400B-9332-E2EC4E8C8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12:30-13:45</a:t>
            </a:r>
          </a:p>
        </p:txBody>
      </p:sp>
      <p:sp>
        <p:nvSpPr>
          <p:cNvPr id="17" name="claim">
            <a:extLst xmlns:a="http://schemas.openxmlformats.org/drawingml/2006/main">
              <a:ext uri="{FF2B5EF4-FFF2-40B4-BE49-F238E27FC236}">
                <a16:creationId xmlns:a16="http://schemas.microsoft.com/office/drawing/2014/main" id="{02AEFF2E-DA93-47B0-9EEF-8F0B73B0F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09700"/>
            <a:ext cx="9906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On real IHDP covariates with known counterfactuals, the method remains best or competitive across connected and disconnected regimes.</a:t>
            </a:r>
          </a:p>
        </p:txBody>
      </p:sp>
      <p:sp>
        <p:nvSpPr>
          <p:cNvPr id="18" name="card">
            <a:extLst xmlns:a="http://schemas.openxmlformats.org/drawingml/2006/main">
              <a:ext uri="{FF2B5EF4-FFF2-40B4-BE49-F238E27FC236}">
                <a16:creationId xmlns:a16="http://schemas.microsoft.com/office/drawing/2014/main" id="{951666C0-C803-4CB8-8F6B-C25A2A76A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4762500" cy="255270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9" name="card-accent">
            <a:extLst xmlns:a="http://schemas.openxmlformats.org/drawingml/2006/main">
              <a:ext uri="{FF2B5EF4-FFF2-40B4-BE49-F238E27FC236}">
                <a16:creationId xmlns:a16="http://schemas.microsoft.com/office/drawing/2014/main" id="{7066B8F8-4159-494E-9A9D-23AB331D1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00250"/>
            <a:ext cx="4762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8F70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" name="card-eyebrow">
            <a:extLst xmlns:a="http://schemas.openxmlformats.org/drawingml/2006/main">
              <a:ext uri="{FF2B5EF4-FFF2-40B4-BE49-F238E27FC236}">
                <a16:creationId xmlns:a16="http://schemas.microsoft.com/office/drawing/2014/main" id="{C8143E0E-B8E0-49E1-BE5F-D078591E9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228850"/>
            <a:ext cx="438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Connected</a:t>
            </a:r>
          </a:p>
        </p:txBody>
      </p:sp>
      <p:sp>
        <p:nvSpPr>
          <p:cNvPr id="21" name="card-title">
            <a:extLst xmlns:a="http://schemas.openxmlformats.org/drawingml/2006/main">
              <a:ext uri="{FF2B5EF4-FFF2-40B4-BE49-F238E27FC236}">
                <a16:creationId xmlns:a16="http://schemas.microsoft.com/office/drawing/2014/main" id="{C3089C4E-E7F2-47E8-83F8-E45331BA9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533650"/>
            <a:ext cx="438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Proposed is best in 9/9 PEHE cells</a:t>
            </a:r>
          </a:p>
        </p:txBody>
      </p:sp>
      <p:sp>
        <p:nvSpPr>
          <p:cNvPr id="22" name="card-body">
            <a:extLst xmlns:a="http://schemas.openxmlformats.org/drawingml/2006/main">
              <a:ext uri="{FF2B5EF4-FFF2-40B4-BE49-F238E27FC236}">
                <a16:creationId xmlns:a16="http://schemas.microsoft.com/office/drawing/2014/main" id="{4F2EC8B7-8FDE-4B74-97DD-B58B0D284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895600"/>
            <a:ext cx="43815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Example: at m0=25, m1=100, PEHE is 1.57 for Proposed vs 2.05 for OM-Transport and 3.09 for TargetOnly.</a:t>
            </a:r>
          </a:p>
        </p:txBody>
      </p:sp>
      <p:sp>
        <p:nvSpPr>
          <p:cNvPr id="23" name="card">
            <a:extLst xmlns:a="http://schemas.openxmlformats.org/drawingml/2006/main">
              <a:ext uri="{FF2B5EF4-FFF2-40B4-BE49-F238E27FC236}">
                <a16:creationId xmlns:a16="http://schemas.microsoft.com/office/drawing/2014/main" id="{914842CB-6B57-410B-A5DB-726238E53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00250"/>
            <a:ext cx="4762500" cy="2552700"/>
          </a:xfrm>
          <a:prstGeom xmlns:a="http://schemas.openxmlformats.org/drawingml/2006/main" prst="roundRect">
            <a:avLst>
              <a:gd name="adj" fmla="val 29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24" name="card-accent">
            <a:extLst xmlns:a="http://schemas.openxmlformats.org/drawingml/2006/main">
              <a:ext uri="{FF2B5EF4-FFF2-40B4-BE49-F238E27FC236}">
                <a16:creationId xmlns:a16="http://schemas.microsoft.com/office/drawing/2014/main" id="{6CBF574A-EC0E-4971-A8AD-AA312FF1D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000250"/>
            <a:ext cx="4762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8EA4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5" name="card-eyebrow">
            <a:extLst xmlns:a="http://schemas.openxmlformats.org/drawingml/2006/main">
              <a:ext uri="{FF2B5EF4-FFF2-40B4-BE49-F238E27FC236}">
                <a16:creationId xmlns:a16="http://schemas.microsoft.com/office/drawing/2014/main" id="{7C6D334E-5871-4741-A3D3-E1E2D91654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4381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8A0020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8A0020"/>
                </a:solidFill>
                <a:latin typeface="Aptos"/>
                <a:ea typeface="Aptos"/>
                <a:cs typeface="Aptos"/>
              </a:rPr>
              <a:t>Disconnected</a:t>
            </a:r>
          </a:p>
        </p:txBody>
      </p:sp>
      <p:sp>
        <p:nvSpPr>
          <p:cNvPr id="26" name="card-title">
            <a:extLst xmlns:a="http://schemas.openxmlformats.org/drawingml/2006/main">
              <a:ext uri="{FF2B5EF4-FFF2-40B4-BE49-F238E27FC236}">
                <a16:creationId xmlns:a16="http://schemas.microsoft.com/office/drawing/2014/main" id="{5C293CAD-68F2-494B-A0A5-43737BC9D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33650"/>
            <a:ext cx="43815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B2B2B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B2B2B"/>
                </a:solidFill>
                <a:latin typeface="Aptos"/>
                <a:ea typeface="Aptos"/>
                <a:cs typeface="Aptos"/>
              </a:rPr>
              <a:t>Lowest PEHE at all placebo budgets</a:t>
            </a:r>
          </a:p>
        </p:txBody>
      </p:sp>
      <p:sp>
        <p:nvSpPr>
          <p:cNvPr id="27" name="card-body">
            <a:extLst xmlns:a="http://schemas.openxmlformats.org/drawingml/2006/main">
              <a:ext uri="{FF2B5EF4-FFF2-40B4-BE49-F238E27FC236}">
                <a16:creationId xmlns:a16="http://schemas.microsoft.com/office/drawing/2014/main" id="{DCA4B2F2-2513-45D3-A9F6-DE173865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95600"/>
            <a:ext cx="4381500" cy="1504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At m0=25, PEHE is 2.11 for Proposed-B vs 2.28-2.82 for transport/proxy baselines. Interpret under the working transport condition.</a:t>
            </a:r>
          </a:p>
        </p:txBody>
      </p:sp>
    </p:spTree>
    <p:extLst>
      <p:ext uri="{BB962C8B-B14F-4D97-AF65-F5344CB8AC3E}">
        <p14:creationId xmlns:p14="http://schemas.microsoft.com/office/powerpoint/2010/main" val="1778278946"/>
      </p:ext>
    </p:extLst>
  </p:cSld>
  <p:transition dur="500">
    <p:fade/>
  </p:transition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9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D9B09E7-A7F9-48CC-A2C4-F5CDE1AFE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4762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0019"/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84F1E2E-61AE-848F-B769-1C8958021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5196216"/>
            <a:ext cx="4762500" cy="1661784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15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pic>
        <p:nvPicPr>
          <p:cNvPr id="5" name="Pictur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b09d560c1b4f7e"/>
          <a:srcRect xmlns:a="http://schemas.openxmlformats.org/drawingml/2006/main" l="0" t="15385" r="0" b="1538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762500" y="0"/>
            <a:ext cx="7429500" cy="6858000"/>
          </a:xfrm>
          <a:prstGeom xmlns:a="http://schemas.openxmlformats.org/drawingml/2006/main" prst="roundRect">
            <a:avLst/>
          </a:prstGeom>
        </p:spPr>
      </p:pic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32AB4C2-CFF7-4B1F-877E-EC57607B2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23950"/>
            <a:ext cx="3048000" cy="571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360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Takeaways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9E08AE43-49B7-4C7B-8452-26438B986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22860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FFCC33"/>
                </a:solidFill>
              </a:defRPr>
            </a:pPr>
            <a:r>
              <a:rPr sz="2550" b="1">
                <a:solidFill>
                  <a:srgbClr val="D5A834"/>
                </a:solidFill>
                <a:latin typeface="Aptos Display"/>
                <a:ea typeface="Aptos Display"/>
                <a:cs typeface="Aptos Display"/>
              </a:rPr>
              <a:t>Questions?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348928A7-E87B-4984-95FA-3C49F13C6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304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33333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0DB97851-68AE-4809-8F6B-325B8D84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30480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F2E9E4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Zilong Wang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F2E9E4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Georgia Institute of Technology</a:t>
            </a:r>
          </a:p>
          <a:p xmlns:a="http://schemas.openxmlformats.org/drawingml/2006/main">
            <a:pPr algn="l">
              <a:buNone/>
              <a:defRPr sz="1800" b="0">
                <a:solidFill>
                  <a:srgbClr val="F2E9E4"/>
                </a:solidFill>
              </a:defRPr>
            </a:pPr>
            <a:r>
              <a:rPr sz="1725" b="0">
                <a:solidFill>
                  <a:srgbClr val="FFFFFF"/>
                </a:solidFill>
              </a:rPr>
              <a:t>zwang937@gatech.edu</a:t>
            </a:r>
          </a:p>
        </p:txBody>
      </p:sp>
      <p:pic>
        <p:nvPicPr>
          <p:cNvPr id="10" name="Picture 8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d97b7b3a4043de"/>
          <a:stretch xmlns:a="http://schemas.openxmlformats.org/drawingml/2006/main"/>
        </p:blipFill>
        <p:spPr>
          <a:xfrm xmlns:a="http://schemas.openxmlformats.org/drawingml/2006/main">
            <a:off x="42673" y="5359791"/>
            <a:ext cx="2163045" cy="923485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B864C-EE11-411E-B6F2-729B65CDEE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4572000" cy="1666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Anchor to the target placebo arm.</a:t>
            </a:r>
          </a:p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Separate identified from transported claims.</a:t>
            </a:r>
          </a:p>
          <a:p xmlns:a="http://schemas.openxmlformats.org/drawingml/2006/main">
            <a:pPr algn="l">
              <a:defRPr sz="18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Evaluate decisions, not only error.</a:t>
            </a:r>
          </a:p>
        </p:txBody>
      </p:sp>
      <p:sp>
        <p:nvSpPr>
          <p:cNvPr id="12" name="timing-pill">
            <a:extLst xmlns:a="http://schemas.openxmlformats.org/drawingml/2006/main">
              <a:ext uri="{FF2B5EF4-FFF2-40B4-BE49-F238E27FC236}">
                <a16:creationId xmlns:a16="http://schemas.microsoft.com/office/drawing/2014/main" id="{39946BCA-5A82-4014-8FF9-726B90D1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5962650"/>
            <a:ext cx="1428750" cy="247650"/>
          </a:xfrm>
          <a:prstGeom xmlns:a="http://schemas.openxmlformats.org/drawingml/2006/main" prst="roundRect">
            <a:avLst>
              <a:gd name="adj" fmla="val 307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ED8D1"/>
            </a:solidFill>
            <a:prstDash val="solid"/>
          </a:ln>
        </p:spPr>
      </p:sp>
      <p:sp>
        <p:nvSpPr>
          <p:cNvPr id="13" name="timing-label">
            <a:extLst xmlns:a="http://schemas.openxmlformats.org/drawingml/2006/main">
              <a:ext uri="{FF2B5EF4-FFF2-40B4-BE49-F238E27FC236}">
                <a16:creationId xmlns:a16="http://schemas.microsoft.com/office/drawing/2014/main" id="{3F0AE9CB-14D5-46A4-9FD7-B682FB79F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6010275"/>
            <a:ext cx="1200150" cy="152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65605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5605C"/>
                </a:solidFill>
                <a:latin typeface="Aptos"/>
                <a:ea typeface="Aptos"/>
                <a:cs typeface="Aptos"/>
              </a:rPr>
              <a:t>13:46-15:00</a:t>
            </a:r>
          </a:p>
        </p:txBody>
      </p:sp>
    </p:spTree>
    <p:extLst>
      <p:ext uri="{BB962C8B-B14F-4D97-AF65-F5344CB8AC3E}">
        <p14:creationId xmlns:p14="http://schemas.microsoft.com/office/powerpoint/2010/main" val="1854527753"/>
      </p:ext>
    </p:extLst>
  </p:cSld>
  <p:transition dur="700">
    <p:fade/>
  </p:transition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2026-05-22T00:27:48.6750000Z</dcterms:created>
  <dcterms:modified xsi:type="dcterms:W3CDTF">2026-05-22T00:27:48.6750000Z</dcterms:modified>
</coreProperties>
</file>