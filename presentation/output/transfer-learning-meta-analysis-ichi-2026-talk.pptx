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01d14803a048fd" /><Relationship Type="http://schemas.openxmlformats.org/officeDocument/2006/relationships/extended-properties" Target="/docProps/app.xml" Id="R2e51eeb0c33b4179" /><Relationship Type="http://schemas.openxmlformats.org/officeDocument/2006/relationships/officeDocument" Target="/ppt/presentation.xml" Id="R1246c55e883d45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4868bed4954b21"/>
  </p:sldMasterIdLst>
  <p:notesMasterIdLst>
    <p:notesMasterId xmlns:r="http://schemas.openxmlformats.org/officeDocument/2006/relationships" r:id="R7bfcf21c2128479f"/>
  </p:notesMasterIdLst>
  <p:sldIdLst>
    <p:sldId xmlns:r="http://schemas.openxmlformats.org/officeDocument/2006/relationships" id="256" r:id="Rfdb910b9143f4de1"/>
    <p:sldId xmlns:r="http://schemas.openxmlformats.org/officeDocument/2006/relationships" id="257" r:id="R630ac54669834cc2"/>
    <p:sldId xmlns:r="http://schemas.openxmlformats.org/officeDocument/2006/relationships" id="258" r:id="R1f06c5cbcf9d41ce"/>
    <p:sldId xmlns:r="http://schemas.openxmlformats.org/officeDocument/2006/relationships" id="259" r:id="R1ee05e4b13c94e2b"/>
    <p:sldId xmlns:r="http://schemas.openxmlformats.org/officeDocument/2006/relationships" id="260" r:id="Rc5de09a761304c5b"/>
    <p:sldId xmlns:r="http://schemas.openxmlformats.org/officeDocument/2006/relationships" id="261" r:id="Rf2c98393b6124e42"/>
    <p:sldId xmlns:r="http://schemas.openxmlformats.org/officeDocument/2006/relationships" id="262" r:id="R3b0595253c434445"/>
    <p:sldId xmlns:r="http://schemas.openxmlformats.org/officeDocument/2006/relationships" id="263" r:id="Raddf8334b70b4751"/>
    <p:sldId xmlns:r="http://schemas.openxmlformats.org/officeDocument/2006/relationships" id="264" r:id="Re3adbc9bb2974e4e"/>
    <p:sldId xmlns:r="http://schemas.openxmlformats.org/officeDocument/2006/relationships" id="265" r:id="R107aecf8b017436d"/>
    <p:sldId xmlns:r="http://schemas.openxmlformats.org/officeDocument/2006/relationships" id="266" r:id="Rb4c3a53be8bd455a"/>
    <p:sldId xmlns:r="http://schemas.openxmlformats.org/officeDocument/2006/relationships" id="267" r:id="R99ac41ae16d9421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4868bed4954b21" /><Relationship Type="http://schemas.openxmlformats.org/officeDocument/2006/relationships/theme" Target="/ppt/theme/theme1.xml" Id="Raa1059d14dbd4b90" /><Relationship Type="http://schemas.openxmlformats.org/officeDocument/2006/relationships/notesMaster" Target="/ppt/notesMasters/notesMaster1.xml" Id="R7bfcf21c2128479f" /><Relationship Type="http://schemas.openxmlformats.org/officeDocument/2006/relationships/presProps" Target="/ppt/presProps.xml" Id="R4e622967411b4f2d" /><Relationship Type="http://schemas.openxmlformats.org/officeDocument/2006/relationships/viewProps" Target="/ppt/viewProps.xml" Id="R50c062763e9c41a1" /><Relationship Type="http://schemas.openxmlformats.org/officeDocument/2006/relationships/tableStyles" Target="/ppt/tableStyles.xml" Id="R72fcc1d251be4e56" /><Relationship Type="http://schemas.openxmlformats.org/officeDocument/2006/relationships/slide" Target="/ppt/slides/slide1.xml" Id="Rfdb910b9143f4de1" /><Relationship Type="http://schemas.openxmlformats.org/officeDocument/2006/relationships/slide" Target="/ppt/slides/slide2.xml" Id="R630ac54669834cc2" /><Relationship Type="http://schemas.openxmlformats.org/officeDocument/2006/relationships/slide" Target="/ppt/slides/slide3.xml" Id="R1f06c5cbcf9d41ce" /><Relationship Type="http://schemas.openxmlformats.org/officeDocument/2006/relationships/slide" Target="/ppt/slides/slide4.xml" Id="R1ee05e4b13c94e2b" /><Relationship Type="http://schemas.openxmlformats.org/officeDocument/2006/relationships/slide" Target="/ppt/slides/slide5.xml" Id="Rc5de09a761304c5b" /><Relationship Type="http://schemas.openxmlformats.org/officeDocument/2006/relationships/slide" Target="/ppt/slides/slide6.xml" Id="Rf2c98393b6124e42" /><Relationship Type="http://schemas.openxmlformats.org/officeDocument/2006/relationships/slide" Target="/ppt/slides/slide7.xml" Id="R3b0595253c434445" /><Relationship Type="http://schemas.openxmlformats.org/officeDocument/2006/relationships/slide" Target="/ppt/slides/slide8.xml" Id="Raddf8334b70b4751" /><Relationship Type="http://schemas.openxmlformats.org/officeDocument/2006/relationships/slide" Target="/ppt/slides/slide9.xml" Id="Re3adbc9bb2974e4e" /><Relationship Type="http://schemas.openxmlformats.org/officeDocument/2006/relationships/slide" Target="/ppt/slides/slide10.xml" Id="R107aecf8b017436d" /><Relationship Type="http://schemas.openxmlformats.org/officeDocument/2006/relationships/slide" Target="/ppt/slides/slide11.xml" Id="Rb4c3a53be8bd455a" /><Relationship Type="http://schemas.openxmlformats.org/officeDocument/2006/relationships/slide" Target="/ppt/slides/slide12.xml" Id="R99ac41ae16d942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e4340dc35e046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338309347d4de0" /><Relationship Type="http://schemas.openxmlformats.org/officeDocument/2006/relationships/notesMaster" Target="/ppt/notesMasters/notesMaster1.xml" Id="Rca7f4f8e1e344b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eec8611bba4ba6" /><Relationship Type="http://schemas.openxmlformats.org/officeDocument/2006/relationships/notesMaster" Target="/ppt/notesMasters/notesMaster1.xml" Id="Rd31159c6b4d34e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2b0586d15004ddd" /><Relationship Type="http://schemas.openxmlformats.org/officeDocument/2006/relationships/notesMaster" Target="/ppt/notesMasters/notesMaster1.xml" Id="R5853b6099a6d4a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d340ad6fb474a23" /><Relationship Type="http://schemas.openxmlformats.org/officeDocument/2006/relationships/notesMaster" Target="/ppt/notesMasters/notesMaster1.xml" Id="R47ac3d95e31d4a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3b9b0ca9c104f70" /><Relationship Type="http://schemas.openxmlformats.org/officeDocument/2006/relationships/notesMaster" Target="/ppt/notesMasters/notesMaster1.xml" Id="Rd062f31bfe71433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5440f1c2924364" /><Relationship Type="http://schemas.openxmlformats.org/officeDocument/2006/relationships/notesMaster" Target="/ppt/notesMasters/notesMaster1.xml" Id="R54be57de218b4d2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1a74f2986c840a9" /><Relationship Type="http://schemas.openxmlformats.org/officeDocument/2006/relationships/notesMaster" Target="/ppt/notesMasters/notesMaster1.xml" Id="Rb43c8d1e01b144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1ff1c264f094137" /><Relationship Type="http://schemas.openxmlformats.org/officeDocument/2006/relationships/notesMaster" Target="/ppt/notesMasters/notesMaster1.xml" Id="R7bd435e73978409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1b593451af4ada" /><Relationship Type="http://schemas.openxmlformats.org/officeDocument/2006/relationships/notesMaster" Target="/ppt/notesMasters/notesMaster1.xml" Id="R4504804524f545b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f8d410fb8614c7b" /><Relationship Type="http://schemas.openxmlformats.org/officeDocument/2006/relationships/notesMaster" Target="/ppt/notesMasters/notesMaster1.xml" Id="Rb2baca94077c4f1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7b862bd0a46472e" /><Relationship Type="http://schemas.openxmlformats.org/officeDocument/2006/relationships/notesMaster" Target="/ppt/notesMasters/notesMaster1.xml" Id="Rae770f3dab324e8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5b5ed93c7394e04" /><Relationship Type="http://schemas.openxmlformats.org/officeDocument/2006/relationships/notesMaster" Target="/ppt/notesMasters/notesMaster1.xml" Id="Rd91ee588004d4b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5fad1422d8491a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 1">
            <a:extLst xmlns:a="http://schemas.openxmlformats.org/drawingml/2006/main">
              <a:ext uri="{FF2B5EF4-FFF2-40B4-BE49-F238E27FC236}">
                <a16:creationId xmlns:a16="http://schemas.microsoft.com/office/drawing/2014/main" id="{C375C9C4-A553-40BE-9547-A301280E7032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B43CAE6E-4C38-4D1E-8730-EFF1517FB48A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85DC9AD-018D-40CA-A6D8-34E504BDE8FA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CD502A0-457D-42A7-B3A7-99A4B0E106C1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4C64DB-28BF-4CE3-AFC9-2D673C483414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5f6d78e11b94984" /><Relationship Type="http://schemas.openxmlformats.org/officeDocument/2006/relationships/slideLayout" Target="/ppt/slideLayouts/slideLayout2.xml" Id="Ref8733c4b76046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ADE5BD-3AAD-4483-AF95-2FC2200A13DD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8733c4b76046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2c5435f5fb4f99" /><Relationship Type="http://schemas.openxmlformats.org/officeDocument/2006/relationships/image" Target="/ppt/media/image.png" Id="Red742a7c317b4ea2" /><Relationship Type="http://schemas.openxmlformats.org/officeDocument/2006/relationships/notesSlide" Target="/ppt/notesSlides/notesSlide1.xml" Id="Rb6104dc1953b42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b14a1a8c6a40f1" /><Relationship Type="http://schemas.openxmlformats.org/officeDocument/2006/relationships/image" Target="/ppt/media/image.png" Id="R573bbd2558cc4d48" /><Relationship Type="http://schemas.openxmlformats.org/officeDocument/2006/relationships/image" Target="/ppt/media/image2.png" Id="R62f66acf6b534cc7" /><Relationship Type="http://schemas.openxmlformats.org/officeDocument/2006/relationships/notesSlide" Target="/ppt/notesSlides/notesSlide2.xml" Id="R6726934664a945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36a24afab64e07" /><Relationship Type="http://schemas.openxmlformats.org/officeDocument/2006/relationships/image" Target="/ppt/media/image.png" Id="Ra8ced316a1904973" /><Relationship Type="http://schemas.openxmlformats.org/officeDocument/2006/relationships/notesSlide" Target="/ppt/notesSlides/notesSlide3.xml" Id="Re9b275091b374c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aa3fd94b8e4482" /><Relationship Type="http://schemas.openxmlformats.org/officeDocument/2006/relationships/image" Target="/ppt/media/image.png" Id="R52e006911e2849e1" /><Relationship Type="http://schemas.openxmlformats.org/officeDocument/2006/relationships/image" Target="/ppt/media/image3.png" Id="Rab92e8a062c347ff" /><Relationship Type="http://schemas.openxmlformats.org/officeDocument/2006/relationships/notesSlide" Target="/ppt/notesSlides/notesSlide4.xml" Id="Rfa7074c3c8b146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21a9326e6546ed" /><Relationship Type="http://schemas.openxmlformats.org/officeDocument/2006/relationships/image" Target="/ppt/media/image.png" Id="R016f62d1876644d7" /><Relationship Type="http://schemas.openxmlformats.org/officeDocument/2006/relationships/image" Target="/ppt/media/image4.png" Id="R71068e4e1423462f" /><Relationship Type="http://schemas.openxmlformats.org/officeDocument/2006/relationships/notesSlide" Target="/ppt/notesSlides/notesSlide5.xml" Id="R3f8383579a004e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a79ce05fec418c" /><Relationship Type="http://schemas.openxmlformats.org/officeDocument/2006/relationships/image" Target="/ppt/media/image.png" Id="R77e1475930f541e7" /><Relationship Type="http://schemas.openxmlformats.org/officeDocument/2006/relationships/notesSlide" Target="/ppt/notesSlides/notesSlide6.xml" Id="R27a05225cded42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46a07a49a749c0" /><Relationship Type="http://schemas.openxmlformats.org/officeDocument/2006/relationships/image" Target="/ppt/media/image.png" Id="Re1e92347ff6e4ba8" /><Relationship Type="http://schemas.openxmlformats.org/officeDocument/2006/relationships/notesSlide" Target="/ppt/notesSlides/notesSlide7.xml" Id="Rab55cab6fb09432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47a8fda3234a0f" /><Relationship Type="http://schemas.openxmlformats.org/officeDocument/2006/relationships/image" Target="/ppt/media/image.png" Id="R9b3b66f9bc4c4f90" /><Relationship Type="http://schemas.openxmlformats.org/officeDocument/2006/relationships/notesSlide" Target="/ppt/notesSlides/notesSlide8.xml" Id="R24aa82cdb186445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8391807a99471d" /><Relationship Type="http://schemas.openxmlformats.org/officeDocument/2006/relationships/image" Target="/ppt/media/image.png" Id="R6b16ad06ef5f418e" /><Relationship Type="http://schemas.openxmlformats.org/officeDocument/2006/relationships/notesSlide" Target="/ppt/notesSlides/notesSlide9.xml" Id="R6145f5018605400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5a4ebec1884ed0" /><Relationship Type="http://schemas.openxmlformats.org/officeDocument/2006/relationships/image" Target="/ppt/media/image.png" Id="Rc4101388e36a42e3" /><Relationship Type="http://schemas.openxmlformats.org/officeDocument/2006/relationships/notesSlide" Target="/ppt/notesSlides/notesSlide10.xml" Id="Rd7409a843f5c4f7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00844de2bd41e4" /><Relationship Type="http://schemas.openxmlformats.org/officeDocument/2006/relationships/image" Target="/ppt/media/image.png" Id="R1c4ed82f1ddd4a8d" /><Relationship Type="http://schemas.openxmlformats.org/officeDocument/2006/relationships/notesSlide" Target="/ppt/notesSlides/notesSlide11.xml" Id="R3234f9f5469442c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c298a25c5048fd" /><Relationship Type="http://schemas.openxmlformats.org/officeDocument/2006/relationships/image" Target="/ppt/media/image.jpeg" Id="R09dcc1356abd4d25" /><Relationship Type="http://schemas.openxmlformats.org/officeDocument/2006/relationships/image" Target="/ppt/media/image.png" Id="R979c82ec1c224ba4" /><Relationship Type="http://schemas.openxmlformats.org/officeDocument/2006/relationships/notesSlide" Target="/ppt/notesSlides/notesSlide12.xml" Id="Rd3f821654f604f2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D76166F-C808-4328-8187-F1F7F5CA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D54FDFE-C184-42F6-AC19-DF1F460F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0"/>
            <a:ext cx="381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742a7c317b4ea2"/>
          <a:stretch xmlns:a="http://schemas.openxmlformats.org/drawingml/2006/main"/>
        </p:blipFill>
        <p:spPr>
          <a:xfrm xmlns:a="http://schemas.openxmlformats.org/drawingml/2006/main">
            <a:off x="685800" y="279204"/>
            <a:ext cx="2855686" cy="1219200"/>
          </a:xfrm>
          <a:prstGeom xmlns:a="http://schemas.openxmlformats.org/drawingml/2006/main" prst="rect">
            <a:avLst/>
          </a:prstGeom>
        </p:spPr>
      </p:pic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BE89073-9A3C-4DD8-9B74-CFF2D792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973" y="659608"/>
            <a:ext cx="3143250" cy="529656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847468F-3A20-4BC7-9276-AC4AD9D9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973" y="635795"/>
            <a:ext cx="31432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0772F60-4B70-457F-9292-C9888774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473" y="830461"/>
            <a:ext cx="2762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A0019"/>
                </a:solidFill>
              </a:defRPr>
            </a:pPr>
            <a:r>
              <a:rPr sz="1350" b="1">
                <a:solidFill>
                  <a:srgbClr val="8A0020"/>
                </a:solidFill>
              </a:rPr>
              <a:t>Research Paper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39EE356-11AA-4829-BBCF-B07F77E3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67450"/>
            <a:ext cx="2762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CAD200FF-8B8D-6E07-C5DC-971406A54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0719"/>
            <a:ext cx="10820400" cy="3219109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4810A53-27E5-BCD9-7B12-3D43FBE5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0720"/>
            <a:ext cx="10820400" cy="147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A0F1714-C145-9BFE-18FA-24773D76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07470"/>
            <a:ext cx="6000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Transfer Learning for Meta-analysis</a:t>
            </a:r>
          </a:p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Under Covariate Shift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4F8E6AA-74BC-BBA9-2F60-332FAB6D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69470"/>
            <a:ext cx="590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7EDE7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Placebo-anchored proxy-gold learning for target-specific treatment effects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8524F25-E193-8A54-D54A-82EAB49C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83820"/>
            <a:ext cx="582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FCC7579-E1BA-9A9D-E8E0-664017E5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55270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Zilong Wang, Ali Abdeen, Turgay Ayer | Georgia Institute of Technology</a:t>
            </a:r>
          </a:p>
        </p:txBody>
      </p:sp>
      <p:sp>
        <p:nvSpPr>
          <p:cNvPr id="19" name="timing-pill">
            <a:extLst xmlns:a="http://schemas.openxmlformats.org/drawingml/2006/main">
              <a:ext uri="{FF2B5EF4-FFF2-40B4-BE49-F238E27FC236}">
                <a16:creationId xmlns:a16="http://schemas.microsoft.com/office/drawing/2014/main" id="{BADA5551-6DAA-4A8C-8041-42A565D2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0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83C3FF14-CE86-4CCE-AFE8-27EA83B1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0:00-0:30</a:t>
            </a:r>
          </a:p>
        </p:txBody>
      </p:sp>
    </p:spTree>
    <p:extLst>
      <p:ext uri="{BB962C8B-B14F-4D97-AF65-F5344CB8AC3E}">
        <p14:creationId xmlns:p14="http://schemas.microsoft.com/office/powerpoint/2010/main" val="3851193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FCC2B63-4C3E-4680-A992-D125ECE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70F4451-5B25-4A4C-85E8-DB74382D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E032A8-31B5-483A-B8B8-AB5D7A78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75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Clinical trial evidence rarely lands in the target population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EADD4DC-0A49-4FAD-9192-E7257168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C77E3E1-B4E8-4004-8690-BB8DF06C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3EAC61-E65A-4981-A5CD-715DC02A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pic>
        <p:nvPicPr>
          <p:cNvPr id="1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3bbd2558cc4d48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15" name="timing-pill">
            <a:extLst xmlns:a="http://schemas.openxmlformats.org/drawingml/2006/main">
              <a:ext uri="{FF2B5EF4-FFF2-40B4-BE49-F238E27FC236}">
                <a16:creationId xmlns:a16="http://schemas.microsoft.com/office/drawing/2014/main" id="{D008B094-50DC-499E-A33F-3F41CC1D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6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FDD6375A-C6BB-4645-B73E-195A6BF7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0:31-1:45</a:t>
            </a:r>
          </a:p>
        </p:txBody>
      </p:sp>
      <p:sp>
        <p:nvSpPr>
          <p:cNvPr id="17" name="claim">
            <a:extLst xmlns:a="http://schemas.openxmlformats.org/drawingml/2006/main">
              <a:ext uri="{FF2B5EF4-FFF2-40B4-BE49-F238E27FC236}">
                <a16:creationId xmlns:a16="http://schemas.microsoft.com/office/drawing/2014/main" id="{D38267DC-1909-40D8-874B-6B6B55BB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decision target is patient-level and local; the available evidence is multi-site and shifted.</a:t>
            </a:r>
          </a:p>
        </p:txBody>
      </p:sp>
      <p:sp>
        <p:nvSpPr>
          <p:cNvPr id="18" name="card">
            <a:extLst xmlns:a="http://schemas.openxmlformats.org/drawingml/2006/main">
              <a:ext uri="{FF2B5EF4-FFF2-40B4-BE49-F238E27FC236}">
                <a16:creationId xmlns:a16="http://schemas.microsoft.com/office/drawing/2014/main" id="{43921A30-1C17-4FDD-8BD4-A552D818F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575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9" name="card-accent">
            <a:extLst xmlns:a="http://schemas.openxmlformats.org/drawingml/2006/main">
              <a:ext uri="{FF2B5EF4-FFF2-40B4-BE49-F238E27FC236}">
                <a16:creationId xmlns:a16="http://schemas.microsoft.com/office/drawing/2014/main" id="{FB4F6511-57F7-415A-B495-7967D31FA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575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card-eyebrow">
            <a:extLst xmlns:a="http://schemas.openxmlformats.org/drawingml/2006/main">
              <a:ext uri="{FF2B5EF4-FFF2-40B4-BE49-F238E27FC236}">
                <a16:creationId xmlns:a16="http://schemas.microsoft.com/office/drawing/2014/main" id="{17B354AA-B590-4156-A797-C95A7A9E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2876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1" name="card-title">
            <a:extLst xmlns:a="http://schemas.openxmlformats.org/drawingml/2006/main">
              <a:ext uri="{FF2B5EF4-FFF2-40B4-BE49-F238E27FC236}">
                <a16:creationId xmlns:a16="http://schemas.microsoft.com/office/drawing/2014/main" id="{605D89B2-ECC7-4B38-9913-C9F0E149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2876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Different enrolled patients</a:t>
            </a:r>
          </a:p>
        </p:txBody>
      </p:sp>
      <p:sp>
        <p:nvSpPr>
          <p:cNvPr id="22" name="card-body">
            <a:extLst xmlns:a="http://schemas.openxmlformats.org/drawingml/2006/main">
              <a:ext uri="{FF2B5EF4-FFF2-40B4-BE49-F238E27FC236}">
                <a16:creationId xmlns:a16="http://schemas.microsoft.com/office/drawing/2014/main" id="{64B97A53-135B-402E-9861-880D1AB6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28765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RCT sites can differ by eligibility, geography, baseline risk, and case mix. Pooling can estimate the wrong population.</a:t>
            </a:r>
          </a:p>
        </p:txBody>
      </p:sp>
      <p:sp>
        <p:nvSpPr>
          <p:cNvPr id="23" name="card">
            <a:extLst xmlns:a="http://schemas.openxmlformats.org/drawingml/2006/main">
              <a:ext uri="{FF2B5EF4-FFF2-40B4-BE49-F238E27FC236}">
                <a16:creationId xmlns:a16="http://schemas.microsoft.com/office/drawing/2014/main" id="{AEB65A5B-E317-4E45-9A99-4A935F17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962150"/>
            <a:ext cx="32575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4" name="card-accent">
            <a:extLst xmlns:a="http://schemas.openxmlformats.org/drawingml/2006/main">
              <a:ext uri="{FF2B5EF4-FFF2-40B4-BE49-F238E27FC236}">
                <a16:creationId xmlns:a16="http://schemas.microsoft.com/office/drawing/2014/main" id="{80DA6E1B-5F5B-4C63-9113-1DB084CD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962150"/>
            <a:ext cx="32575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card-eyebrow">
            <a:extLst xmlns:a="http://schemas.openxmlformats.org/drawingml/2006/main">
              <a:ext uri="{FF2B5EF4-FFF2-40B4-BE49-F238E27FC236}">
                <a16:creationId xmlns:a16="http://schemas.microsoft.com/office/drawing/2014/main" id="{01B9DD71-3EB9-42B4-A2D6-6E0F5114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90750"/>
            <a:ext cx="2876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6" name="card-title">
            <a:extLst xmlns:a="http://schemas.openxmlformats.org/drawingml/2006/main">
              <a:ext uri="{FF2B5EF4-FFF2-40B4-BE49-F238E27FC236}">
                <a16:creationId xmlns:a16="http://schemas.microsoft.com/office/drawing/2014/main" id="{D95A7160-E1C9-43B5-9CAF-BC5F7C78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95550"/>
            <a:ext cx="2876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Different baseline risk</a:t>
            </a:r>
          </a:p>
        </p:txBody>
      </p:sp>
      <p:sp>
        <p:nvSpPr>
          <p:cNvPr id="27" name="card-body">
            <a:extLst xmlns:a="http://schemas.openxmlformats.org/drawingml/2006/main">
              <a:ext uri="{FF2B5EF4-FFF2-40B4-BE49-F238E27FC236}">
                <a16:creationId xmlns:a16="http://schemas.microsoft.com/office/drawing/2014/main" id="{FC1083FE-4A08-4BC7-B63A-B3FF9AEC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857500"/>
            <a:ext cx="28765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A shared comparator is not automatically exchangeable once covariates and residual risk drift across studies.</a:t>
            </a:r>
          </a:p>
        </p:txBody>
      </p:sp>
      <p:sp>
        <p:nvSpPr>
          <p:cNvPr id="28" name="card">
            <a:extLst xmlns:a="http://schemas.openxmlformats.org/drawingml/2006/main">
              <a:ext uri="{FF2B5EF4-FFF2-40B4-BE49-F238E27FC236}">
                <a16:creationId xmlns:a16="http://schemas.microsoft.com/office/drawing/2014/main" id="{C0784F68-4FCD-4953-8F6C-AF493BBC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62150"/>
            <a:ext cx="32575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9" name="card-accent">
            <a:extLst xmlns:a="http://schemas.openxmlformats.org/drawingml/2006/main">
              <a:ext uri="{FF2B5EF4-FFF2-40B4-BE49-F238E27FC236}">
                <a16:creationId xmlns:a16="http://schemas.microsoft.com/office/drawing/2014/main" id="{171953BC-35AC-45D7-ACA5-67D1FB4F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62150"/>
            <a:ext cx="32575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card-eyebrow">
            <a:extLst xmlns:a="http://schemas.openxmlformats.org/drawingml/2006/main">
              <a:ext uri="{FF2B5EF4-FFF2-40B4-BE49-F238E27FC236}">
                <a16:creationId xmlns:a16="http://schemas.microsoft.com/office/drawing/2014/main" id="{A4F53833-4D8B-4FCA-A060-12E4A891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90750"/>
            <a:ext cx="2876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1" name="card-title">
            <a:extLst xmlns:a="http://schemas.openxmlformats.org/drawingml/2006/main">
              <a:ext uri="{FF2B5EF4-FFF2-40B4-BE49-F238E27FC236}">
                <a16:creationId xmlns:a16="http://schemas.microsoft.com/office/drawing/2014/main" id="{110E5198-5BE3-461A-A5F6-25C50B07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95550"/>
            <a:ext cx="2876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Patient-level decisions</a:t>
            </a:r>
          </a:p>
        </p:txBody>
      </p:sp>
      <p:sp>
        <p:nvSpPr>
          <p:cNvPr id="32" name="card-body">
            <a:extLst xmlns:a="http://schemas.openxmlformats.org/drawingml/2006/main">
              <a:ext uri="{FF2B5EF4-FFF2-40B4-BE49-F238E27FC236}">
                <a16:creationId xmlns:a16="http://schemas.microsoft.com/office/drawing/2014/main" id="{2F4BBA55-F87E-4D1D-815C-D85FD4F4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28765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Decision makers need CATEs, targeting, regret, and calibration - not only a network-wide average effect.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f66acf6b534cc7"/>
          <a:stretch xmlns:a="http://schemas.openxmlformats.org/drawingml/2006/main"/>
        </p:blipFill>
        <p:spPr>
          <a:xfrm xmlns:a="http://schemas.openxmlformats.org/drawingml/2006/main">
            <a:off x="3535280" y="3981450"/>
            <a:ext cx="4073689" cy="1828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278946"/>
      </p:ext>
    </p:extLst>
  </p:cSld>
  <p:transition dur="700">
    <p:fade/>
  </p:transition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FCC2B63-4C3E-4680-A992-D125ECE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70F4451-5B25-4A4C-85E8-DB74382D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E032A8-31B5-483A-B8B8-AB5D7A78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75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The gap: standard transport needs conditions the target lacks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EADD4DC-0A49-4FAD-9192-E7257168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C77E3E1-B4E8-4004-8690-BB8DF06C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3EAC61-E65A-4981-A5CD-715DC02A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pic>
        <p:nvPicPr>
          <p:cNvPr id="1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ced316a1904973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15" name="timing-pill">
            <a:extLst xmlns:a="http://schemas.openxmlformats.org/drawingml/2006/main">
              <a:ext uri="{FF2B5EF4-FFF2-40B4-BE49-F238E27FC236}">
                <a16:creationId xmlns:a16="http://schemas.microsoft.com/office/drawing/2014/main" id="{E0C3C552-4AE8-4209-A205-D27F6C36C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6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DB28CFFD-7553-422C-8DE1-C1642E78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1:45-3:00</a:t>
            </a:r>
          </a:p>
        </p:txBody>
      </p:sp>
      <p:sp>
        <p:nvSpPr>
          <p:cNvPr id="17" name="claim">
            <a:extLst xmlns:a="http://schemas.openxmlformats.org/drawingml/2006/main">
              <a:ext uri="{FF2B5EF4-FFF2-40B4-BE49-F238E27FC236}">
                <a16:creationId xmlns:a16="http://schemas.microsoft.com/office/drawing/2014/main" id="{7217CEBF-5522-4BB3-8A8A-C7EF4D09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hard case is weakly connected or disconnected target evidence under covariate shift.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860A82-977F-489B-8A09-40DAFE2E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3867150"/>
          </a:xfrm>
          <a:prstGeom xmlns:a="http://schemas.openxmlformats.org/drawingml/2006/main" prst="roundRect">
            <a:avLst>
              <a:gd name="adj" fmla="val 1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8DBBC7-FFCE-463E-AB64-D0624AD0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875385-857D-4B41-AE54-3B4D6E28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Common assumption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8F7EDD-69F5-401C-A72A-E941A0B9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0764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Failure mode in this talk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BF5EC1-2650-41A2-ACDA-CDC3D9B1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717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Network connectivity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4377C4-75A9-4BEE-A75B-2D87F72A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95600"/>
            <a:ext cx="3810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Target trial connects through a shared comparator arm.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EF9241-4E15-4F33-AE8A-0C799B66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5717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Disconnected target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8609EB-0C28-4F43-9293-82615D40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895600"/>
            <a:ext cx="4476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Target may have placebo only for the treatment of interest.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8CE971-BE36-42F3-B3C3-0336AF71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90800"/>
            <a:ext cx="19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B53E28-AE77-4E1B-8CCB-CFEA5232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Comparator exchangeability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1EFA96-1AA7-4861-8B0C-8B7C7A48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86200"/>
            <a:ext cx="3810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Placebo arms are comparable after measured adjustment.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3B72CF-F53A-4435-9436-F002D9E8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5623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Residual baseline drift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413E76-EE1A-4672-910A-15C440CC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886200"/>
            <a:ext cx="4476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Measured shift plus site-specific risk makes direct transfer biased.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3E73DC-EB4C-4705-B7C6-647EE295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581400"/>
            <a:ext cx="19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D9FC23-EFA7-41FC-9096-31563A0C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529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Average effect is enough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7F3336-EDD5-428D-A406-13B78021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76800"/>
            <a:ext cx="3810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NMA or transport reports a marginal target estimand.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C70653-6F6F-4A37-8DC9-A6AD051E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5529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Individualized decisions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D1E687F-07F2-44D3-9CCC-5B074287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876800"/>
            <a:ext cx="4476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The task is calibrated patient-level CATE and targeting.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CD6F42-6D90-4919-ADCD-94D4DB63F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72000"/>
            <a:ext cx="19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782789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93D7C4B-FC85-4E38-A9B9-7AA6EEB2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BE94C10-56B5-40F2-A6D5-A98DAC74D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e006911e2849e1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BAA01F-50BC-48E8-AD04-6C581812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75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Core idea: target placebo is the gold calibration signal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56D09CC-0746-455B-AB3D-E18655AE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FC07648-E8B7-455B-9D4F-5250ADAD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C713485-F834-4B16-80AE-204C3F20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6127FA9-3303-4B98-A8D9-F2FF3886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E6CCA0C-29B1-47D9-AFEE-190ABCCE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7B21C87-CAC4-4164-8C5C-6F7C3B65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01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0D196A9-B415-46E3-9361-F8B69849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Data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6539635-A17C-45AA-BA83-E3A89439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Describe the cohort, records, devices, or multimodal sources.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4A757F2E-DE43-4AD0-B514-A25D2815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8D4A413D-8FE5-40F9-A86A-EB9C5828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E422E56-223C-4574-905D-41A3A788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FA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2605098D-18A7-4AAA-AD1E-F7A3DC5A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02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FF75E07-E430-4EA6-9D33-781F5701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Method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470A79E-9A4F-4BB2-9D59-35D29E01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Summarize modeling, evaluation, or intervention design.</a:t>
            </a:r>
          </a:p>
        </p:txBody>
      </p:sp>
      <p:sp>
        <p:nvSpPr>
          <p:cNvPr id="21" name="Right Arrow 20">
            <a:extLst xmlns:a="http://schemas.openxmlformats.org/drawingml/2006/main">
              <a:ext uri="{FF2B5EF4-FFF2-40B4-BE49-F238E27FC236}">
                <a16:creationId xmlns:a16="http://schemas.microsoft.com/office/drawing/2014/main" id="{C0A0FEF9-0B0E-4ABD-BDB3-4D551D9A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820D8B46-5790-4952-AAD4-31DEBEA5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D2AA4B5C-1DB7-4987-B47B-BEE70CE7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A2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9532A85-6EC4-43BF-A133-30647930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03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8C8BEEB-80C0-4D60-8AF1-B9D70A6D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Validation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CF859E99-E762-4417-9F81-4D148CB0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Explain benchmarks, comparison groups, or review procedures.</a:t>
            </a:r>
          </a:p>
        </p:txBody>
      </p:sp>
      <p:sp>
        <p:nvSpPr>
          <p:cNvPr id="27" name="Right Arrow 26">
            <a:extLst xmlns:a="http://schemas.openxmlformats.org/drawingml/2006/main">
              <a:ext uri="{FF2B5EF4-FFF2-40B4-BE49-F238E27FC236}">
                <a16:creationId xmlns:a16="http://schemas.microsoft.com/office/drawing/2014/main" id="{547E1AC7-8448-4E62-984D-B043DFBC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CC1845AB-F754-4205-964A-F13570CA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F55949CC-D334-4E4A-A505-C1064068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FA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FD8AC435-DCB9-4AA7-86AA-9DE31760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04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57347287-1C79-4654-AB74-9220487C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Impact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7877CA81-FD6B-4632-8B44-83095EFF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Connect the workflow to outcomes, deployment, or next steps.</a:t>
            </a:r>
          </a:p>
        </p:txBody>
      </p:sp>
      <p:sp>
        <p:nvSpPr>
          <p:cNvPr id="34" name="timing-pill">
            <a:extLst xmlns:a="http://schemas.openxmlformats.org/drawingml/2006/main">
              <a:ext uri="{FF2B5EF4-FFF2-40B4-BE49-F238E27FC236}">
                <a16:creationId xmlns:a16="http://schemas.microsoft.com/office/drawing/2014/main" id="{2F93C3C6-37D9-4E25-B7D6-D0AF1A63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35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23E8E356-9B86-4D48-AFFB-3B36F153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3:00-4:15</a:t>
            </a:r>
          </a:p>
        </p:txBody>
      </p:sp>
      <p:sp>
        <p:nvSpPr>
          <p:cNvPr id="36" name="claim">
            <a:extLst xmlns:a="http://schemas.openxmlformats.org/drawingml/2006/main">
              <a:ext uri="{FF2B5EF4-FFF2-40B4-BE49-F238E27FC236}">
                <a16:creationId xmlns:a16="http://schemas.microsoft.com/office/drawing/2014/main" id="{F4966C5C-0B4D-4A9D-959F-6F83FB87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Source data is abundant but miscalibrated for the target; target placebo is scarce but perfectly calibrated — sparse correction bridges the two.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2e8a062c347ff"/>
          <a:stretch xmlns:a="http://schemas.openxmlformats.org/drawingml/2006/main"/>
        </p:blipFill>
        <p:spPr>
          <a:xfrm xmlns:a="http://schemas.openxmlformats.org/drawingml/2006/main">
            <a:off x="685800" y="2265353"/>
            <a:ext cx="10820400" cy="366079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503466"/>
      </p:ext>
    </p:extLst>
  </p:cSld>
  <p:transition dur="500">
    <p:cover dir="r"/>
  </p:transition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93D7C4B-FC85-4E38-A9B9-7AA6EEB2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BE94C10-56B5-40F2-A6D5-A98DAC74D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6f62d1876644d7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BAA01F-50BC-48E8-AD04-6C581812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75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Estimator pipeline: anchor first, orthogonalize second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56D09CC-0746-455B-AB3D-E18655AE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FC07648-E8B7-455B-9D4F-5250ADAD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C713485-F834-4B16-80AE-204C3F20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6127FA9-3303-4B98-A8D9-F2FF3886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E6CCA0C-29B1-47D9-AFEE-190ABCCE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7B21C87-CAC4-4164-8C5C-6F7C3B65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01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0D196A9-B415-46E3-9361-F8B69849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Fit source models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6539635-A17C-45AA-BA83-E3A89439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Learn mu0 and mu1 from source IPD; randomized propensities are known.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4A757F2E-DE43-4AD0-B514-A25D2815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8D4A413D-8FE5-40F9-A86A-EB9C5828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E422E56-223C-4574-905D-41A3A788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FA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2605098D-18A7-4AAA-AD1E-F7A3DC5A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02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FF75E07-E430-4EA6-9D33-781F5701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Anchor baseline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470A79E-9A4F-4BB2-9D59-35D29E01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Use target placebo gold labels to correct target baseline risk.</a:t>
            </a:r>
          </a:p>
        </p:txBody>
      </p:sp>
      <p:sp>
        <p:nvSpPr>
          <p:cNvPr id="21" name="Right Arrow 20">
            <a:extLst xmlns:a="http://schemas.openxmlformats.org/drawingml/2006/main">
              <a:ext uri="{FF2B5EF4-FFF2-40B4-BE49-F238E27FC236}">
                <a16:creationId xmlns:a16="http://schemas.microsoft.com/office/drawing/2014/main" id="{C0A0FEF9-0B0E-4ABD-BDB3-4D551D9A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820D8B46-5790-4952-AAD4-31DEBEA5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D2AA4B5C-1DB7-4987-B47B-BEE70CE7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A2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9532A85-6EC4-43BF-A133-30647930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03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8C8BEEB-80C0-4D60-8AF1-B9D70A6D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425" b="1">
                <a:solidFill>
                  <a:srgbClr val="231F20"/>
                </a:solidFill>
              </a:rPr>
              <a:t>Build pseudo-outcomes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CF859E99-E762-4417-9F81-4D148CB0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Form DR pseudo-outcomes with cross-fitting when target treated data exist.</a:t>
            </a:r>
          </a:p>
        </p:txBody>
      </p:sp>
      <p:sp>
        <p:nvSpPr>
          <p:cNvPr id="27" name="Right Arrow 26">
            <a:extLst xmlns:a="http://schemas.openxmlformats.org/drawingml/2006/main">
              <a:ext uri="{FF2B5EF4-FFF2-40B4-BE49-F238E27FC236}">
                <a16:creationId xmlns:a16="http://schemas.microsoft.com/office/drawing/2014/main" id="{547E1AC7-8448-4E62-984D-B043DFBC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CC1845AB-F754-4205-964A-F13570CA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F55949CC-D334-4E4A-A505-C1064068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FA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FD8AC435-DCB9-4AA7-86AA-9DE31760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04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57347287-1C79-4654-AB74-9220487C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Estimate CATE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7877CA81-FD6B-4632-8B44-83095EFF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Predict tau(x), evaluate ranking, calibration, and treatment policy regret.</a:t>
            </a:r>
          </a:p>
        </p:txBody>
      </p:sp>
      <p:sp>
        <p:nvSpPr>
          <p:cNvPr id="34" name="timing-pill">
            <a:extLst xmlns:a="http://schemas.openxmlformats.org/drawingml/2006/main">
              <a:ext uri="{FF2B5EF4-FFF2-40B4-BE49-F238E27FC236}">
                <a16:creationId xmlns:a16="http://schemas.microsoft.com/office/drawing/2014/main" id="{22A9F6FB-E6CA-409B-9918-D3191E39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35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4F0A0DBD-7CFF-4C28-92C9-5DEA92A2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4:15-6:00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068e4e1423462f"/>
          <a:stretch xmlns:a="http://schemas.openxmlformats.org/drawingml/2006/main"/>
        </p:blipFill>
        <p:spPr>
          <a:xfrm xmlns:a="http://schemas.openxmlformats.org/drawingml/2006/main">
            <a:off x="685800" y="1927819"/>
            <a:ext cx="10820400" cy="35738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5034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9C3666D-B399-484F-8135-C352311A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E55FE13-F112-448E-A0CB-8884909C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e1475930f541e7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82FA3AB-8B01-404F-8DE1-FEB6FCBC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99" y="438150"/>
            <a:ext cx="8992773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8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Two target regimes, two interpretations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0562148-2D2A-4781-86FB-92725A9C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88E6346-D434-49F4-AAED-27E72584D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6B9F958-4EBA-412D-A5C4-1CA27CE2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DFF93E5-C50D-4A9F-B407-10851898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3909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1CA12CE-1AEC-4A19-B420-C6E03A63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3909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1840215-0C0B-4BC6-AE8B-C6447E00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47850"/>
            <a:ext cx="3009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A0019"/>
                </a:solidFill>
              </a:defRPr>
            </a:pPr>
            <a:r>
              <a:rPr sz="1425" b="1">
                <a:solidFill>
                  <a:srgbClr val="8A0020"/>
                </a:solidFill>
              </a:rPr>
              <a:t>Connected target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F9CECB2-746E-41FB-923C-37C2B725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28850"/>
            <a:ext cx="30099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65605C"/>
                </a:solidFill>
              </a:rPr>
              <a:t>Target has treated and placebo outcomes. The estimator targets an identified target-site CATE and admits a Neyman-orthogonal expansion.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7EF08BB-A78B-406C-96E5-7E91DA84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76400"/>
            <a:ext cx="33909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AFDC568A-3BDF-4547-A26A-B4646E32A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76400"/>
            <a:ext cx="33909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A8651AD-6AE5-4709-A347-520394E5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47850"/>
            <a:ext cx="3009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A0019"/>
                </a:solidFill>
              </a:defRPr>
            </a:pPr>
            <a:r>
              <a:rPr sz="1425" b="1">
                <a:solidFill>
                  <a:srgbClr val="8A0020"/>
                </a:solidFill>
              </a:rPr>
              <a:t>Disconnected target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D0669C6-E539-496E-9092-EC93CD04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28850"/>
            <a:ext cx="30099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65605C"/>
                </a:solidFill>
              </a:rPr>
              <a:t>Target has placebo only. The output is a screen-then-transport working-model estimate under explicit A6 transport assumptions.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D538E8F-653A-4F8B-AFBD-C5E139C7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76400"/>
            <a:ext cx="33909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623A5D08-D01B-4197-AA0F-85388C72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76400"/>
            <a:ext cx="33909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30E99DC-E46C-4E32-9C3C-7F47B7A1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47850"/>
            <a:ext cx="3009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A0019"/>
                </a:solidFill>
              </a:defRPr>
            </a:pPr>
            <a:r>
              <a:rPr sz="1425" b="1">
                <a:solidFill>
                  <a:srgbClr val="8A0020"/>
                </a:solidFill>
              </a:rPr>
              <a:t>What to say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55207555-A7AE-43B5-A69E-1226E0A3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28850"/>
            <a:ext cx="30099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65605C"/>
                </a:solidFill>
              </a:rPr>
              <a:t>The talk should separate what is identified from what is transported; that distinction is the methodological honesty.</a:t>
            </a:r>
          </a:p>
        </p:txBody>
      </p:sp>
      <p:sp>
        <p:nvSpPr>
          <p:cNvPr id="23" name="timing-pill">
            <a:extLst xmlns:a="http://schemas.openxmlformats.org/drawingml/2006/main">
              <a:ext uri="{FF2B5EF4-FFF2-40B4-BE49-F238E27FC236}">
                <a16:creationId xmlns:a16="http://schemas.microsoft.com/office/drawing/2014/main" id="{B3B8DC18-FAC6-4B32-853A-34D5CA76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4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7FBA74B3-79CD-4B6E-B0C2-6F28E430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6:01-7:15</a:t>
            </a:r>
          </a:p>
        </p:txBody>
      </p:sp>
    </p:spTree>
    <p:extLst>
      <p:ext uri="{BB962C8B-B14F-4D97-AF65-F5344CB8AC3E}">
        <p14:creationId xmlns:p14="http://schemas.microsoft.com/office/powerpoint/2010/main" val="1099991563"/>
      </p:ext>
    </p:extLst>
  </p:cSld>
  <p:transition dur="700">
    <p:fade/>
  </p:transition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93D7C4B-FC85-4E38-A9B9-7AA6EEB2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BE94C10-56B5-40F2-A6D5-A98DAC74D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e92347ff6e4ba8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BAA01F-50BC-48E8-AD04-6C581812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75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Evaluation: accuracy, targeting, regret, and calibration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56D09CC-0746-455B-AB3D-E18655AE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FC07648-E8B7-455B-9D4F-5250ADAD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C713485-F834-4B16-80AE-204C3F20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6127FA9-3303-4B98-A8D9-F2FF3886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E6CCA0C-29B1-47D9-AFEE-190ABCCE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7B21C87-CAC4-4164-8C5C-6F7C3B65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01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0D196A9-B415-46E3-9361-F8B69849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Synthetic RCTs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6539635-A17C-45AA-BA83-E3A89439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Controlled covariate shift, known potential outcomes, 100 Monte Carlo replicates.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4A757F2E-DE43-4AD0-B514-A25D2815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8D4A413D-8FE5-40F9-A86A-EB9C5828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E422E56-223C-4574-905D-41A3A788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FA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2605098D-18A7-4AAA-AD1E-F7A3DC5A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02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FF75E07-E430-4EA6-9D33-781F5701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Ablations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470A79E-9A4F-4BB2-9D59-35D29E01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Compare TargetOnly, ProxyOnly, AnchorOnly, transport baselines, Proposed variants.</a:t>
            </a:r>
          </a:p>
        </p:txBody>
      </p:sp>
      <p:sp>
        <p:nvSpPr>
          <p:cNvPr id="21" name="Right Arrow 20">
            <a:extLst xmlns:a="http://schemas.openxmlformats.org/drawingml/2006/main">
              <a:ext uri="{FF2B5EF4-FFF2-40B4-BE49-F238E27FC236}">
                <a16:creationId xmlns:a16="http://schemas.microsoft.com/office/drawing/2014/main" id="{C0A0FEF9-0B0E-4ABD-BDB3-4D551D9A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820D8B46-5790-4952-AAD4-31DEBEA5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D2AA4B5C-1DB7-4987-B47B-BEE70CE7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A2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9532A85-6EC4-43BF-A133-30647930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03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8C8BEEB-80C0-4D60-8AF1-B9D70A6D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Stress tests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CF859E99-E762-4417-9F81-4D148CB0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Sweep target budget, dimension, number of sources, sparsity, and nonlinearity.</a:t>
            </a:r>
          </a:p>
        </p:txBody>
      </p:sp>
      <p:sp>
        <p:nvSpPr>
          <p:cNvPr id="27" name="Right Arrow 26">
            <a:extLst xmlns:a="http://schemas.openxmlformats.org/drawingml/2006/main">
              <a:ext uri="{FF2B5EF4-FFF2-40B4-BE49-F238E27FC236}">
                <a16:creationId xmlns:a16="http://schemas.microsoft.com/office/drawing/2014/main" id="{547E1AC7-8448-4E62-984D-B043DFBC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CC1845AB-F754-4205-964A-F13570CA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F55949CC-D334-4E4A-A505-C1064068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FA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FD8AC435-DCB9-4AA7-86AA-9DE31760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04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57347287-1C79-4654-AB74-9220487C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IHDP benchmark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7877CA81-FD6B-4632-8B44-83095EFF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Real covariate distributions with semi-synthetic outcomes over 50 realizations.</a:t>
            </a:r>
          </a:p>
        </p:txBody>
      </p:sp>
      <p:sp>
        <p:nvSpPr>
          <p:cNvPr id="34" name="timing-pill">
            <a:extLst xmlns:a="http://schemas.openxmlformats.org/drawingml/2006/main">
              <a:ext uri="{FF2B5EF4-FFF2-40B4-BE49-F238E27FC236}">
                <a16:creationId xmlns:a16="http://schemas.microsoft.com/office/drawing/2014/main" id="{9883073A-94F6-4976-AB6B-B5332A30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35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818D5E4B-60BA-4D00-B91E-9B3E48CA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7:15-8:30</a:t>
            </a:r>
          </a:p>
        </p:txBody>
      </p:sp>
    </p:spTree>
    <p:extLst>
      <p:ext uri="{BB962C8B-B14F-4D97-AF65-F5344CB8AC3E}">
        <p14:creationId xmlns:p14="http://schemas.microsoft.com/office/powerpoint/2010/main" val="1242503466"/>
      </p:ext>
    </p:extLst>
  </p:cSld>
  <p:transition dur="500">
    <p:push dir="r"/>
  </p:transition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FCC2B63-4C3E-4680-A992-D125ECE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70F4451-5B25-4A4C-85E8-DB74382D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E032A8-31B5-483A-B8B8-AB5D7A78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0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Synthetic summary: proposed methods dominate the ranking table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EADD4DC-0A49-4FAD-9192-E7257168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C77E3E1-B4E8-4004-8690-BB8DF06C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3EAC61-E65A-4981-A5CD-715DC02A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pic>
        <p:nvPicPr>
          <p:cNvPr id="1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b66f9bc4c4f90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15" name="timing-pill">
            <a:extLst xmlns:a="http://schemas.openxmlformats.org/drawingml/2006/main">
              <a:ext uri="{FF2B5EF4-FFF2-40B4-BE49-F238E27FC236}">
                <a16:creationId xmlns:a16="http://schemas.microsoft.com/office/drawing/2014/main" id="{25F9C551-74E7-485E-8DF4-F43BB3D2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6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3D01A90C-10E5-4898-8A71-AEC51A19A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8:30-10:00</a:t>
            </a:r>
          </a:p>
        </p:txBody>
      </p:sp>
      <p:sp>
        <p:nvSpPr>
          <p:cNvPr id="17" name="claim">
            <a:extLst xmlns:a="http://schemas.openxmlformats.org/drawingml/2006/main">
              <a:ext uri="{FF2B5EF4-FFF2-40B4-BE49-F238E27FC236}">
                <a16:creationId xmlns:a16="http://schemas.microsoft.com/office/drawing/2014/main" id="{0B01B7D8-ED58-404F-95FC-BBFD9C340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Across synthetic sweeps, Proposed is rank 1 on PEHE, ATE, Spearman, and regret; Proposed-CF leads calibration.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FB7AA6-8AA4-4D93-A10E-9EFE3DE3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2880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Average rank across performance metrics (lower is better)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FE9A7B-9800-430C-86D7-BACC74CD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241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Proposed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65CE2F-B78F-4EB8-8084-F4671CB2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43150"/>
            <a:ext cx="4953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EEA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DAE1E6-86DC-42D6-9544-234536B4F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43150"/>
            <a:ext cx="715433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426669-D460-4E5F-8D41-B870E563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14575"/>
            <a:ext cx="647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1.3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0CEDED-8BF6-4F41-BDFF-D9B4ED68D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Proposed-CF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D65975-100C-4B83-866E-F241F414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62250"/>
            <a:ext cx="4953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EEA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FD6F7A-42B3-46F8-923F-38E853F3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62250"/>
            <a:ext cx="9906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1D0F5E-69E9-46D3-AB8C-8D270ABD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33675"/>
            <a:ext cx="647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1.8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B900B0-F778-49EF-B84F-AD2366D8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623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Proposed-B†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ED4D52-3EEA-41AD-906A-1E636923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181350"/>
            <a:ext cx="4953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EEA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144F7E-5CC8-4138-9CB6-982D6DF5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181350"/>
            <a:ext cx="18161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56F7F5-8CFC-4A35-BBC8-B674FDAB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152775"/>
            <a:ext cx="647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3.3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87A1D1-2FD1-492D-B634-E9EB03D9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814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OM-Transport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BF921D-0CDE-4F14-AF86-4E7109AA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600450"/>
            <a:ext cx="4953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EEA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65B482-517B-4342-8DAD-89D52F6E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600450"/>
            <a:ext cx="23114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A9A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4610B8-5D37-41B1-963E-2DCA88C6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71875"/>
            <a:ext cx="647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4.2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217F7E1-CAE2-476F-B32D-E54462A1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IPW-Transport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3E3887-D492-469F-B3CA-5D6A5E28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019550"/>
            <a:ext cx="4953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EEA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FBE7A8E-9540-44A0-8710-DD66720E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019550"/>
            <a:ext cx="2751667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B9B9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915402F-F4A1-47C8-B936-08D6CE47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990975"/>
            <a:ext cx="647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5.0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C609E4-83FE-494C-BF5A-416F9B07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196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TargetOnly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944024-0072-4A74-ACF2-88129FE9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438650"/>
            <a:ext cx="4953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EEA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D79062-C7D4-4228-A688-B06837D2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438650"/>
            <a:ext cx="3302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3215AD0-7BF3-416D-BF6C-25ACCEDB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410075"/>
            <a:ext cx="647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6.0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E8BE5E7-73F8-4ACA-97FA-F6147C1C4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387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ProxyOnly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3DB775D-6432-4E5F-B009-35AEBFB6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857750"/>
            <a:ext cx="4953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EEA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95AB9D8-58FE-46D7-82CD-FD086552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857750"/>
            <a:ext cx="4677833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408F0ED-BD1A-4EAD-959B-A76FFDDD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829175"/>
            <a:ext cx="647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8.5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337DE54-D797-40AE-9E13-349444E2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66950"/>
            <a:ext cx="1809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0B2CC73-1145-4F90-BA7C-31A80B28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3840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605C"/>
                </a:solidFill>
                <a:latin typeface="Aptos"/>
                <a:ea typeface="Aptos"/>
                <a:cs typeface="Aptos"/>
              </a:rPr>
              <a:t>Proposed avg rank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69279E6-2CE7-44A6-9939-E6678C37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142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7B8F70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7B8F70"/>
                </a:solidFill>
                <a:latin typeface="Aptos Display"/>
                <a:ea typeface="Aptos Display"/>
                <a:cs typeface="Aptos Display"/>
              </a:rPr>
              <a:t>1.3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62F486-EE72-47C4-AFCE-F6D68B30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6230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PEHE/ATE/rank/regret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7D6ACF6-A8F9-4DFE-884C-4AD6D770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52850"/>
            <a:ext cx="1809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EE281A8-BCAC-4A42-BDB0-561EC39C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605C"/>
                </a:solidFill>
                <a:latin typeface="Aptos"/>
                <a:ea typeface="Aptos"/>
                <a:cs typeface="Aptos"/>
              </a:rPr>
              <a:t>Proposed-CF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EC14BC3-6246-40BD-A1DE-8FF84F62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10050"/>
            <a:ext cx="142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6F8EA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6F8EA4"/>
                </a:solidFill>
                <a:latin typeface="Aptos Display"/>
                <a:ea typeface="Aptos Display"/>
                <a:cs typeface="Aptos Display"/>
              </a:rPr>
              <a:t>1.3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EC82DCA-46AE-4F26-9C44-7DD5DD02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4820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ECE rank (calibration)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39D73F6-2920-4183-8D2C-A078EB7D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19700"/>
            <a:ext cx="819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† AnchorOnly (avg rank ≈6.5, ablation) and EntropyBal (≈5.5) omitted for space — full 9-method comparison in Table I</a:t>
            </a:r>
          </a:p>
        </p:txBody>
      </p:sp>
    </p:spTree>
    <p:extLst>
      <p:ext uri="{BB962C8B-B14F-4D97-AF65-F5344CB8AC3E}">
        <p14:creationId xmlns:p14="http://schemas.microsoft.com/office/powerpoint/2010/main" val="17782789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FCC2B63-4C3E-4680-A992-D125ECE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70F4451-5B25-4A4C-85E8-DB74382D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E032A8-31B5-483A-B8B8-AB5D7A78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75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Small target samples are where transfer pays off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EADD4DC-0A49-4FAD-9192-E7257168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C77E3E1-B4E8-4004-8690-BB8DF06C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3EAC61-E65A-4981-A5CD-715DC02A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pic>
        <p:nvPicPr>
          <p:cNvPr id="1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16ad06ef5f418e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15" name="timing-pill">
            <a:extLst xmlns:a="http://schemas.openxmlformats.org/drawingml/2006/main">
              <a:ext uri="{FF2B5EF4-FFF2-40B4-BE49-F238E27FC236}">
                <a16:creationId xmlns:a16="http://schemas.microsoft.com/office/drawing/2014/main" id="{3302C7FC-775C-4445-AC9F-CE3AD50C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6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11C70E33-38DE-41A7-B1BE-119729E44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10:00-11:15</a:t>
            </a:r>
          </a:p>
        </p:txBody>
      </p:sp>
      <p:sp>
        <p:nvSpPr>
          <p:cNvPr id="17" name="claim">
            <a:extLst xmlns:a="http://schemas.openxmlformats.org/drawingml/2006/main">
              <a:ext uri="{FF2B5EF4-FFF2-40B4-BE49-F238E27FC236}">
                <a16:creationId xmlns:a16="http://schemas.microsoft.com/office/drawing/2014/main" id="{237A9046-8028-413B-99B2-7F74F238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When p is large and target labels are scarce, target-only learning deteriorates while anchored transfer stays usable.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FB0BF1-3526-43C7-B5AA-D3645087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2952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DB0651-A74B-4024-910E-DE443BDE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479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605C"/>
                </a:solidFill>
                <a:latin typeface="Aptos"/>
                <a:ea typeface="Aptos"/>
                <a:cs typeface="Aptos"/>
              </a:rPr>
              <a:t>p=100, target 150/100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0693E8-4707-440C-8538-472FAFA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33650"/>
            <a:ext cx="2571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7B8F70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7B8F70"/>
                </a:solidFill>
                <a:latin typeface="Aptos Display"/>
                <a:ea typeface="Aptos Display"/>
                <a:cs typeface="Aptos Display"/>
              </a:rPr>
              <a:t>7.57 -&gt; 1.71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4CDD2C-2CC3-4DA0-99E0-9AB25D3F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718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TargetOnly PEHE to Proposed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E25001-2C29-42DA-81AB-84491E42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76450"/>
            <a:ext cx="2952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4B213F-595D-4B47-88EE-44F0E9EF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479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605C"/>
                </a:solidFill>
                <a:latin typeface="Aptos"/>
                <a:ea typeface="Aptos"/>
                <a:cs typeface="Aptos"/>
              </a:rPr>
              <a:t>p=50, target 150/100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2C8582-0F86-4170-86EC-B3732B050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33650"/>
            <a:ext cx="2571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7B8F70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7B8F70"/>
                </a:solidFill>
                <a:latin typeface="Aptos Display"/>
                <a:ea typeface="Aptos Display"/>
                <a:cs typeface="Aptos Display"/>
              </a:rPr>
              <a:t>4.75 -&gt; 0.73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0D992A-7FAD-44B3-9E1B-61892027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718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TargetOnly PEHE to Proposed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0783A2-D603-43EF-B84F-8B3CCC43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076450"/>
            <a:ext cx="2952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4CD315-D37A-40CF-82C6-9741669B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479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605C"/>
                </a:solidFill>
                <a:latin typeface="Aptos"/>
                <a:ea typeface="Aptos"/>
                <a:cs typeface="Aptos"/>
              </a:rPr>
              <a:t>p=20, target 150/100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DC5675-EB57-4AF5-BA02-89534A45B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533650"/>
            <a:ext cx="2571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6F8EA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6F8EA4"/>
                </a:solidFill>
                <a:latin typeface="Aptos Display"/>
                <a:ea typeface="Aptos Display"/>
                <a:cs typeface="Aptos Display"/>
              </a:rPr>
              <a:t>2.60 -&gt; 0.50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B699C8-9EDD-4C15-A1E1-2FB3A714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9718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TargetOnly PEHE to Proposed-CF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ADCFA7-495C-4856-B7E8-11932A43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90950"/>
            <a:ext cx="9582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C6EC43-4FE8-4F0E-A6FA-2E0342998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9010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Talk move: show this slide as the finite-sample reason for the method. The estimator is not just theoretically neat; it is strongest where target IPD is most expensive.</a:t>
            </a:r>
          </a:p>
        </p:txBody>
      </p:sp>
    </p:spTree>
    <p:extLst>
      <p:ext uri="{BB962C8B-B14F-4D97-AF65-F5344CB8AC3E}">
        <p14:creationId xmlns:p14="http://schemas.microsoft.com/office/powerpoint/2010/main" val="17782789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FCC2B63-4C3E-4680-A992-D125ECE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70F4451-5B25-4A4C-85E8-DB74382D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E032A8-31B5-483A-B8B8-AB5D7A78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75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Disconnected targets: useful, but label the assumption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EADD4DC-0A49-4FAD-9192-E7257168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C77E3E1-B4E8-4004-8690-BB8DF06C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3EAC61-E65A-4981-A5CD-715DC02A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pic>
        <p:nvPicPr>
          <p:cNvPr id="1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101388e36a42e3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15" name="timing-pill">
            <a:extLst xmlns:a="http://schemas.openxmlformats.org/drawingml/2006/main">
              <a:ext uri="{FF2B5EF4-FFF2-40B4-BE49-F238E27FC236}">
                <a16:creationId xmlns:a16="http://schemas.microsoft.com/office/drawing/2014/main" id="{F18AADC6-7799-47DA-90FF-7F9C25A4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6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B2FEC0A7-1573-4038-9076-3F74CF1D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11:15-12:30</a:t>
            </a:r>
          </a:p>
        </p:txBody>
      </p:sp>
      <p:sp>
        <p:nvSpPr>
          <p:cNvPr id="17" name="claim">
            <a:extLst xmlns:a="http://schemas.openxmlformats.org/drawingml/2006/main">
              <a:ext uri="{FF2B5EF4-FFF2-40B4-BE49-F238E27FC236}">
                <a16:creationId xmlns:a16="http://schemas.microsoft.com/office/drawing/2014/main" id="{945CE8E9-99DC-4BC6-8B71-78F5D333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With m1=0, Proposed-B is best or near-best on PEHE, but the estimand is transported rather than identified.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6418FC-2386-4026-A0A5-1DCF2435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67056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EEA398-7556-4867-8E93-DD84B812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38350"/>
            <a:ext cx="6362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Disconnected PEHE, target placebo only (m0=50)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8CD7FA-FCC0-40F2-8853-E4FD1A5A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1987"/>
            <a:ext cx="304800" cy="6352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E5C633-3FFF-485B-AFED-949EDBD3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224738"/>
            <a:ext cx="304800" cy="442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99F874-585C-4DDD-BCFA-D3322F32E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p=10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AC928F-F9B4-4731-B3D6-103218BD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752363"/>
            <a:ext cx="304800" cy="91488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0101D7-8B92-4E07-8878-C03E9454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137864"/>
            <a:ext cx="304800" cy="5293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F8FFC3-EC35-467F-BF44-90A1B87A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762500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p=20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5CF181-61EA-496C-B4B5-3F3DD00C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98096"/>
            <a:ext cx="304800" cy="15691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45FFEB-AC7F-4E84-B87B-20F213D93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84940"/>
            <a:ext cx="304800" cy="8823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A1F756-0DEB-4504-B7FA-78D6F7A68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762500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p=50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804CC9-F1B5-4BFB-88FC-A6CD6F1A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438400"/>
            <a:ext cx="304800" cy="2228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EBC6B4-9EFE-4916-A2E6-2E099631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567756"/>
            <a:ext cx="304800" cy="10994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4B401D-7154-488C-836B-20C49FC9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762500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p=100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60BCB4-722E-4F37-A33F-C96F3C3B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81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060FA3-F116-456A-B9EA-C2D2E5042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33625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ProxyOnly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EFBD70-4720-4A3A-843C-E121BB1A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28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E3EED7-1006-410F-B886-0AB5AEC5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81275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Proposed-B</a:t>
            </a:r>
          </a:p>
        </p:txBody>
      </p:sp>
      <p:sp>
        <p:nvSpPr>
          <p:cNvPr id="36" name="card">
            <a:extLst xmlns:a="http://schemas.openxmlformats.org/drawingml/2006/main">
              <a:ext uri="{FF2B5EF4-FFF2-40B4-BE49-F238E27FC236}">
                <a16:creationId xmlns:a16="http://schemas.microsoft.com/office/drawing/2014/main" id="{BC7EF8D6-0BAE-4A2D-BD98-936A6AEA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14550"/>
            <a:ext cx="32385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3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EEABF890-34CA-4A38-8725-AD73DBB0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14550"/>
            <a:ext cx="3238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card-eyebrow">
            <a:extLst xmlns:a="http://schemas.openxmlformats.org/drawingml/2006/main">
              <a:ext uri="{FF2B5EF4-FFF2-40B4-BE49-F238E27FC236}">
                <a16:creationId xmlns:a16="http://schemas.microsoft.com/office/drawing/2014/main" id="{A503F87B-7E4F-4CF7-AE68-12A9C49A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431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A6</a:t>
            </a:r>
          </a:p>
        </p:txBody>
      </p:sp>
      <p:sp>
        <p:nvSpPr>
          <p:cNvPr id="39" name="card-title">
            <a:extLst xmlns:a="http://schemas.openxmlformats.org/drawingml/2006/main">
              <a:ext uri="{FF2B5EF4-FFF2-40B4-BE49-F238E27FC236}">
                <a16:creationId xmlns:a16="http://schemas.microsoft.com/office/drawing/2014/main" id="{1A1BD5D2-3FC1-4E07-AC47-FB3290664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Screen-then-transport</a:t>
            </a:r>
          </a:p>
        </p:txBody>
      </p:sp>
      <p:sp>
        <p:nvSpPr>
          <p:cNvPr id="40" name="card-body">
            <a:extLst xmlns:a="http://schemas.openxmlformats.org/drawingml/2006/main">
              <a:ext uri="{FF2B5EF4-FFF2-40B4-BE49-F238E27FC236}">
                <a16:creationId xmlns:a16="http://schemas.microsoft.com/office/drawing/2014/main" id="{78ADE2B4-8FA8-43E0-8E2F-678ED6C13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09900"/>
            <a:ext cx="28575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Use target placebo to detect compatible sources, then transport source CATEs. This supports scenario analysis, not nonparametric identification.</a:t>
            </a:r>
          </a:p>
        </p:txBody>
      </p:sp>
    </p:spTree>
    <p:extLst>
      <p:ext uri="{BB962C8B-B14F-4D97-AF65-F5344CB8AC3E}">
        <p14:creationId xmlns:p14="http://schemas.microsoft.com/office/powerpoint/2010/main" val="1778278946"/>
      </p:ext>
    </p:extLst>
  </p:cSld>
  <p:transition dur="500">
    <p:fade/>
  </p:transition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FCC2B63-4C3E-4680-A992-D125ECE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70F4451-5B25-4A4C-85E8-DB74382D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E032A8-31B5-483A-B8B8-AB5D7A78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0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IHDP benchmark: real covariate shift tells the same story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EADD4DC-0A49-4FAD-9192-E7257168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C77E3E1-B4E8-4004-8690-BB8DF06C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3EAC61-E65A-4981-A5CD-715DC02A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pic>
        <p:nvPicPr>
          <p:cNvPr id="1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4ed82f1ddd4a8d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15" name="timing-pill">
            <a:extLst xmlns:a="http://schemas.openxmlformats.org/drawingml/2006/main">
              <a:ext uri="{FF2B5EF4-FFF2-40B4-BE49-F238E27FC236}">
                <a16:creationId xmlns:a16="http://schemas.microsoft.com/office/drawing/2014/main" id="{4CC1B8CA-0588-45CB-8E57-FDF3B8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6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9569D192-15F4-4B54-9252-36668B43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12:30-13:45</a:t>
            </a:r>
          </a:p>
        </p:txBody>
      </p:sp>
      <p:sp>
        <p:nvSpPr>
          <p:cNvPr id="17" name="claim">
            <a:extLst xmlns:a="http://schemas.openxmlformats.org/drawingml/2006/main">
              <a:ext uri="{FF2B5EF4-FFF2-40B4-BE49-F238E27FC236}">
                <a16:creationId xmlns:a16="http://schemas.microsoft.com/office/drawing/2014/main" id="{ABF05B14-5B74-4D98-9AD8-035C0185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On real IHDP covariates with known counterfactuals, the method remains best or competitive across connected and disconnected regimes.</a:t>
            </a:r>
          </a:p>
        </p:txBody>
      </p:sp>
      <p:sp>
        <p:nvSpPr>
          <p:cNvPr id="18" name="card">
            <a:extLst xmlns:a="http://schemas.openxmlformats.org/drawingml/2006/main">
              <a:ext uri="{FF2B5EF4-FFF2-40B4-BE49-F238E27FC236}">
                <a16:creationId xmlns:a16="http://schemas.microsoft.com/office/drawing/2014/main" id="{E4CE211C-93A0-47A6-8AB6-C73B4432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4762500" cy="255270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9" name="card-accent">
            <a:extLst xmlns:a="http://schemas.openxmlformats.org/drawingml/2006/main">
              <a:ext uri="{FF2B5EF4-FFF2-40B4-BE49-F238E27FC236}">
                <a16:creationId xmlns:a16="http://schemas.microsoft.com/office/drawing/2014/main" id="{2CB73592-5784-4BAF-B0AD-54AD3E7D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4762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card-eyebrow">
            <a:extLst xmlns:a="http://schemas.openxmlformats.org/drawingml/2006/main">
              <a:ext uri="{FF2B5EF4-FFF2-40B4-BE49-F238E27FC236}">
                <a16:creationId xmlns:a16="http://schemas.microsoft.com/office/drawing/2014/main" id="{A0599302-C95F-4977-9107-AD80AD8C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28850"/>
            <a:ext cx="438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Connected</a:t>
            </a:r>
          </a:p>
        </p:txBody>
      </p:sp>
      <p:sp>
        <p:nvSpPr>
          <p:cNvPr id="21" name="card-title">
            <a:extLst xmlns:a="http://schemas.openxmlformats.org/drawingml/2006/main">
              <a:ext uri="{FF2B5EF4-FFF2-40B4-BE49-F238E27FC236}">
                <a16:creationId xmlns:a16="http://schemas.microsoft.com/office/drawing/2014/main" id="{7CB1E8A3-4966-4F33-8AC0-9E8C9B46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33650"/>
            <a:ext cx="438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Proposed is best in 9/9 PEHE cells</a:t>
            </a:r>
          </a:p>
        </p:txBody>
      </p:sp>
      <p:sp>
        <p:nvSpPr>
          <p:cNvPr id="22" name="card-body">
            <a:extLst xmlns:a="http://schemas.openxmlformats.org/drawingml/2006/main">
              <a:ext uri="{FF2B5EF4-FFF2-40B4-BE49-F238E27FC236}">
                <a16:creationId xmlns:a16="http://schemas.microsoft.com/office/drawing/2014/main" id="{7EC039B5-EF6E-45C2-A4FD-547A26B4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95600"/>
            <a:ext cx="43815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Example: at m0=25, m1=100, PEHE is 1.57 for Proposed vs 2.05 for OM-Transport and 3.09 for TargetOnly.</a:t>
            </a:r>
          </a:p>
        </p:txBody>
      </p:sp>
      <p:sp>
        <p:nvSpPr>
          <p:cNvPr id="23" name="card">
            <a:extLst xmlns:a="http://schemas.openxmlformats.org/drawingml/2006/main">
              <a:ext uri="{FF2B5EF4-FFF2-40B4-BE49-F238E27FC236}">
                <a16:creationId xmlns:a16="http://schemas.microsoft.com/office/drawing/2014/main" id="{0C1AFB85-9183-40DA-A767-662E5E0F5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00250"/>
            <a:ext cx="4762500" cy="255270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4" name="card-accent">
            <a:extLst xmlns:a="http://schemas.openxmlformats.org/drawingml/2006/main">
              <a:ext uri="{FF2B5EF4-FFF2-40B4-BE49-F238E27FC236}">
                <a16:creationId xmlns:a16="http://schemas.microsoft.com/office/drawing/2014/main" id="{FCDD1CA3-E505-4982-8A39-745D56D4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00250"/>
            <a:ext cx="4762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card-eyebrow">
            <a:extLst xmlns:a="http://schemas.openxmlformats.org/drawingml/2006/main">
              <a:ext uri="{FF2B5EF4-FFF2-40B4-BE49-F238E27FC236}">
                <a16:creationId xmlns:a16="http://schemas.microsoft.com/office/drawing/2014/main" id="{BC04411F-DCCA-4CA1-A179-A1FE9BB8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438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Disconnected</a:t>
            </a:r>
          </a:p>
        </p:txBody>
      </p:sp>
      <p:sp>
        <p:nvSpPr>
          <p:cNvPr id="26" name="card-title">
            <a:extLst xmlns:a="http://schemas.openxmlformats.org/drawingml/2006/main">
              <a:ext uri="{FF2B5EF4-FFF2-40B4-BE49-F238E27FC236}">
                <a16:creationId xmlns:a16="http://schemas.microsoft.com/office/drawing/2014/main" id="{884D932C-6A8A-4615-BF0B-44DDC7C9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33650"/>
            <a:ext cx="438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Lowest PEHE at all placebo budgets</a:t>
            </a:r>
          </a:p>
        </p:txBody>
      </p:sp>
      <p:sp>
        <p:nvSpPr>
          <p:cNvPr id="27" name="card-body">
            <a:extLst xmlns:a="http://schemas.openxmlformats.org/drawingml/2006/main">
              <a:ext uri="{FF2B5EF4-FFF2-40B4-BE49-F238E27FC236}">
                <a16:creationId xmlns:a16="http://schemas.microsoft.com/office/drawing/2014/main" id="{16E58FE9-BCB9-4EC7-A6BB-E27CF063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95600"/>
            <a:ext cx="43815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At m0=25, PEHE is 2.11 for Proposed-B vs 2.28-2.82 for transport/proxy baselines. Interpret under the working transport condition.</a:t>
            </a:r>
          </a:p>
        </p:txBody>
      </p:sp>
    </p:spTree>
    <p:extLst>
      <p:ext uri="{BB962C8B-B14F-4D97-AF65-F5344CB8AC3E}">
        <p14:creationId xmlns:p14="http://schemas.microsoft.com/office/powerpoint/2010/main" val="1778278946"/>
      </p:ext>
    </p:extLst>
  </p:cSld>
  <p:transition dur="500">
    <p:fade/>
  </p:transition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D9B09E7-A7F9-48CC-A2C4-F5CDE1AF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84F1E2E-61AE-848F-B769-1C895802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96216"/>
            <a:ext cx="4762500" cy="166178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5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dcc1356abd4d25"/>
          <a:srcRect xmlns:a="http://schemas.openxmlformats.org/drawingml/2006/main" l="0" t="15385" r="0" b="153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oundRect">
            <a:avLst/>
          </a:prstGeom>
        </p:spPr>
      </p:pic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32AB4C2-CFF7-4B1F-877E-EC57607B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3048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Takeaways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E08AE43-49B7-4C7B-8452-26438B986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CC33"/>
                </a:solidFill>
              </a:defRPr>
            </a:pPr>
            <a:r>
              <a:rPr sz="2550" b="1">
                <a:solidFill>
                  <a:srgbClr val="D5A834"/>
                </a:solidFill>
                <a:latin typeface="Aptos Display"/>
                <a:ea typeface="Aptos Display"/>
                <a:cs typeface="Aptos Display"/>
              </a:rPr>
              <a:t>Questions?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48928A7-E87B-4984-95FA-3C49F13C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304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DB97851-68AE-4809-8F6B-325B8D84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304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2E9E4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Zilong Wang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F2E9E4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Georgia Institute of Technology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F2E9E4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zwang937@gatech.edu</a:t>
            </a:r>
          </a:p>
        </p:txBody>
      </p:sp>
      <p:pic>
        <p:nvPicPr>
          <p:cNvPr id="10" name="Pictur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9c82ec1c224ba4"/>
          <a:stretch xmlns:a="http://schemas.openxmlformats.org/drawingml/2006/main"/>
        </p:blipFill>
        <p:spPr>
          <a:xfrm xmlns:a="http://schemas.openxmlformats.org/drawingml/2006/main">
            <a:off x="42673" y="5359791"/>
            <a:ext cx="2163045" cy="92348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89364D-D4BB-4822-9F56-38910628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45720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Anchor to the target placebo arm.</a:t>
            </a:r>
          </a:p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Separate identified from transported claims.</a:t>
            </a:r>
          </a:p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Evaluate decisions, not only error.</a:t>
            </a:r>
          </a:p>
        </p:txBody>
      </p:sp>
      <p:sp>
        <p:nvSpPr>
          <p:cNvPr id="12" name="timing-pill">
            <a:extLst xmlns:a="http://schemas.openxmlformats.org/drawingml/2006/main">
              <a:ext uri="{FF2B5EF4-FFF2-40B4-BE49-F238E27FC236}">
                <a16:creationId xmlns:a16="http://schemas.microsoft.com/office/drawing/2014/main" id="{2073ABEA-4750-46E8-92FF-38793D21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3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8383D9D1-2638-408B-8B5A-CC32011A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13:46-15:00</a:t>
            </a:r>
          </a:p>
        </p:txBody>
      </p:sp>
    </p:spTree>
    <p:extLst>
      <p:ext uri="{BB962C8B-B14F-4D97-AF65-F5344CB8AC3E}">
        <p14:creationId xmlns:p14="http://schemas.microsoft.com/office/powerpoint/2010/main" val="1854527753"/>
      </p:ext>
    </p:extLst>
  </p:cSld>
  <p:transition dur="700">
    <p:fade/>
  </p:transition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2026-05-22T00:18:27.0570000Z</dcterms:created>
  <dcterms:modified xsi:type="dcterms:W3CDTF">2026-05-22T00:18:27.0570000Z</dcterms:modified>
</coreProperties>
</file>