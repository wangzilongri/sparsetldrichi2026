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4d5d9b52ee594681" Type="http://schemas.openxmlformats.org/officeDocument/2006/relationships/officeDocument" Target="ppt/presentation.xml"/><Relationship Id="Rbfa7072af20d45f6" Type="http://schemas.openxmlformats.org/officeDocument/2006/relationships/extended-properties" Target="docProps/app.xml"/><Relationship Id="Rf719b75416224209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7495663ba745a2"/>
  </p:sldMasterIdLst>
  <p:notesMasterIdLst>
    <p:notesMasterId xmlns:r="http://schemas.openxmlformats.org/officeDocument/2006/relationships" r:id="Rc1b7fd2f8b164567"/>
  </p:notesMasterIdLst>
  <p:sldIdLst>
    <p:sldId xmlns:r="http://schemas.openxmlformats.org/officeDocument/2006/relationships" id="256" r:id="Rf05e596311e34c04"/>
    <p:sldId xmlns:r="http://schemas.openxmlformats.org/officeDocument/2006/relationships" id="257" r:id="R282b10053b834a5a"/>
    <p:sldId xmlns:r="http://schemas.openxmlformats.org/officeDocument/2006/relationships" id="258" r:id="R0c13f687ab944db4"/>
    <p:sldId xmlns:r="http://schemas.openxmlformats.org/officeDocument/2006/relationships" id="259" r:id="R2cc3f0c239284fc0"/>
    <p:sldId xmlns:r="http://schemas.openxmlformats.org/officeDocument/2006/relationships" id="260" r:id="R4cef18afa3c34773"/>
    <p:sldId xmlns:r="http://schemas.openxmlformats.org/officeDocument/2006/relationships" id="261" r:id="Rcb62ec847e6e434d"/>
    <p:sldId xmlns:r="http://schemas.openxmlformats.org/officeDocument/2006/relationships" id="262" r:id="R693d08670b984fe2"/>
    <p:sldId xmlns:r="http://schemas.openxmlformats.org/officeDocument/2006/relationships" id="263" r:id="Red4fcddfee6e46c9"/>
    <p:sldId xmlns:r="http://schemas.openxmlformats.org/officeDocument/2006/relationships" id="264" r:id="R23717b4199bf4b6a"/>
    <p:sldId xmlns:r="http://schemas.openxmlformats.org/officeDocument/2006/relationships" id="265" r:id="R0ab847f172e041fe"/>
    <p:sldId xmlns:r="http://schemas.openxmlformats.org/officeDocument/2006/relationships" id="266" r:id="Rc60074b5d2a5473c"/>
    <p:sldId xmlns:r="http://schemas.openxmlformats.org/officeDocument/2006/relationships" id="267" r:id="R0f1665c5e32d49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0b69b93f2ed48ff" Type="http://schemas.openxmlformats.org/officeDocument/2006/relationships/tableStyles" Target="tableStyles.xml"/><Relationship Id="R0ab847f172e041fe" Type="http://schemas.openxmlformats.org/officeDocument/2006/relationships/slide" Target="slides/slide10.xml"/><Relationship Id="R0c13f687ab944db4" Type="http://schemas.openxmlformats.org/officeDocument/2006/relationships/slide" Target="slides/slide3.xml"/><Relationship Id="R0f1665c5e32d494a" Type="http://schemas.openxmlformats.org/officeDocument/2006/relationships/slide" Target="slides/slide12.xml"/><Relationship Id="R23717b4199bf4b6a" Type="http://schemas.openxmlformats.org/officeDocument/2006/relationships/slide" Target="slides/slide9.xml"/><Relationship Id="R282b10053b834a5a" Type="http://schemas.openxmlformats.org/officeDocument/2006/relationships/slide" Target="slides/slide2.xml"/><Relationship Id="R2cc3f0c239284fc0" Type="http://schemas.openxmlformats.org/officeDocument/2006/relationships/slide" Target="slides/slide4.xml"/><Relationship Id="R457495663ba745a2" Type="http://schemas.openxmlformats.org/officeDocument/2006/relationships/slideMaster" Target="slideMasters/slideMaster1.xml"/><Relationship Id="R466a592e93e649ac" Type="http://schemas.openxmlformats.org/officeDocument/2006/relationships/viewProps" Target="viewProps.xml"/><Relationship Id="R4cef18afa3c34773" Type="http://schemas.openxmlformats.org/officeDocument/2006/relationships/slide" Target="slides/slide5.xml"/><Relationship Id="R693d08670b984fe2" Type="http://schemas.openxmlformats.org/officeDocument/2006/relationships/slide" Target="slides/slide7.xml"/><Relationship Id="Ra8d902994f31452d" Type="http://schemas.openxmlformats.org/officeDocument/2006/relationships/theme" Target="theme/theme1.xml"/><Relationship Id="Rc1b7fd2f8b164567" Type="http://schemas.openxmlformats.org/officeDocument/2006/relationships/notesMaster" Target="notesMasters/notesMaster1.xml"/><Relationship Id="Rc60074b5d2a5473c" Type="http://schemas.openxmlformats.org/officeDocument/2006/relationships/slide" Target="slides/slide11.xml"/><Relationship Id="Rcb62ec847e6e434d" Type="http://schemas.openxmlformats.org/officeDocument/2006/relationships/slide" Target="slides/slide6.xml"/><Relationship Id="Re5db04c70575462a" Type="http://schemas.openxmlformats.org/officeDocument/2006/relationships/presProps" Target="presProps.xml"/><Relationship Id="Red4fcddfee6e46c9" Type="http://schemas.openxmlformats.org/officeDocument/2006/relationships/slide" Target="slides/slide8.xml"/><Relationship Id="Rf05e596311e34c04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fa0d9d7a07494f2f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cc96f32338642f8" Type="http://schemas.openxmlformats.org/officeDocument/2006/relationships/slide" Target="../slides/slide1.xml"/><Relationship Id="R82906250f0df45e6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3e22e22745e6415e" Type="http://schemas.openxmlformats.org/officeDocument/2006/relationships/notesMaster" Target="../notesMasters/notesMaster1.xml"/><Relationship Id="R6d3df0e26bdd4535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9c91d9df1264009" Type="http://schemas.openxmlformats.org/officeDocument/2006/relationships/notesMaster" Target="../notesMasters/notesMaster1.xml"/><Relationship Id="Ra3f6f020132a42a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50249b6e522844ba" Type="http://schemas.openxmlformats.org/officeDocument/2006/relationships/slide" Target="../slides/slide4.xml"/><Relationship Id="R835838c3459a4c77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674b71285f346a3" Type="http://schemas.openxmlformats.org/officeDocument/2006/relationships/notesMaster" Target="../notesMasters/notesMaster1.xml"/><Relationship Id="R4085e92b1e8a4f3d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1b222efd71744ec" Type="http://schemas.openxmlformats.org/officeDocument/2006/relationships/notesMaster" Target="../notesMasters/notesMaster1.xml"/><Relationship Id="Rad5e0743465c45e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527578b493c4a02" Type="http://schemas.openxmlformats.org/officeDocument/2006/relationships/slide" Target="../slides/slide7.xml"/><Relationship Id="R798be6a909bf466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b973a4b7d0e4962" Type="http://schemas.openxmlformats.org/officeDocument/2006/relationships/slide" Target="../slides/slide8.xml"/><Relationship Id="Rcfb434832e8c4a3d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5ebad2af01f74a22" Type="http://schemas.openxmlformats.org/officeDocument/2006/relationships/slide" Target="../slides/slide9.xml"/><Relationship Id="Rc46b6f4bb94745d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8c3be4b1c234d4d" Type="http://schemas.openxmlformats.org/officeDocument/2006/relationships/slide" Target="../slides/slide10.xml"/><Relationship Id="Rc24221d9348442d7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ee9feaa0de7341fe" Type="http://schemas.openxmlformats.org/officeDocument/2006/relationships/slide" Target="../slides/slide11.xml"/><Relationship Id="Rf88cafa876544c38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92a68725b95047b3" Type="http://schemas.openxmlformats.org/officeDocument/2006/relationships/notesMaster" Target="../notesMasters/notesMaster1.xml"/><Relationship Id="Rfeb1ecf435e94e5c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ffe6cfdffe6e412a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5DC9AD-018D-40CA-A6D8-34E504BDE8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D502A0-457D-42A7-B3A7-99A4B0E106C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81ccb06b5090475d" Type="http://schemas.openxmlformats.org/officeDocument/2006/relationships/theme" Target="../theme/theme1.xml"/><Relationship Id="Rf1a1c8a5b2b3493a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ADE5BD-3AAD-4483-AF95-2FC2200A13D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a1c8a5b2b349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9e630309b16c4aaf" Type="http://schemas.openxmlformats.org/officeDocument/2006/relationships/notesSlide" Target="../notesSlides/notesSlide1.xml"/><Relationship Id="Rb164f403e3b8428a" Type="http://schemas.openxmlformats.org/officeDocument/2006/relationships/image" Target="../media/image.png"/><Relationship Id="Rc2d8aa29b4f14fdf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1fe3de5a520745db" Type="http://schemas.openxmlformats.org/officeDocument/2006/relationships/slideLayout" Target="../slideLayouts/slideLayout2.xml"/><Relationship Id="R452551ad78e94f3a" Type="http://schemas.openxmlformats.org/officeDocument/2006/relationships/image" Target="../media/image.png"/><Relationship Id="Ra0a3759af74e4294" Type="http://schemas.openxmlformats.org/officeDocument/2006/relationships/notesSlide" Target="../notesSlides/notesSlide2.xml"/><Relationship Id="Ra247873e86a2491b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4932b8eb17a04de4" Type="http://schemas.openxmlformats.org/officeDocument/2006/relationships/image" Target="../media/image.png"/><Relationship Id="R6ddead951f2d4b07" Type="http://schemas.openxmlformats.org/officeDocument/2006/relationships/notesSlide" Target="../notesSlides/notesSlide3.xml"/><Relationship Id="R8c7dcb65214042be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70901c9316df475d" Type="http://schemas.openxmlformats.org/officeDocument/2006/relationships/image" Target="../media/image3.png"/><Relationship Id="Rdd2da176206a4d09" Type="http://schemas.openxmlformats.org/officeDocument/2006/relationships/slideLayout" Target="../slideLayouts/slideLayout2.xml"/><Relationship Id="Re10757051a144f0f" Type="http://schemas.openxmlformats.org/officeDocument/2006/relationships/image" Target="../media/image.png"/><Relationship Id="Rf267fbc268bf461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d29cdea3c5b4db2" Type="http://schemas.openxmlformats.org/officeDocument/2006/relationships/slideLayout" Target="../slideLayouts/slideLayout2.xml"/><Relationship Id="R11913f9154f84859" Type="http://schemas.openxmlformats.org/officeDocument/2006/relationships/image" Target="../media/image5.png"/><Relationship Id="R225234fc0c114a52" Type="http://schemas.openxmlformats.org/officeDocument/2006/relationships/image" Target="../media/image4.png"/><Relationship Id="R2b180ed9cc9b4f6f" Type="http://schemas.openxmlformats.org/officeDocument/2006/relationships/image" Target="../media/image11.png"/><Relationship Id="R32320428e84c4066" Type="http://schemas.openxmlformats.org/officeDocument/2006/relationships/image" Target="../media/image8.png"/><Relationship Id="R3b71e4ae52234d05" Type="http://schemas.openxmlformats.org/officeDocument/2006/relationships/image" Target="../media/image.png"/><Relationship Id="R68e984e267ae4ff0" Type="http://schemas.openxmlformats.org/officeDocument/2006/relationships/image" Target="../media/image10.png"/><Relationship Id="R8ad39c38de254814" Type="http://schemas.openxmlformats.org/officeDocument/2006/relationships/image" Target="../media/image6.png"/><Relationship Id="Rb774f089916c4afe" Type="http://schemas.openxmlformats.org/officeDocument/2006/relationships/image" Target="../media/image7.png"/><Relationship Id="Rd930e8df52f646f2" Type="http://schemas.openxmlformats.org/officeDocument/2006/relationships/image" Target="../media/image9.png"/><Relationship Id="Rf5fc665c771a4c0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a1b748b5cd74ccd" Type="http://schemas.openxmlformats.org/officeDocument/2006/relationships/slideLayout" Target="../slideLayouts/slideLayout2.xml"/><Relationship Id="R7cb023f22655471f" Type="http://schemas.openxmlformats.org/officeDocument/2006/relationships/image" Target="../media/image13.png"/><Relationship Id="R883f3c8dbfb8400b" Type="http://schemas.openxmlformats.org/officeDocument/2006/relationships/image" Target="../media/image12.png"/><Relationship Id="Ra4da1bfb208f4c70" Type="http://schemas.openxmlformats.org/officeDocument/2006/relationships/image" Target="../media/image.png"/><Relationship Id="Rafab2bc623084cb8" Type="http://schemas.openxmlformats.org/officeDocument/2006/relationships/image" Target="../media/image14.png"/><Relationship Id="Rd983eda0069d47c3" Type="http://schemas.openxmlformats.org/officeDocument/2006/relationships/image" Target="../media/image15.png"/><Relationship Id="Rf40a10a23cda4a5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80e8bb695084ba2" Type="http://schemas.openxmlformats.org/officeDocument/2006/relationships/image" Target="../media/image.png"/><Relationship Id="Rcfdb0363237941aa" Type="http://schemas.openxmlformats.org/officeDocument/2006/relationships/notesSlide" Target="../notesSlides/notesSlide7.xml"/><Relationship Id="Rec217362f301454e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4fccdf97d99d45ad" Type="http://schemas.openxmlformats.org/officeDocument/2006/relationships/slideLayout" Target="../slideLayouts/slideLayout2.xml"/><Relationship Id="R6e9707af0021452a" Type="http://schemas.openxmlformats.org/officeDocument/2006/relationships/notesSlide" Target="../notesSlides/notesSlide8.xml"/><Relationship Id="Recfcb8885cf540b7" Type="http://schemas.openxmlformats.org/officeDocument/2006/relationships/image" Target="../media/image.png"/></Relationships>
</file>

<file path=ppt/slides/_rels/slide9.xml.rels><?xml version='1.0' encoding='UTF-8' standalone='yes'?>
<Relationships xmlns="http://schemas.openxmlformats.org/package/2006/relationships"><Relationship Id="R1c0bc3d5f5334b5c" Type="http://schemas.openxmlformats.org/officeDocument/2006/relationships/image" Target="../media/image.png"/><Relationship Id="R2648b267a9044fe9" Type="http://schemas.openxmlformats.org/officeDocument/2006/relationships/slideLayout" Target="../slideLayouts/slideLayout2.xml"/><Relationship Id="Rd9541d28a4cf4cbb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93aa2bbc613e48e4" Type="http://schemas.openxmlformats.org/officeDocument/2006/relationships/notesSlide" Target="../notesSlides/notesSlide10.xml"/><Relationship Id="Rc71320a6baad4761" Type="http://schemas.openxmlformats.org/officeDocument/2006/relationships/image" Target="../media/image.png"/><Relationship Id="Rd78a3a03480c45e5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5bb340d5d8374a95" Type="http://schemas.openxmlformats.org/officeDocument/2006/relationships/image" Target="../media/image.png"/><Relationship Id="R90567997f24d45e6" Type="http://schemas.openxmlformats.org/officeDocument/2006/relationships/notesSlide" Target="../notesSlides/notesSlide11.xml"/><Relationship Id="Rb90c2a59f8554bdb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090a019e7f6a41a9" Type="http://schemas.openxmlformats.org/officeDocument/2006/relationships/image" Target="../media/image.jpeg"/><Relationship Id="R160bbff2c68849fe" Type="http://schemas.openxmlformats.org/officeDocument/2006/relationships/notesSlide" Target="../notesSlides/notesSlide12.xml"/><Relationship Id="R7f977d8ad1e5462e" Type="http://schemas.openxmlformats.org/officeDocument/2006/relationships/slideLayout" Target="../slideLayouts/slideLayout2.xml"/><Relationship Id="Rba017d4a4c134dda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76166F-C808-4328-8187-F1F7F5CA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54FDFE-C184-42F6-AC19-DF1F460F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4f403e3b8428a"/>
          <a:stretch xmlns:a="http://schemas.openxmlformats.org/drawingml/2006/main"/>
        </p:blipFill>
        <p:spPr>
          <a:xfrm xmlns:a="http://schemas.openxmlformats.org/drawingml/2006/main">
            <a:off x="685800" y="279204"/>
            <a:ext cx="2855686" cy="1219200"/>
          </a:xfrm>
          <a:prstGeom xmlns:a="http://schemas.openxmlformats.org/drawingml/2006/main" prst="rect">
            <a:avLst/>
          </a:prstGeom>
        </p:spPr>
      </p:pic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BE89073-9A3C-4DD8-9B74-CFF2D792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973" y="659608"/>
            <a:ext cx="3143250" cy="529656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847468F-3A20-4BC7-9276-AC4AD9D9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973" y="635795"/>
            <a:ext cx="3143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772F60-4B70-457F-9292-C9888774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0473" y="830461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A0019"/>
                </a:solidFill>
              </a:defRPr>
            </a:pPr>
            <a:r>
              <a:rPr sz="1350" b="1">
                <a:solidFill>
                  <a:srgbClr val="8A0020"/>
                </a:solidFill>
              </a:rPr>
              <a:t>Scientific Session 19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39EE356-11AA-4829-BBCF-B07F77E3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67450"/>
            <a:ext cx="276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</a:p>
        </p:txBody>
      </p:sp>
      <p:sp>
        <p:nvSpPr>
          <p:cNvPr id="6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AD200FF-8B8D-6E07-C5DC-971406A5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0719"/>
            <a:ext cx="10820400" cy="3219109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810A53-27E5-BCD9-7B12-3D43FBE5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0720"/>
            <a:ext cx="10820400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A0F1714-C145-9BFE-18FA-24773D76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7470"/>
            <a:ext cx="600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Transfer Learning for Meta-analysis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Under Covariate Shift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4F8E6AA-74BC-BBA9-2F60-332FAB6D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947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7EDE7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Placebo-anchored proxy-gold learning for target-specific treatment effects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8524F25-E193-8A54-D54A-82EAB49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3820"/>
            <a:ext cx="5829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CC7579-E1BA-9A9D-E8E0-664017E5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527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none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400" b="1" u="sng">
                <a:solidFill>
                  <a:srgbClr val="5E5A56"/>
                </a:solidFill>
                <a:latin typeface="Aptos"/>
              </a:rPr>
              <a:t>Zilong Wang</a:t>
            </a:r>
            <a:r>
              <a:rPr sz="1400" b="0" u="none">
                <a:solidFill>
                  <a:srgbClr val="5E5A56"/>
                </a:solidFill>
                <a:latin typeface="Aptos"/>
              </a:rPr>
              <a:t>,  Ali Abdeen,  Turgay Ayer</a:t>
            </a:r>
            <a:r>
              <a:rPr sz="1100" b="0" u="none">
                <a:solidFill>
                  <a:srgbClr val="5E5A56"/>
                </a:solidFill>
                <a:latin typeface="Aptos"/>
              </a:rPr>
              <a:t>   ·   presenter: Zilong Wang</a:t>
            </a:r>
          </a:p>
          <ns0:p xmlns:ns0="http://schemas.openxmlformats.org/drawingml/2006/main">
            <ns0:r>
              <ns0:rPr lang="en-US" sz="1100" dirty="0">
                <ns0:solidFill>
                  <ns0:srgbClr val="5E5A56"/>
                </ns0:solidFill>
                <ns0:latin typeface="Aptos"/>
              </ns0:rPr>
              <ns0:t>Industrial and Systems Engineering  ·  Georgia Institute of Technology  ·  Atlanta, GA</ns0:t>
            </ns0:r>
          </ns0:p>
        </p:txBody>
      </p:sp>
      <p:sp>
        <p:nvSpPr>
          <p:cNvPr id="19" name="timing-pill">
            <a:extLst xmlns:a="http://schemas.openxmlformats.org/drawingml/2006/main">
              <a:ext uri="{FF2B5EF4-FFF2-40B4-BE49-F238E27FC236}">
                <a16:creationId xmlns:a16="http://schemas.microsoft.com/office/drawing/2014/main" id="{F163A1E7-086F-4ED5-839B-149423E9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67791CBC-C2F5-4BBF-A864-0FD56B81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0:00-0:30</a:t>
            </a:r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1009650" y="4667250"/>
            <a:ext cx="4762500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E5A56"/>
                </a:solidFill>
                <a:latin typeface="Aptos"/>
              </a:rPr>
              <a:t>June 1–3, 2026  ·  Minneapolis, MN  ·  IEEE ICHI 2026</a:t>
            </a:r>
          </a:p>
        </p:txBody>
      </p:sp>
    </p:spTree>
    <p:extLst>
      <p:ext uri="{BB962C8B-B14F-4D97-AF65-F5344CB8AC3E}">
        <p14:creationId xmlns:p14="http://schemas.microsoft.com/office/powerpoint/2010/main" val="385119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Clinical trial evidence rarely lands in the target population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551ad78e94f3a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15" name="timing-pill">
            <a:extLst xmlns:a="http://schemas.openxmlformats.org/drawingml/2006/main">
              <a:ext uri="{FF2B5EF4-FFF2-40B4-BE49-F238E27FC236}">
                <a16:creationId xmlns:a16="http://schemas.microsoft.com/office/drawing/2014/main" id="{D9FBEB2F-9AE5-415E-A8C9-0D26C37F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86A163CE-A80F-4149-997D-5FCA57C8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0:31-1:45</a:t>
            </a:r>
          </a:p>
        </p:txBody>
      </p:sp>
      <p:sp>
        <p:nvSpPr>
          <p:cNvPr id="17" name="claim">
            <a:extLst xmlns:a="http://schemas.openxmlformats.org/drawingml/2006/main">
              <a:ext uri="{FF2B5EF4-FFF2-40B4-BE49-F238E27FC236}">
                <a16:creationId xmlns:a16="http://schemas.microsoft.com/office/drawing/2014/main" id="{DB817318-3A12-451B-BB45-31E329E7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decision target is patient-level and local; the available evidence is multi-site and shifted.</a:t>
            </a:r>
          </a:p>
        </p:txBody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780E4133-2483-4AFD-B059-C0AF2370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5D5C83B-A84E-48C8-84BE-302AF996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63FCB38A-390A-41B9-AD40-1F002201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2BBA0F21-FA59-49B2-A6A4-093E76B0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Different enrolled patients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066F41D4-A5BA-4B73-82A3-B588B899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RCT sites can differ by eligibility, geography, baseline risk, and case mix. Pooling can estimate the wrong population.</a:t>
            </a:r>
          </a:p>
        </p:txBody>
      </p:sp>
      <p:sp>
        <p:nvSpPr>
          <p:cNvPr id="23" name="card">
            <a:extLst xmlns:a="http://schemas.openxmlformats.org/drawingml/2006/main">
              <a:ext uri="{FF2B5EF4-FFF2-40B4-BE49-F238E27FC236}">
                <a16:creationId xmlns:a16="http://schemas.microsoft.com/office/drawing/2014/main" id="{D4BA8905-86B3-4F64-B3E8-EBF837C2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8D0E65D-71C7-496B-9CD9-2C969A8C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75BF4393-69D2-410B-B458-78D1410B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7BB9FBE3-273D-451C-99DC-D553DBE4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Different baseline risk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66FF416E-DC7B-4C42-B9D1-8D98CD0D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 shared comparator is not automatically exchangeable once covariates and residual risk drift across studies.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91B6F3C4-DCB5-445A-B51A-27086BC2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105DCDA-C31B-4BC8-B439-5AC84F9E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9642BD45-6F2C-423C-8306-365765EC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1" name="card-title">
            <a:extLst xmlns:a="http://schemas.openxmlformats.org/drawingml/2006/main">
              <a:ext uri="{FF2B5EF4-FFF2-40B4-BE49-F238E27FC236}">
                <a16:creationId xmlns:a16="http://schemas.microsoft.com/office/drawing/2014/main" id="{10FC973A-7706-4A7C-826B-9A814720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Patient-level decisions</a:t>
            </a:r>
          </a:p>
        </p:txBody>
      </p:sp>
      <p:sp>
        <p:nvSpPr>
          <p:cNvPr id="32" name="card-body">
            <a:extLst xmlns:a="http://schemas.openxmlformats.org/drawingml/2006/main">
              <a:ext uri="{FF2B5EF4-FFF2-40B4-BE49-F238E27FC236}">
                <a16:creationId xmlns:a16="http://schemas.microsoft.com/office/drawing/2014/main" id="{52A2A16F-240E-4C77-A140-AA9FD826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Decision makers need CATEs, targeting, regret, and calibration - not only a network-wide average effect.</a:t>
            </a:r>
          </a:p>
        </p:txBody>
      </p:sp>
      <p:pic>
        <p:nvPicPr>
          <p:cNvPr id="33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7873e86a2491b"/>
          <a:stretch xmlns:a="http://schemas.openxmlformats.org/drawingml/2006/main"/>
        </p:blipFill>
        <p:spPr>
          <a:xfrm xmlns:a="http://schemas.openxmlformats.org/drawingml/2006/main">
            <a:off x="3535280" y="3981450"/>
            <a:ext cx="4073689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The gap: standard transport needs conditions the target lacks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2b8eb17a04de4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15" name="timing-pill">
            <a:extLst xmlns:a="http://schemas.openxmlformats.org/drawingml/2006/main">
              <a:ext uri="{FF2B5EF4-FFF2-40B4-BE49-F238E27FC236}">
                <a16:creationId xmlns:a16="http://schemas.microsoft.com/office/drawing/2014/main" id="{4867DF08-1FC9-4D27-9169-CD0F3159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6D3592BE-BD84-4B1D-8E5E-1786F15C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1:45-3:00</a:t>
            </a:r>
          </a:p>
        </p:txBody>
      </p:sp>
      <p:sp>
        <p:nvSpPr>
          <p:cNvPr id="17" name="claim">
            <a:extLst xmlns:a="http://schemas.openxmlformats.org/drawingml/2006/main">
              <a:ext uri="{FF2B5EF4-FFF2-40B4-BE49-F238E27FC236}">
                <a16:creationId xmlns:a16="http://schemas.microsoft.com/office/drawing/2014/main" id="{85D98165-14DD-49D3-B1B2-CB19B5E8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hard case is weakly connected or disconnected target evidence under covariate shift.</a:t>
            </a:r>
          </a:p>
        </p:txBody>
      </p:sp>
      <p:sp>
        <p:nvSpPr>
          <p:cNvPr id="18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DD73F70D-A942-4B9A-9B6C-9240B31B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44BC67F-AD43-4FDE-B73B-9D8C46FB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99F4151-18CA-459C-AE48-E0EC1EB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Common assumption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C95FF10-48E6-4174-AC54-1DA7373E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76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Failure mode in this talk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1B6794-110D-4407-AD7F-66C804EE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Network connectivity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072CE9B-4140-464B-864A-7156850E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trial connects through a shared comparator arm.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60B597-6A12-425C-AA39-8AFCC36C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71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Disconnected target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6473824-19F1-433F-AF15-44796D63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956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may have placebo only for the treatment of interest.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C5CBFEC-2D98-496E-A77B-7FDB3E6F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908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50FD50E-047B-437D-BBAF-BAA500F0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Comparator exchangeability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FB74848-028F-4238-B30F-3F1097E2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Placebo arms are comparable after measured adjustment.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0032E64-9F3B-4C1B-9703-B6A6A676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62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Residual baseline drift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31CEE87-7E5E-4DDF-90DF-43A40485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862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Measured shift plus site-specific risk makes direct transfer biased.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EC08BF8-53B0-4156-A14A-1C939799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814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B7AFDF2-230B-4A4F-A2CC-7A18608C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Average effect is enough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D964F32-C487-4301-ADE7-22267DF9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NMA or transport reports a marginal target estimand.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6501ADEF-5194-421A-B6AC-C1A69489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529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Individualized decisions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15DA886-2005-4A3B-B9FD-A2EEC18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768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task is calibrated patient-level CATE and targeting.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9C3B191-DC40-4C67-87E7-91FCE463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720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3D7C4B-FC85-4E38-A9B9-7AA6EEB2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E94C10-56B5-40F2-A6D5-A98DAC74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757051a144f0f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BAA01F-50BC-48E8-AD04-6C581812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66071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Core idea: target placebo is the gold calibration signal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56D09CC-0746-455B-AB3D-E18655AE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FC07648-E8B7-455B-9D4F-5250ADAD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C713485-F834-4B16-80AE-204C3F20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4A757F2E-DE43-4AD0-B514-A25D2815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C0A0FEF9-0B0E-4ABD-BDB3-4D551D9A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ight Arrow 26">
            <a:extLst xmlns:a="http://schemas.openxmlformats.org/drawingml/2006/main">
              <a:ext uri="{FF2B5EF4-FFF2-40B4-BE49-F238E27FC236}">
                <a16:creationId xmlns:a16="http://schemas.microsoft.com/office/drawing/2014/main" id="{547E1AC7-8448-4E62-984D-B043DFB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iming-pill">
            <a:extLst xmlns:a="http://schemas.openxmlformats.org/drawingml/2006/main">
              <a:ext uri="{FF2B5EF4-FFF2-40B4-BE49-F238E27FC236}">
                <a16:creationId xmlns:a16="http://schemas.microsoft.com/office/drawing/2014/main" id="{A0F396DF-24E2-44E8-BDF0-12C29B8D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5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696887D4-CEE3-49F9-BC8F-A05E03AA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3:00-4:15</a:t>
            </a:r>
          </a:p>
        </p:txBody>
      </p:sp>
      <p:sp>
        <p:nvSpPr>
          <p:cNvPr id="36" name="claim">
            <a:extLst xmlns:a="http://schemas.openxmlformats.org/drawingml/2006/main">
              <a:ext uri="{FF2B5EF4-FFF2-40B4-BE49-F238E27FC236}">
                <a16:creationId xmlns:a16="http://schemas.microsoft.com/office/drawing/2014/main" id="{85488BF4-EB39-4F99-8046-8463BF9F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 data is abundant but miscalibrated for the target; target placebo is scarce but perfectly calibrated — sparse correction bridges the two.</a:t>
            </a:r>
          </a:p>
        </p:txBody>
      </p:sp>
      <p:pic>
        <p:nvPicPr>
          <p:cNvPr id="37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01c9316df475d"/>
          <a:stretch xmlns:a="http://schemas.openxmlformats.org/drawingml/2006/main"/>
        </p:blipFill>
        <p:spPr>
          <a:xfrm xmlns:a="http://schemas.openxmlformats.org/drawingml/2006/main">
            <a:off x="685800" y="1910715"/>
            <a:ext cx="10820400" cy="36607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1e4ae52234d05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pic>
        <p:nvPicPr>
          <p:cNvPr id="2" name="Pictur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234fc0c114a52"/>
          <a:stretch xmlns:a="http://schemas.openxmlformats.org/drawingml/2006/main"/>
        </p:blipFill>
        <p:spPr>
          <a:xfrm xmlns:a="http://schemas.openxmlformats.org/drawingml/2006/main">
            <a:off x="8572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3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13f9154f84859"/>
          <a:stretch xmlns:a="http://schemas.openxmlformats.org/drawingml/2006/main"/>
        </p:blipFill>
        <p:spPr>
          <a:xfrm xmlns:a="http://schemas.openxmlformats.org/drawingml/2006/main">
            <a:off x="63436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4" name="Picture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39c38de254814"/>
          <a:stretch xmlns:a="http://schemas.openxmlformats.org/drawingml/2006/main"/>
        </p:blipFill>
        <p:spPr>
          <a:xfrm xmlns:a="http://schemas.openxmlformats.org/drawingml/2006/main">
            <a:off x="90868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5" name="Picture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4f089916c4afe"/>
          <a:stretch xmlns:a="http://schemas.openxmlformats.org/drawingml/2006/main"/>
        </p:blipFill>
        <p:spPr>
          <a:xfrm xmlns:a="http://schemas.openxmlformats.org/drawingml/2006/main">
            <a:off x="3600450" y="3019924"/>
            <a:ext cx="1924050" cy="265702"/>
          </a:xfrm>
          <a:prstGeom xmlns:a="http://schemas.openxmlformats.org/drawingml/2006/main" prst="rect">
            <a:avLst/>
          </a:prstGeom>
        </p:spPr>
      </p:pic>
      <p:sp>
        <p:nvSpPr>
          <p:cNvPr id="61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0DF7ADF9-A659-4337-B23B-38EDFE25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5A171864-E8A0-42E1-8BB9-F614235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Estimator pipeline: anchor first, orthogonalize second</a:t>
            </a:r>
          </a:p>
        </p:txBody>
      </p:sp>
      <p:sp>
        <p:nvSpPr>
          <p:cNvPr id="63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A3519F23-005D-4BAE-B840-CF2022E2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3803B866-BD55-4708-AD23-1193E851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Two layers do the work: sparse baseline anchoring first, then doubly robust CATE learning.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A072BC-BBE9-4A32-B89A-C5690E3F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DF00F0-26A0-45BA-A2BA-72886608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Source proxy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444D19-AD9F-4EF1-8D90-87CFB886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Fit source outcome models from abundant source IPD.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8E988B-6A4A-48F3-B0B4-28E1FEBB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194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C99A641-534F-4B8F-B0EC-5402FF14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1F9786-E240-42C2-A32C-C4903A65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Target anchor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510983C-E1C2-4D21-8979-3DD313DF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 placebo outcomes provide gold residual labels.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B62C11-96E7-4F17-BE47-65018B1A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194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020B0A-D4DD-4797-B969-57C84E48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5A67ECE-0273-488F-A471-608E6213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Sparse correction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A2399D-CB55-409B-A7BB-6DCE2FE8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Debias target baseline risk with a low-complexity correction.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2C271A0-1B16-430F-8669-6713FF26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F2DEFC-DC9D-44CA-86ED-6FB5802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EA2176-02E6-457A-B96E-E01DF585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 DR learner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9D31BE-1135-4859-9B45-6C1597FA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Fit τ̂(x) = E[ψ | x] for targeting and regret.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15E477-1AB5-4F2D-9A87-B5E4B979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57750"/>
            <a:ext cx="885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3000CA-9350-4B91-A2F7-7DBD7EE5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10150"/>
            <a:ext cx="840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Bastani/Tian-Feng supply the sparse anchor; Kennedy supplies the orthogonal DR learner.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20428e84c4066"/>
          <a:stretch xmlns:a="http://schemas.openxmlformats.org/drawingml/2006/main"/>
        </p:blipFill>
        <p:spPr>
          <a:xfrm xmlns:a="http://schemas.openxmlformats.org/drawingml/2006/main">
            <a:off x="3600450" y="3019924"/>
            <a:ext cx="1924050" cy="265702"/>
          </a:xfrm>
          <a:prstGeom xmlns:a="http://schemas.openxmlformats.org/drawingml/2006/main" prst="rect">
            <a:avLst/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0e8df52f646f2"/>
          <a:stretch xmlns:a="http://schemas.openxmlformats.org/drawingml/2006/main"/>
        </p:blipFill>
        <p:spPr>
          <a:xfrm xmlns:a="http://schemas.openxmlformats.org/drawingml/2006/main">
            <a:off x="63436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984e267ae4ff0"/>
          <a:stretch xmlns:a="http://schemas.openxmlformats.org/drawingml/2006/main"/>
        </p:blipFill>
        <p:spPr>
          <a:xfrm xmlns:a="http://schemas.openxmlformats.org/drawingml/2006/main">
            <a:off x="90868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80ed9cc9b4f6f"/>
          <a:stretch xmlns:a="http://schemas.openxmlformats.org/drawingml/2006/main"/>
        </p:blipFill>
        <p:spPr>
          <a:xfrm xmlns:a="http://schemas.openxmlformats.org/drawingml/2006/main">
            <a:off x="857250" y="3026319"/>
            <a:ext cx="1924050" cy="3481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C3666D-B399-484F-8135-C352311A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55FE13-F112-448E-A0CB-8884909C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a1bfb208f4c70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2FA3AB-8B01-404F-8DE1-FEB6FCBC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" y="438150"/>
            <a:ext cx="899277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8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Two target regimes, two interpretations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562148-2D2A-4781-86FB-92725A9C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88E6346-D434-49F4-AAED-27E72584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6B9F958-4EBA-412D-A5C4-1CA27CE2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DFF93E5-C50D-4A9F-B407-10851898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1CA12CE-1AEC-4A19-B420-C6E03A63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1840215-0C0B-4BC6-AE8B-C6447E00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Connected target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F9CECB2-746E-41FB-923C-37C2B725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Target has treated and placebo outcomes. The estimator targets an identified target-site CATE and admits a Neyman-orthogonal expansion.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7EF08BB-A78B-406C-96E5-7E91DA84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FDC568A-3BDF-4547-A26A-B4646E3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A8651AD-6AE5-4709-A347-520394E5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Disconnected target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D0669C6-E539-496E-9092-EC93CD04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Target has placebo only. The output is a screen-then-transport working-model estimate under explicit A6 transport assumptions.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D538E8F-653A-4F8B-AFBD-C5E139C7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23A5D08-D01B-4197-AA0F-85388C72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30E99DC-E46C-4E32-9C3C-7F47B7A1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Key distinction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5207555-A7AE-43B5-A69E-1226E0A3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Theorem 1 gives √n₀ guarantees on an identified estimand. Theorem 2 decomposes error into estimation + structural transport bias ε_τ. These are not interchangeable — label them separately.</a:t>
            </a:r>
          </a:p>
        </p:txBody>
      </p:sp>
      <p:sp>
        <p:nvSpPr>
          <p:cNvPr id="23" name="timing-pill">
            <a:extLst xmlns:a="http://schemas.openxmlformats.org/drawingml/2006/main">
              <a:ext uri="{FF2B5EF4-FFF2-40B4-BE49-F238E27FC236}">
                <a16:creationId xmlns:a16="http://schemas.microsoft.com/office/drawing/2014/main" id="{A8845C68-F1A8-43B9-AFEC-06C3C8E4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4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51FA1AEB-ABA9-48A6-9F5E-12A1F4AA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6:01-7:15</a:t>
            </a:r>
          </a:p>
        </p:txBody>
      </p:sp>
      <p:sp>
        <p:nvSpPr>
          <p:cNvPr id="26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C06A40E4-1757-489E-8470-F9D82232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801EA52E-5BBA-4A48-85C3-9D3A5D9E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FF4AEB-E201-4929-9A5F-E007AC17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7C3CD9D-3605-425B-A000-6AF5080D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Connected target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B397AD4-1009-4C7C-8B3A-A32519E2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treated and placebo outcomes.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identified target-site CATE.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1 gives a Neyman-orthogonal expansion: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EF15A412-F358-4C98-85CB-18D7500F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EFD70AB-48E0-43E6-9C9A-31D8EFD5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514F373-7475-4B0F-A63E-A1DE3096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Disconnected target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C0D5084-5F10-4B95-9E79-339E0CB6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placebo outcomes only.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screen-then-transport working-model estimate.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2 separates error sources: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6B633FE6-B8D9-4FDE-8CAF-373AF9A1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56E4709-CBC4-4F0D-BAD8-EEE62943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59571C15-6F75-4A92-A2C7-F6E51727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distinction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C5283AD-C715-4A58-B59E-42F76CBC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These are different claims.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Connected = identified CATE.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Disconnected = useful ranking and scenario analysis under explicit A6 transport assumptions.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93C3ED7-FAE0-4AB9-BB80-57183946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CE914096-BC87-463D-9D6B-C9E316F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1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E83E7C6B-1CE3-4DF2-B675-38778612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6:01-7:15</a:t>
            </a:r>
          </a:p>
        </p:txBody>
      </p:sp>
      <p:pic>
        <p:nvPicPr>
          <p:cNvPr id="42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f3c8dbfb8400b"/>
          <a:stretch xmlns:a="http://schemas.openxmlformats.org/drawingml/2006/main"/>
        </p:blipFill>
        <p:spPr>
          <a:xfrm xmlns:a="http://schemas.openxmlformats.org/drawingml/2006/main">
            <a:off x="889454" y="3752850"/>
            <a:ext cx="2812143" cy="381000"/>
          </a:xfrm>
          <a:prstGeom xmlns:a="http://schemas.openxmlformats.org/drawingml/2006/main" prst="rect">
            <a:avLst/>
          </a:prstGeom>
        </p:spPr>
      </p:pic>
      <p:pic>
        <p:nvPicPr>
          <p:cNvPr id="43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023f22655471f"/>
          <a:stretch xmlns:a="http://schemas.openxmlformats.org/drawingml/2006/main"/>
        </p:blipFill>
        <p:spPr>
          <a:xfrm xmlns:a="http://schemas.openxmlformats.org/drawingml/2006/main">
            <a:off x="4591050" y="3677200"/>
            <a:ext cx="2914650" cy="541826"/>
          </a:xfrm>
          <a:prstGeom xmlns:a="http://schemas.openxmlformats.org/drawingml/2006/main" prst="rect">
            <a:avLst/>
          </a:prstGeom>
        </p:spPr>
      </p:pic>
      <p:sp>
        <p:nvSpPr>
          <p:cNvPr id="45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31161C47-28CC-42A9-8391-E763DF28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1BBC1F-FA88-40F1-B913-84E72ABA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225903-5FD0-407E-8F76-DBCF0DDA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133FC8-40F6-44FD-9D85-C65DEFAA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Connected target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84DCA3-AB73-444F-A25E-F9F39CE8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treated and placebo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identified target-site 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1 gives a Neyman-orthogonal expansion: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17B46D-FA1F-4051-BAB4-6A1594B3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C03FD9-41D2-4B5C-BBA8-10B0B26C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5A01BA-7742-4BE8-B69D-1F3D7B2E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Disconnected target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B37CA4-2FEC-41C4-8907-5E1B1317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placebo outcomes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screen-then-transport working-model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2 separates error sources: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9F6BDE-D8EB-4A55-ADCC-BEBDED15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235EDE-78D0-4A85-87F8-821031D1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32A617-E33C-44D6-8814-A655C95E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distinction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E8FD95-3E59-4168-B68F-854ACE1F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These are different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Connected = identified 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Disconnected = useful ranking and scenario analysis under explicit A6 transport assumptions.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C9B666-FC91-4929-8411-34ED3358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9C9000A5-ADDD-4509-A707-532D0485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60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FEB4DE57-7E20-4B32-BA46-99482FCE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6:01-7:15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b2bc623084cb8"/>
          <a:stretch xmlns:a="http://schemas.openxmlformats.org/drawingml/2006/main"/>
        </p:blipFill>
        <p:spPr>
          <a:xfrm xmlns:a="http://schemas.openxmlformats.org/drawingml/2006/main">
            <a:off x="889454" y="3752850"/>
            <a:ext cx="2812143" cy="38100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3eda0069d47c3"/>
          <a:stretch xmlns:a="http://schemas.openxmlformats.org/drawingml/2006/main"/>
        </p:blipFill>
        <p:spPr>
          <a:xfrm xmlns:a="http://schemas.openxmlformats.org/drawingml/2006/main">
            <a:off x="4591050" y="3677200"/>
            <a:ext cx="2914650" cy="5418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91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e8bb695084ba2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37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F99186D0-B1F7-4B51-A043-FB7F8F5E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4351EF6B-8977-4D7A-B8AD-F198F2E5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Evaluation setup</a:t>
            </a:r>
          </a:p>
        </p:txBody>
      </p:sp>
      <p:sp>
        <p:nvSpPr>
          <p:cNvPr id="39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136A5498-22FB-4198-BCF2-1E226E68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E32BC4E8-23AC-4411-AC30-828FA8F2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Evaluation spans scarce target evidence, covariate shift, and two target-data regimes.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F18946-598F-45A6-9EF8-994E6A10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CE6FEC-BF11-47F9-8C7A-523EF10B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28E644-56B5-4C45-86E3-F0224D5E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REGIMES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2F237C-3C37-4E9B-B8AB-3279FF3D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Two target settings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80DFEF-C039-44CF-805A-58F0E3B1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895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Connected: target has treated and placebo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Disconnected: target has placebo only, so treated effects are transported under A6.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6E1B09-B213-4A89-AAFB-88C3B83B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3A0438-EBBC-4483-9CBC-776EB3EF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ADB646-7E1B-4AFA-A1A5-44E37136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71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COMPARATORS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C19649-06E5-4C77-9155-147FA672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transfer is compared against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336C21-A510-471F-A76A-911C656E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62250"/>
            <a:ext cx="2895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TargetOnly tests no transfer.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ProxyOnly tests source transfer without anchoring.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AnchorOnly isolates target-placebo correction.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Transport baselines test weighting/outcome-model transfer.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A34D04-B60E-4277-81DD-FB35109C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B9EAEE-D8EC-4116-B96A-4914231C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5C5359-F79C-4DAB-8D36-DC3685DC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71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2831BB-F1DD-4B4E-9285-9817E2F3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counts as success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5612B2-9796-4FEE-A523-4EA5D37A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895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Accuracy: PEHE and ATE error.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Targeting: Spearman and policy regret.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Trust: CATE calibration slope, R2, and ECE.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CAE94C-0460-4FF8-A9E5-B1B8D5D7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8801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7B797A-30F2-4599-951B-0844CA40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91075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Anchoring, source scaling, and disconnected transport are evaluated separately.</a:t>
            </a:r>
          </a:p>
        </p:txBody>
      </p:sp>
      <p:sp>
        <p:nvSpPr>
          <p:cNvPr id="58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73EBE8BD-60BE-4610-9F71-B12A4E06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9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F3E13CFF-7A07-4ACE-A3A1-7717C74C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7:15-8:30</a:t>
            </a:r>
          </a:p>
        </p:txBody>
      </p:sp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cb8885cf540b7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99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D3E894A2-721D-43E1-8FA9-419A3B94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EC56E64C-C74A-4B72-89AE-1911741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Connected targets: transfer helps when labels are scarce</a:t>
            </a:r>
          </a:p>
        </p:txBody>
      </p:sp>
      <p:sp>
        <p:nvSpPr>
          <p:cNvPr id="101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C3ADAA46-8F30-49AF-9B04-31516448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4EFF0CA3-6F8D-4743-AD11-0AD04F80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In connected targets, target-placebo anchoring helps most when target labels are scarce and p is large.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425057A-930C-4F95-847A-05F54E24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PEHE at target budget m0=150, m1=100 (lower is better)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EA28B43-B016-46E5-925F-FD798A63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p=20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08A9424-EB3D-4959-BBA9-AB8BC0E9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00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0EA6FAB-92C9-4590-9F69-B3E9DDF1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A8AAFB-C26D-4CE5-BFA8-0CF1CF19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113627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7DAD273-1BEB-48C4-AC0F-839D3868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2.60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F3D2C10-CA90-4BFA-9C3A-CEA4C476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Proposed-CF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3B31596-4735-4793-A66F-558D8ED0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622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A9EBB4A-B7FD-4680-8EFE-918CCFD1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62250"/>
            <a:ext cx="21851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6C6B265-58C9-4535-B6DA-CE0912AC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8673AD6-1B8B-4951-B4BE-E59293F5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p=50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6341186-1FC7-4875-A095-3BB07D5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FFB26CF-CB1F-4421-8542-2353DDB7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56F26A5-2DAE-4FE6-BB83-AA332C38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207589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A865B8C-3FE6-4FE4-9EE3-871C0B2E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4.75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C6E12F9-3350-47EB-82B2-933E338A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76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A154A06-4305-41B0-9E68-68DBEB37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1EDB7F2-4F19-49BD-BDB3-E85D8B1D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319031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2225B3A-0152-407B-B378-648BB55E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0.73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6CAB876-FBC6-40B5-B758-81D8F5E3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p=100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22BFAD8-E58B-49EC-81B2-5BE560F8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672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52E2615-9243-4C1B-B8A0-FD75F9AE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862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40B89A8-3BBA-4DB5-A27F-B89973D8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86250"/>
            <a:ext cx="3308313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072BBEC-3346-4275-9DDF-8B9B4523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7.57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EABD886-8946-4C04-8AB7-19957032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10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D5F91FE-B10C-4EB5-A17E-F9E41BFD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291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0CE2036-C8A6-4BDD-9250-85C9AA2B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29150"/>
            <a:ext cx="74732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7DD1939-9052-4FED-B523-87801FA8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0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1.71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8D3A75D-E4E7-4FDD-863C-60FBC5E5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571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E2B55FA-C43B-4427-B851-0375EDF4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FA702DF-5EBA-4B96-A08C-7CD0ABCB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6B4A907-8172-4A54-9F77-BD3113A5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This is the deployment case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BC4DA7D-E1C4-4498-ABA1-7BF7FD8C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43250"/>
            <a:ext cx="22288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method is not just better on average. Its biggest gains appear where target IPD is expensive: small target trial, high dimension, shifted sources.</a:t>
            </a:r>
          </a:p>
        </p:txBody>
      </p:sp>
      <p:sp>
        <p:nvSpPr>
          <p:cNvPr id="136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2BD4609E-EC2E-47CB-ADAA-0EF47FF8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7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8BDE1194-C8A2-4B84-98A7-8C3B7761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8:30-10:00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bc3d5f5334b5c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31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A3B69906-DD3A-4DE5-AE48-4A74984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9D77C36D-D358-45E3-90C8-6E8CA0F2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Why the method helps: anchor, then learn CATEs</a:t>
            </a:r>
          </a:p>
        </p:txBody>
      </p:sp>
      <p:sp>
        <p:nvSpPr>
          <p:cNvPr id="33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2B75E2E0-7019-4D32-AD5D-84EC3758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215B42E7-B484-4F7B-9CF1-6F9B7F81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gain is not generic pooling; it comes from anchoring source models to target placebo and then learning CATEs.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FA3941-8FB3-471B-8926-AE4D61AE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1CCD1E-4FD1-4142-96BB-B5EFFF74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0F2FA8-4A8A-4B14-B287-86C38651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B16C88-3337-448C-9BDC-4AE96D11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FCFCF"/>
                </a:solidFill>
                <a:latin typeface="Aptos"/>
                <a:ea typeface="Aptos"/>
                <a:cs typeface="Aptos"/>
              </a:rPr>
              <a:t>no transfer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660382-C2EE-47E2-A597-9E33D7E5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High variance when target treated labels are scarce.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EADF3D-441A-464B-9EE4-68DFE9EF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5719A8-97D0-4838-BCAE-D80A747C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360430-FE0A-41C9-B798-2908D16F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ProxyOnly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7EC3B3-ABE7-4ABB-AF0D-0319CA6A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341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3414A"/>
                </a:solidFill>
                <a:latin typeface="Aptos"/>
                <a:ea typeface="Aptos"/>
                <a:cs typeface="Aptos"/>
              </a:rPr>
              <a:t>transfer without anchor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F34063-5611-46D2-BC3E-681FF0F5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Low variance but biased under covariate shift.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400A13-44F5-4669-9CB0-A0D6BB38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723A46-1677-4422-99AA-E895E8C7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7BFA3D-3E79-43EA-B786-CD182512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AnchorOnly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65BDE6-C429-43A0-9669-08B62086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target placebo correction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3808A9-0B1A-41E7-AB34-0B895EB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Shows the baseline calibration contribution.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13175B-DEEE-4380-AEB3-9E945C40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B3B4A1-4121-4A8F-88B4-240C7354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A2AE73-E59F-41BA-8B63-2B4F4D91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 / Proposed-CF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6B5016-3FDD-4DA2-84D8-9F09B09B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anchor + DR learner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825C3E-661F-40EF-97D9-37C1531C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Adds orthogonal CATE learning and calibration.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CEB8C0-9EF8-4A9C-8BD4-FD0A70A1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29150"/>
            <a:ext cx="868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237B81-E987-4423-B557-3A5C6886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91075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Average ranks summarize the pattern after the finite-sample gain is visible.</a:t>
            </a:r>
          </a:p>
        </p:txBody>
      </p:sp>
      <p:sp>
        <p:nvSpPr>
          <p:cNvPr id="57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FB6CEB3B-19D8-4529-8A89-FE160908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8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374AE38C-DB36-45CA-9519-9DFADD8E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10:00-11:15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320a6baad4761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68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E26AA4AF-976D-4B21-AB72-EF06B7E4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14D567B6-D65B-41A7-A529-F80130E8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Robustness: source diversity helps; violations degrade smoothly</a:t>
            </a:r>
          </a:p>
        </p:txBody>
      </p:sp>
      <p:sp>
        <p:nvSpPr>
          <p:cNvPr id="70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18B0A952-A51C-4AEB-A374-AB79E868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2EDC23DD-95D9-4667-97FA-9E2A1048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method scales with source diversity and degrades smoothly when the sparse-shift approximation weakens.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191E80D-5E3B-4B4F-B44A-6A8BED80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03A2CF-0229-4B8D-BBC5-FEE87C6E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F75CFA-05D7-4A49-A524-C00A7084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SOURCE SCALING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D92F7AE-2D0E-422D-B480-42BBF29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More source sites help when target data are scarce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940E71-5727-4D63-B355-585F4BBC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990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Across C=2 to 50 source sites, Proposed stays around PEHE 0.84 -&gt; 0.66 at m0=150, m1=100, while TargetOnly remains near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useful signal is source diversity plus target anchoring.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C6321E-28F2-475E-98D6-ED3DEBCE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52B9FC6-5A91-46D7-9E1A-318E0899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AEF34C8-EBB1-4379-B549-5C5D5644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A5 SENSITIVITY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594AAE1-F671-4595-92A6-60E38304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Violations hurt, but not catastrophically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B02BAF0-6201-4131-A3F5-1CF26D76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990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When sparse linear shift holds, Proposed-CF is about 0.38 PEHE.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As sparsity and nonlinearity increase, PEHE rises gradually rather than collapsing.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3EF8BE-4E06-4B57-BE14-42279C4D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45564C0-F4EA-42DC-8DD2-E9A649B3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C6E8DEA-4624-432B-992B-47986ABD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LIMIT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87BFF2F-9FDC-4DF4-B39D-AF8F4F95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Sparse proxy-gold shifts matter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8344979-5322-4596-AB5A-64E85DE2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2990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strongest gains occur in the intended sparse proxy-gold regime.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Dense or highly nonlinear corrections reduce performance.</a:t>
            </a:r>
          </a:p>
        </p:txBody>
      </p:sp>
      <p:sp>
        <p:nvSpPr>
          <p:cNvPr id="87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237E5458-D067-46E5-8E02-35FC4298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8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0253FB00-C65B-4F30-8494-4B3AB091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11:15-12:30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340d5d8374a95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29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ECCB5CF8-5136-4BA9-BCB9-3A8771D5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1DE61A3C-8276-4F8C-9ECE-E9F3D8C3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IHDP benchmark: real covariate shift tells the same story</a:t>
            </a:r>
          </a:p>
        </p:txBody>
      </p:sp>
      <p:sp>
        <p:nvSpPr>
          <p:cNvPr id="31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771123DA-A7A1-4D6C-94C6-39EB3121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303E6BFA-3881-4E73-8882-9D4FE5B8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Real covariate shift tells the same story, while disconnected targets must stay labeled as transport.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CC2D54-F5A6-4221-8FDE-2B707D6C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D9D14F-C6A6-40F1-AB56-EF8C9251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E2D958-02FF-4636-8055-E6B54F35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CONNECTED IHDP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49D416-71FD-499D-B5C7-E750622D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 is strongest under real covariate shift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091415-6F99-4C99-90DC-82BFBCEF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IHDP uses real baseline covariates and semi-synthetic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Example at m0=25, m1=100: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Proposed PEHE 1.57 vs OM-Transport 2.05 vs TargetOnly 3.09.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71A5EC-479C-4EAB-A183-A930C695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020F51-2A02-4D76-9B8D-3436BE1E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35A2C0-073A-4058-8013-889FB8C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717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DISCONNECTED IHDP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19B132-3030-4C84-ABB8-A1121802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Useful ranking, not target identification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855BA5-C0EC-4F36-9590-B00BDB03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With m1=0, Proposed-B is competitive on PEHE and strong on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Example at m0=25: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Proposed-B PEHE 2.11 vs transport/proxy baselines 2.28-2.82.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Assumption: A6 transport.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D52243-7D82-4B38-8C7E-4A1CB9FF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Connected estimates identified CATEs; disconnected analyses are transport-based.</a:t>
            </a:r>
          </a:p>
        </p:txBody>
      </p:sp>
      <p:sp>
        <p:nvSpPr>
          <p:cNvPr id="44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D58945A6-2B90-4652-879E-A8FA8C7F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5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22253B63-9438-4B8F-92EE-62F1F4A6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12:30-13:45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9B09E7-A7F9-48CC-A2C4-F5CDE1AF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84F1E2E-61AE-848F-B769-1C895802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96216"/>
            <a:ext cx="4762500" cy="16617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a019e7f6a41a9"/>
          <a:srcRect xmlns:a="http://schemas.openxmlformats.org/drawingml/2006/main" l="0" t="15385" r="0" b="15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oundRect">
            <a:avLst/>
          </a:prstGeom>
        </p:spPr>
      </p:pic>
      <p:sp>
        <p:nvSpPr>
          <p:cNvPr id="3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32AB4C2-CFF7-4B1F-877E-EC57607B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Takeaways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08AE43-49B7-4C7B-8452-26438B98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CC33"/>
                </a:solidFill>
              </a:defRPr>
            </a:pPr>
            <a:r>
              <a:rPr sz="2550" b="1">
                <a:solidFill>
                  <a:srgbClr val="D5A834"/>
                </a:solidFill>
                <a:latin typeface="Aptos Display"/>
                <a:ea typeface="Aptos Display"/>
                <a:cs typeface="Aptos Display"/>
              </a:rPr>
              <a:t>Questions?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48928A7-E87B-4984-95FA-3C49F13C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DB97851-68AE-4809-8F6B-325B8D84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Zilong Wang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Georgia Institute of Technology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zwang937@gatech.edu</a:t>
            </a:r>
          </a:p>
        </p:txBody>
      </p:sp>
      <p:pic>
        <p:nvPicPr>
          <p:cNvPr id="1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17d4a4c134dda"/>
          <a:stretch xmlns:a="http://schemas.openxmlformats.org/drawingml/2006/main"/>
        </p:blipFill>
        <p:spPr>
          <a:xfrm xmlns:a="http://schemas.openxmlformats.org/drawingml/2006/main">
            <a:off x="42673" y="5359791"/>
            <a:ext cx="2163045" cy="923485"/>
          </a:xfrm>
          <a:prstGeom xmlns:a="http://schemas.openxmlformats.org/drawingml/2006/main" prst="rect">
            <a:avLst/>
          </a:prstGeom>
        </p:spPr>
      </p:pic>
      <p:sp>
        <p:nvSpPr>
          <p:cNvPr id="12" name="timing-pill">
            <a:extLst xmlns:a="http://schemas.openxmlformats.org/drawingml/2006/main">
              <a:ext uri="{FF2B5EF4-FFF2-40B4-BE49-F238E27FC236}">
                <a16:creationId xmlns:a16="http://schemas.microsoft.com/office/drawing/2014/main" id="{39946BCA-5A82-4014-8FF9-726B90D1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3F0AE9CB-14D5-46A4-9FD7-B682FB79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13:46-15:00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BA2659D-3CFE-41D3-86D9-BA617FBC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4243036" cy="1376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1664168-FF8F-45B2-B6F2-617BFBCA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347268AB-6534-42E8-91D2-24167A5C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0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C6A2DE3D-8FE2-421A-ABD3-4A5E89AD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13:46-15:00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B8917-786A-4873-986F-03D65619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428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83A2F-470F-44C0-90A5-AAAEA7EB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42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Anchor to target placebo.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Separate identified from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transported claims.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Evaluate decisions, not only error.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E14C46-649F-4DA1-806F-C95B7F24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B5314C15-9C6A-4DF6-8293-9F132DEF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7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0AFA1B40-6588-4F9A-BEE0-75AE1993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13:46-15:00</a:t>
            </a:r>
          </a:p>
        </p:txBody>
      </p:sp>
    </p:spTree>
    <p:extLst>
      <p:ext uri="{BB962C8B-B14F-4D97-AF65-F5344CB8AC3E}">
        <p14:creationId xmlns:p14="http://schemas.microsoft.com/office/powerpoint/2010/main" val="1854527753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2026-05-22T06:48:04.0690000Z</dcterms:created>
  <dcterms:modified xsi:type="dcterms:W3CDTF">2026-05-22T06:48:04.0690000Z</dcterms:modified>
</coreProperties>
</file>